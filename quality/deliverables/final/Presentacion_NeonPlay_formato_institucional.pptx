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eonplay_notesSlide1.xml" ContentType="application/vnd.openxmlformats-officedocument.presentationml.notesSlide+xml"/>
  <Override PartName="/ppt/notesMasters/neonplay_notesMaster1.xml" ContentType="application/vnd.openxmlformats-officedocument.presentationml.notesMaster+xml"/>
  <Override PartName="/ppt/notesMasters/theme/neonplay_theme3.xml" ContentType="application/vnd.openxmlformats-officedocument.theme+xml"/>
  <Override PartName="/ppt/media/neonplay_image3.png" ContentType="image/png"/>
  <Override PartName="/ppt/notesSlides/neonplay_notesSlide2.xml" ContentType="application/vnd.openxmlformats-officedocument.presentationml.notesSlide+xml"/>
  <Override PartName="/ppt/media/neonplay_image4.png" ContentType="image/png"/>
  <Override PartName="/ppt/notesSlides/neonplay_notesSlide3.xml" ContentType="application/vnd.openxmlformats-officedocument.presentationml.notesSlide+xml"/>
  <Override PartName="/ppt/media/neonplay_image5.png" ContentType="image/png"/>
  <Override PartName="/ppt/notesSlides/neonplay_notesSlide4.xml" ContentType="application/vnd.openxmlformats-officedocument.presentationml.notesSlide+xml"/>
  <Override PartName="/ppt/notesSlides/neonplay_notesSlide5.xml" ContentType="application/vnd.openxmlformats-officedocument.presentationml.notesSlide+xml"/>
  <Override PartName="/ppt/notesSlides/neonplay_notesSlide6.xml" ContentType="application/vnd.openxmlformats-officedocument.presentationml.notesSlide+xml"/>
  <Override PartName="/ppt/slides/slide6.xml" ContentType="application/vnd.openxmlformats-officedocument.presentationml.slide+xml"/>
  <Override PartName="/ppt/notesSlides/neonplay_notesSlide7.xml" ContentType="application/vnd.openxmlformats-officedocument.presentationml.notesSlide+xml"/>
  <Override PartName="/ppt/slides/slide7.xml" ContentType="application/vnd.openxmlformats-officedocument.presentationml.slide+xml"/>
  <Override PartName="/ppt/notesSlides/neonplay_notesSlide8.xml" ContentType="application/vnd.openxmlformats-officedocument.presentationml.notesSlide+xml"/>
  <Override PartName="/ppt/slides/slide8.xml" ContentType="application/vnd.openxmlformats-officedocument.presentationml.slide+xml"/>
  <Override PartName="/ppt/media/neonplay_image6.png" ContentType="image/png"/>
  <Override PartName="/ppt/notesSlides/neonplay_notesSlide9.xml" ContentType="application/vnd.openxmlformats-officedocument.presentationml.notesSlide+xml"/>
  <Override PartName="/ppt/slides/slide9.xml" ContentType="application/vnd.openxmlformats-officedocument.presentationml.slide+xml"/>
  <Override PartName="/ppt/media/neonplay_image7.png" ContentType="image/png"/>
  <Override PartName="/ppt/notesSlides/neonplay_notesSlide10.xml" ContentType="application/vnd.openxmlformats-officedocument.presentationml.notesSlide+xml"/>
  <Override PartName="/ppt/slides/slide10.xml" ContentType="application/vnd.openxmlformats-officedocument.presentationml.slide+xml"/>
  <Override PartName="/ppt/media/neonplay_image8.png" ContentType="image/png"/>
  <Override PartName="/ppt/notesSlides/neonplay_notesSlide11.xml" ContentType="application/vnd.openxmlformats-officedocument.presentationml.notesSlide+xml"/>
  <Override PartName="/ppt/slides/slide11.xml" ContentType="application/vnd.openxmlformats-officedocument.presentationml.slide+xml"/>
  <Override PartName="/ppt/notesSlides/neonplay_notesSlide12.xml" ContentType="application/vnd.openxmlformats-officedocument.presentationml.notesSlide+xml"/>
  <Override PartName="/ppt/slides/slide12.xml" ContentType="application/vnd.openxmlformats-officedocument.presentationml.slide+xml"/>
  <Override PartName="/ppt/slides/charts/neonplay_chart1.xml" ContentType="application/vnd.openxmlformats-officedocument.drawingml.chart+xml"/>
  <Override PartName="/ppt/notesSlides/neonplay_notesSlide13.xml" ContentType="application/vnd.openxmlformats-officedocument.presentationml.notesSlide+xml"/>
  <Override PartName="/ppt/slides/slide13.xml" ContentType="application/vnd.openxmlformats-officedocument.presentationml.slide+xml"/>
  <Override PartName="/ppt/notesSlides/neonplay_notesSlide14.xml" ContentType="application/vnd.openxmlformats-officedocument.presentationml.notesSlide+xml"/>
  <Override PartName="/ppt/slides/slide14.xml" ContentType="application/vnd.openxmlformats-officedocument.presentationml.slide+xml"/>
  <Override PartName="/ppt/notesSlides/neonplay_notesSlide15.xml" ContentType="application/vnd.openxmlformats-officedocument.presentationml.notesSlide+xml"/>
  <Override PartName="/ppt/slides/slide15.xml" ContentType="application/vnd.openxmlformats-officedocument.presentationml.slide+xml"/>
  <Override PartName="/ppt/notesSlides/neonplay_notesSlide16.xml" ContentType="application/vnd.openxmlformats-officedocument.presentationml.notesSlide+xml"/>
  <Override PartName="/ppt/slides/slide16.xml" ContentType="application/vnd.openxmlformats-officedocument.presentationml.slide+xml"/>
  <Override PartName="/ppt/notesSlides/neonplay_notesSlide17.xml" ContentType="application/vnd.openxmlformats-officedocument.presentationml.notesSlide+xml"/>
  <Override PartName="/ppt/slides/slide17.xml" ContentType="application/vnd.openxmlformats-officedocument.presentationml.slide+xml"/>
  <Override PartName="/ppt/notesSlides/neonplay_notesSlide18.xml" ContentType="application/vnd.openxmlformats-officedocument.presentationml.notesSlide+xml"/>
  <Override PartName="/ppt/slides/slide18.xml" ContentType="application/vnd.openxmlformats-officedocument.presentationml.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npNotesMaster"/>
  </p:notesMasterIdLst>
  <p:handoutMasterIdLst>
    <p:handoutMasterId r:id="rId7"/>
  </p:handoutMasterIdLst>
  <p:sldIdLst>
    <p:sldId id="256" r:id="npSlide1"/>
    <p:sldId id="257" r:id="npSlide2"/>
    <p:sldId id="258" r:id="npSlide3"/>
    <p:sldId id="259" r:id="npSlide4"/>
    <p:sldId id="260" r:id="npSlide5"/>
    <p:sldId id="261" r:id="npSlide6"/>
    <p:sldId id="262" r:id="npSlide7"/>
    <p:sldId id="263" r:id="npSlide8"/>
    <p:sldId id="264" r:id="npSlide9"/>
    <p:sldId id="265" r:id="npSlide10"/>
    <p:sldId id="266" r:id="npSlide11"/>
    <p:sldId id="267" r:id="npSlide12"/>
    <p:sldId id="268" r:id="npSlide13"/>
    <p:sldId id="269" r:id="npSlide14"/>
    <p:sldId id="270" r:id="npSlide15"/>
    <p:sldId id="271" r:id="npSlide16"/>
    <p:sldId id="272" r:id="npSlide17"/>
    <p:sldId id="273" r:id="npSlide18"/>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2"/>
    <p:restoredTop sz="94740"/>
  </p:normalViewPr>
  <p:slideViewPr>
    <p:cSldViewPr snapToGrid="0" snapToObjects="1">
      <p:cViewPr>
        <p:scale>
          <a:sx n="90" d="100"/>
          <a:sy n="90" d="100"/>
        </p:scale>
        <p:origin x="156" y="48"/>
      </p:cViewPr>
      <p:guideLst/>
    </p:cSldViewPr>
  </p:slideViewPr>
  <p:notesTextViewPr>
    <p:cViewPr>
      <p:scale>
        <a:sx n="1" d="1"/>
        <a:sy n="1" d="1"/>
      </p:scale>
      <p:origin x="0" y="0"/>
    </p:cViewPr>
  </p:notesTextViewPr>
  <p:notesViewPr>
    <p:cSldViewPr snapToGrid="0" snapToObjects="1">
      <p:cViewPr varScale="1">
        <p:scale>
          <a:sx n="67" d="100"/>
          <a:sy n="67" d="100"/>
        </p:scale>
        <p:origin x="283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7" Type="http://schemas.openxmlformats.org/officeDocument/2006/relationships/handoutMaster" Target="handoutMasters/handoutMaster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 Id="npSlide1" Type="http://schemas.openxmlformats.org/officeDocument/2006/relationships/slide" Target="slides/slide1.xml"/><Relationship Id="npSlide2" Type="http://schemas.openxmlformats.org/officeDocument/2006/relationships/slide" Target="slides/slide2.xml"/><Relationship Id="npSlide3" Type="http://schemas.openxmlformats.org/officeDocument/2006/relationships/slide" Target="slides/slide3.xml"/><Relationship Id="npSlide4" Type="http://schemas.openxmlformats.org/officeDocument/2006/relationships/slide" Target="slides/slide4.xml"/><Relationship Id="npSlide5" Type="http://schemas.openxmlformats.org/officeDocument/2006/relationships/slide" Target="slides/slide5.xml"/><Relationship Id="npSlide6" Type="http://schemas.openxmlformats.org/officeDocument/2006/relationships/slide" Target="slides/slide6.xml"/><Relationship Id="npSlide7" Type="http://schemas.openxmlformats.org/officeDocument/2006/relationships/slide" Target="slides/slide7.xml"/><Relationship Id="npSlide8" Type="http://schemas.openxmlformats.org/officeDocument/2006/relationships/slide" Target="slides/slide8.xml"/><Relationship Id="npSlide9" Type="http://schemas.openxmlformats.org/officeDocument/2006/relationships/slide" Target="slides/slide9.xml"/><Relationship Id="npSlide10" Type="http://schemas.openxmlformats.org/officeDocument/2006/relationships/slide" Target="slides/slide10.xml"/><Relationship Id="npSlide11" Type="http://schemas.openxmlformats.org/officeDocument/2006/relationships/slide" Target="slides/slide11.xml"/><Relationship Id="npSlide12" Type="http://schemas.openxmlformats.org/officeDocument/2006/relationships/slide" Target="slides/slide12.xml"/><Relationship Id="npSlide13" Type="http://schemas.openxmlformats.org/officeDocument/2006/relationships/slide" Target="slides/slide13.xml"/><Relationship Id="npSlide14" Type="http://schemas.openxmlformats.org/officeDocument/2006/relationships/slide" Target="slides/slide14.xml"/><Relationship Id="npSlide15" Type="http://schemas.openxmlformats.org/officeDocument/2006/relationships/slide" Target="slides/slide15.xml"/><Relationship Id="npSlide16" Type="http://schemas.openxmlformats.org/officeDocument/2006/relationships/slide" Target="slides/slide16.xml"/><Relationship Id="npSlide17" Type="http://schemas.openxmlformats.org/officeDocument/2006/relationships/slide" Target="slides/slide17.xml"/><Relationship Id="npSlide18" Type="http://schemas.openxmlformats.org/officeDocument/2006/relationships/slide" Target="slides/slide18.xml"/><Relationship Id="npNotesMaster" Type="http://schemas.openxmlformats.org/officeDocument/2006/relationships/notesMaster" Target="notesMasters/neonplay_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94E2EFF-4920-4B45-8A49-F3E4C2F7C5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a:extLst>
              <a:ext uri="{FF2B5EF4-FFF2-40B4-BE49-F238E27FC236}">
                <a16:creationId xmlns:a16="http://schemas.microsoft.com/office/drawing/2014/main" id="{F1B25D7E-5D9E-4324-973B-F37E026A6E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7D7FF-DDC7-474C-8526-899954A31AD1}" type="datetimeFigureOut">
              <a:rPr lang="es-EC" smtClean="0"/>
              <a:t>8/5/2023</a:t>
            </a:fld>
            <a:endParaRPr lang="es-EC"/>
          </a:p>
        </p:txBody>
      </p:sp>
      <p:sp>
        <p:nvSpPr>
          <p:cNvPr id="4" name="Marcador de pie de página 3">
            <a:extLst>
              <a:ext uri="{FF2B5EF4-FFF2-40B4-BE49-F238E27FC236}">
                <a16:creationId xmlns:a16="http://schemas.microsoft.com/office/drawing/2014/main" id="{1BE1F024-B4D1-4D02-9D60-BC00CD1570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5" name="Marcador de número de diapositiva 4">
            <a:extLst>
              <a:ext uri="{FF2B5EF4-FFF2-40B4-BE49-F238E27FC236}">
                <a16:creationId xmlns:a16="http://schemas.microsoft.com/office/drawing/2014/main" id="{CF5626AA-BF38-4F1F-9164-6E9E13F3CC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C8D488-B844-44E3-AFA6-D489E552E6D9}" type="slidenum">
              <a:rPr lang="es-EC" smtClean="0"/>
              <a:t>‹Nº›</a:t>
            </a:fld>
            <a:endParaRPr lang="es-EC"/>
          </a:p>
        </p:txBody>
      </p:sp>
    </p:spTree>
    <p:extLst>
      <p:ext uri="{BB962C8B-B14F-4D97-AF65-F5344CB8AC3E}">
        <p14:creationId xmlns:p14="http://schemas.microsoft.com/office/powerpoint/2010/main" val="4010748488"/>
      </p:ext>
    </p:extLst>
  </p:cSld>
  <p:clrMap bg1="lt1" tx1="dk1" bg2="lt2" tx2="dk2" accent1="accent1" accent2="accent2" accent3="accent3" accent4="accent4" accent5="accent5" accent6="accent6" hlink="hlink" folHlink="folHlink"/>
</p:handoutMaster>
</file>

<file path=ppt/notesMasters/_rels/neonplay_notesMaster1.xml.rels><?xml version='1.0' encoding='UTF-8' standalone='yes'?>
<Relationships xmlns="http://schemas.openxmlformats.org/package/2006/relationships"><Relationship Type="http://schemas.openxmlformats.org/officeDocument/2006/relationships/theme" Target="theme/neonplay_theme3.xml" Id="R2df7048123af45c0"/></Relationships>
</file>

<file path=ppt/notesMasters/neonplay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neonplay_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eonplay_notesSlide1.xml.rels><?xml version='1.0' encoding='UTF-8' standalone='yes'?>
<Relationships xmlns="http://schemas.openxmlformats.org/package/2006/relationships"><Relationship Type="http://schemas.openxmlformats.org/officeDocument/2006/relationships/slide" Target="../slides/slide1.xml" Id="R6c7f9c127ab141c0"/><Relationship Type="http://schemas.openxmlformats.org/officeDocument/2006/relationships/notesMaster" Target="../notesMasters/neonplay_notesMaster1.xml" Id="Rc39833735b4b44a5"/></Relationships>
</file>

<file path=ppt/notesSlides/_rels/neonplay_notesSlide2.xml.rels><?xml version='1.0' encoding='UTF-8' standalone='yes'?>
<Relationships xmlns="http://schemas.openxmlformats.org/package/2006/relationships"><Relationship Type="http://schemas.openxmlformats.org/officeDocument/2006/relationships/slide" Target="../slides/slide2.xml" Id="R4fd8da2881db4bf2"/><Relationship Type="http://schemas.openxmlformats.org/officeDocument/2006/relationships/notesMaster" Target="../notesMasters/neonplay_notesMaster1.xml" Id="Rc9c79fad904d48c4"/></Relationships>
</file>

<file path=ppt/notesSlides/_rels/neonplay_notesSlide3.xml.rels><?xml version='1.0' encoding='UTF-8' standalone='yes'?>
<Relationships xmlns="http://schemas.openxmlformats.org/package/2006/relationships"><Relationship Type="http://schemas.openxmlformats.org/officeDocument/2006/relationships/slide" Target="../slides/slide3.xml" Id="R758724819d254674"/><Relationship Type="http://schemas.openxmlformats.org/officeDocument/2006/relationships/notesMaster" Target="../notesMasters/neonplay_notesMaster1.xml" Id="Rcbeb06f706224e28"/></Relationships>
</file>

<file path=ppt/notesSlides/_rels/neonplay_notesSlide4.xml.rels><?xml version='1.0' encoding='UTF-8' standalone='yes'?>
<Relationships xmlns="http://schemas.openxmlformats.org/package/2006/relationships"><Relationship Type="http://schemas.openxmlformats.org/officeDocument/2006/relationships/slide" Target="../slides/slide4.xml" Id="R26ce5f2a2c8f41ed"/><Relationship Type="http://schemas.openxmlformats.org/officeDocument/2006/relationships/notesMaster" Target="../notesMasters/neonplay_notesMaster1.xml" Id="R48bc29bc17224053"/></Relationships>
</file>

<file path=ppt/notesSlides/_rels/neonplay_notesSlide5.xml.rels><?xml version='1.0' encoding='UTF-8' standalone='yes'?>
<Relationships xmlns="http://schemas.openxmlformats.org/package/2006/relationships"><Relationship Type="http://schemas.openxmlformats.org/officeDocument/2006/relationships/slide" Target="../slides/slide5.xml" Id="R197ab9a211294af1"/><Relationship Type="http://schemas.openxmlformats.org/officeDocument/2006/relationships/notesMaster" Target="../notesMasters/neonplay_notesMaster1.xml" Id="R6d54f212fb9541cd"/></Relationships>
</file>

<file path=ppt/notesSlides/_rels/neonplay_notesSlide6.xml.rels><?xml version='1.0' encoding='UTF-8' standalone='yes'?>
<Relationships xmlns="http://schemas.openxmlformats.org/package/2006/relationships"><Relationship Type="http://schemas.openxmlformats.org/officeDocument/2006/relationships/slide" Target="../slides/slide6.xml" Id="R57e78c7bc6854567"/><Relationship Type="http://schemas.openxmlformats.org/officeDocument/2006/relationships/notesMaster" Target="../notesMasters/neonplay_notesMaster1.xml" Id="R4bb3e7ae66774116"/></Relationships>
</file>

<file path=ppt/notesSlides/_rels/neonplay_notesSlide7.xml.rels><?xml version='1.0' encoding='UTF-8' standalone='yes'?>
<Relationships xmlns="http://schemas.openxmlformats.org/package/2006/relationships"><Relationship Type="http://schemas.openxmlformats.org/officeDocument/2006/relationships/slide" Target="../slides/slide7.xml" Id="R9a09fc3aa8d740c3"/><Relationship Type="http://schemas.openxmlformats.org/officeDocument/2006/relationships/notesMaster" Target="../notesMasters/neonplay_notesMaster1.xml" Id="R088271b2ef9d4992"/></Relationships>
</file>

<file path=ppt/notesSlides/_rels/neonplay_notesSlide8.xml.rels><?xml version='1.0' encoding='UTF-8' standalone='yes'?>
<Relationships xmlns="http://schemas.openxmlformats.org/package/2006/relationships"><Relationship Type="http://schemas.openxmlformats.org/officeDocument/2006/relationships/slide" Target="../slides/slide8.xml" Id="R3d2a3fcc107445d0"/><Relationship Type="http://schemas.openxmlformats.org/officeDocument/2006/relationships/notesMaster" Target="../notesMasters/neonplay_notesMaster1.xml" Id="R24712b07b9ec4f35"/></Relationships>
</file>

<file path=ppt/notesSlides/_rels/neonplay_notesSlide9.xml.rels><?xml version='1.0' encoding='UTF-8' standalone='yes'?>
<Relationships xmlns="http://schemas.openxmlformats.org/package/2006/relationships"><Relationship Type="http://schemas.openxmlformats.org/officeDocument/2006/relationships/slide" Target="../slides/slide9.xml" Id="R876ca4ca1b034eb7"/><Relationship Type="http://schemas.openxmlformats.org/officeDocument/2006/relationships/notesMaster" Target="../notesMasters/neonplay_notesMaster1.xml" Id="Rdcad0eb14435445f"/></Relationships>
</file>

<file path=ppt/notesSlides/_rels/neonplay_notesSlide10.xml.rels><?xml version='1.0' encoding='UTF-8' standalone='yes'?>
<Relationships xmlns="http://schemas.openxmlformats.org/package/2006/relationships"><Relationship Type="http://schemas.openxmlformats.org/officeDocument/2006/relationships/slide" Target="../slides/slide10.xml" Id="R7e6f4239c4654106"/><Relationship Type="http://schemas.openxmlformats.org/officeDocument/2006/relationships/notesMaster" Target="../notesMasters/neonplay_notesMaster1.xml" Id="R5f88a958035e4861"/></Relationships>
</file>

<file path=ppt/notesSlides/_rels/neonplay_notesSlide11.xml.rels><?xml version='1.0' encoding='UTF-8' standalone='yes'?>
<Relationships xmlns="http://schemas.openxmlformats.org/package/2006/relationships"><Relationship Type="http://schemas.openxmlformats.org/officeDocument/2006/relationships/slide" Target="../slides/slide11.xml" Id="R04b6a125025048d6"/><Relationship Type="http://schemas.openxmlformats.org/officeDocument/2006/relationships/notesMaster" Target="../notesMasters/neonplay_notesMaster1.xml" Id="Re15fd33e738d4ffe"/></Relationships>
</file>

<file path=ppt/notesSlides/_rels/neonplay_notesSlide12.xml.rels><?xml version='1.0' encoding='UTF-8' standalone='yes'?>
<Relationships xmlns="http://schemas.openxmlformats.org/package/2006/relationships"><Relationship Type="http://schemas.openxmlformats.org/officeDocument/2006/relationships/slide" Target="../slides/slide12.xml" Id="R4f1310ee5fe04d5f"/><Relationship Type="http://schemas.openxmlformats.org/officeDocument/2006/relationships/notesMaster" Target="../notesMasters/neonplay_notesMaster1.xml" Id="Rd242ed18223b4809"/></Relationships>
</file>

<file path=ppt/notesSlides/_rels/neonplay_notesSlide13.xml.rels><?xml version='1.0' encoding='UTF-8' standalone='yes'?>
<Relationships xmlns="http://schemas.openxmlformats.org/package/2006/relationships"><Relationship Type="http://schemas.openxmlformats.org/officeDocument/2006/relationships/slide" Target="../slides/slide13.xml" Id="Rbbe918341e4b4060"/><Relationship Type="http://schemas.openxmlformats.org/officeDocument/2006/relationships/notesMaster" Target="../notesMasters/neonplay_notesMaster1.xml" Id="Rd5138026a3ab43b3"/></Relationships>
</file>

<file path=ppt/notesSlides/_rels/neonplay_notesSlide14.xml.rels><?xml version='1.0' encoding='UTF-8' standalone='yes'?>
<Relationships xmlns="http://schemas.openxmlformats.org/package/2006/relationships"><Relationship Type="http://schemas.openxmlformats.org/officeDocument/2006/relationships/slide" Target="../slides/slide14.xml" Id="R67f1e93a23094332"/><Relationship Type="http://schemas.openxmlformats.org/officeDocument/2006/relationships/notesMaster" Target="../notesMasters/neonplay_notesMaster1.xml" Id="R6edff904ec9147b5"/></Relationships>
</file>

<file path=ppt/notesSlides/_rels/neonplay_notesSlide15.xml.rels><?xml version='1.0' encoding='UTF-8' standalone='yes'?>
<Relationships xmlns="http://schemas.openxmlformats.org/package/2006/relationships"><Relationship Type="http://schemas.openxmlformats.org/officeDocument/2006/relationships/slide" Target="../slides/slide15.xml" Id="R9f38c07d395f4873"/><Relationship Type="http://schemas.openxmlformats.org/officeDocument/2006/relationships/notesMaster" Target="../notesMasters/neonplay_notesMaster1.xml" Id="R3201fc7cd1c54d78"/></Relationships>
</file>

<file path=ppt/notesSlides/_rels/neonplay_notesSlide16.xml.rels><?xml version='1.0' encoding='UTF-8' standalone='yes'?>
<Relationships xmlns="http://schemas.openxmlformats.org/package/2006/relationships"><Relationship Type="http://schemas.openxmlformats.org/officeDocument/2006/relationships/slide" Target="../slides/slide16.xml" Id="Rd243bf6c024a49c8"/><Relationship Type="http://schemas.openxmlformats.org/officeDocument/2006/relationships/notesMaster" Target="../notesMasters/neonplay_notesMaster1.xml" Id="Rff8a97e325354a61"/></Relationships>
</file>

<file path=ppt/notesSlides/_rels/neonplay_notesSlide17.xml.rels><?xml version='1.0' encoding='UTF-8' standalone='yes'?>
<Relationships xmlns="http://schemas.openxmlformats.org/package/2006/relationships"><Relationship Type="http://schemas.openxmlformats.org/officeDocument/2006/relationships/slide" Target="../slides/slide17.xml" Id="Re7f57a3cf5244c06"/><Relationship Type="http://schemas.openxmlformats.org/officeDocument/2006/relationships/notesMaster" Target="../notesMasters/neonplay_notesMaster1.xml" Id="Ra6700ced0c204ed2"/></Relationships>
</file>

<file path=ppt/notesSlides/_rels/neonplay_notesSlide18.xml.rels><?xml version='1.0' encoding='UTF-8' standalone='yes'?>
<Relationships xmlns="http://schemas.openxmlformats.org/package/2006/relationships"><Relationship Type="http://schemas.openxmlformats.org/officeDocument/2006/relationships/slide" Target="../slides/slide18.xml" Id="Rbfb3d431202e4370"/><Relationship Type="http://schemas.openxmlformats.org/officeDocument/2006/relationships/notesMaster" Target="../notesMasters/neonplay_notesMaster1.xml" Id="R13cfd74a886e4904"/></Relationships>
</file>

<file path=ppt/notesSlides/neonplay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segundos.</a:t>
            </a:r>
          </a:p>
          <a:p xmlns:a="http://schemas.openxmlformats.org/drawingml/2006/main">
            <a:r>
              <a:t/>
            </a:r>
          </a:p>
          <a:p xmlns:a="http://schemas.openxmlformats.org/drawingml/2006/main">
            <a:r>
              <a:t>NeonPlay es el aplicativo seleccionado para el proyecto de Calidad de Software. La exposición presenta la evaluación funcional, las mediciones y una corrección comprobada. Los resultados corresponden a la ejecución del 10 de octubre de 2026. El recorrido dura dieciocho minutos y reserva dos minutos para preguntas.</a:t>
            </a:r>
          </a:p>
          <a:p xmlns:a="http://schemas.openxmlformats.org/drawingml/2006/main">
            <a:r>
              <a:t/>
            </a:r>
          </a:p>
          <a:p xmlns:a="http://schemas.openxmlformats.org/drawingml/2006/main">
            <a:r>
              <a:t>Fuentes: Datos académicos facilitados por los estudiantes. Plantilla institucional ITQ.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El cliente puede buscar un videojuego, consultar disponibilidad, gestionar el carrito, comprar en demostración y localizar su pedido. El administrador mantiene el catálogo, categorías, plataformas y registros. La evaluación comprueba cinco flujos: registro y sesión, catálogo y detalle, carrito, compra e historial, y administración. El objetivo general consiste en evaluar su calidad mediante caja negra, métricas y una corrección. Pagos reales y entrega de claves digitales quedan fuera del alcance. La captura muestra la búsqueda Nexus, con una coincidencia real.</a:t>
            </a:r>
          </a:p>
          <a:p xmlns:a="http://schemas.openxmlformats.org/drawingml/2006/main">
            <a:r>
              <a:t/>
            </a:r>
          </a:p>
          <a:p xmlns:a="http://schemas.openxmlformats.org/drawingml/2006/main">
            <a:r>
              <a:t>Fuentes: Informe resumido, descripción, objetivos y apartado 6.1. quality/evidence/baseline/CP07.png.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La interfaz utiliza React, TypeScript, Vite y Tailwind CSS. Express recibe las solicitudes y Prisma consulta PostgreSQL. User se relaciona con Session y Order. Game pertenece a Category y se asocia con Platform mediante GamePlatform. OrderItem conserva el precio y los datos del producto al comprar. El servidor decide precio y disponibilidad. La transacción crea el pedido y descuenta stock de manera conjunta. Si el videojuego tiene pedidos, su eliminación lo archiva para conservar el historial. La sesión utiliza una cookie HttpOnly y las contraseñas se almacenan con bcrypt.</a:t>
            </a:r>
          </a:p>
          <a:p xmlns:a="http://schemas.openxmlformats.org/drawingml/2006/main">
            <a:r>
              <a:t/>
            </a:r>
          </a:p>
          <a:p xmlns:a="http://schemas.openxmlformats.org/drawingml/2006/main">
            <a:r>
              <a:t>Fuentes: server/prisma/schema.prisma. server/src/routes/orders.ts. Informe, 6.1. quality/evidence/baseline/detalle-valido.png.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La evaluación comienza con el contexto, riesgos y criterios de aceptación. Después fija una versión base en Git y prepara cuentas y juegos ficticios en un esquema temporal de PostgreSQL. Playwright ejecuta las acciones de la interfaz y las consultas HTTP comprueban resultados del servidor cuando corresponde. El diseño aplica particiones, límites, decisiones y transiciones. Las mediciones automáticas y el autorreporte del participante responden a preguntas distintas. ISO 25010 orienta los atributos, ISO 25023 la medición, SWEBOK la relación con configuración e ISTQB las técnicas de prueba.</a:t>
            </a:r>
          </a:p>
          <a:p xmlns:a="http://schemas.openxmlformats.org/drawingml/2006/main">
            <a:r>
              <a:t/>
            </a:r>
          </a:p>
          <a:p xmlns:a="http://schemas.openxmlformats.org/drawingml/2006/main">
            <a:r>
              <a:t>Fuentes: Informe, 6.1. CP01.png.</a:t>
            </a:r>
          </a:p>
          <a:p xmlns:a="http://schemas.openxmlformats.org/drawingml/2006/main">
            <a:r>
              <a:t>https://www.iso.org/standard/78176.html</a:t>
            </a:r>
          </a:p>
          <a:p xmlns:a="http://schemas.openxmlformats.org/drawingml/2006/main">
            <a:r>
              <a:t>https://www.iso.org/standard/35747.html</a:t>
            </a:r>
          </a:p>
          <a:p xmlns:a="http://schemas.openxmlformats.org/drawingml/2006/main">
            <a:r>
              <a:t>https://www.computer.org/education/bodies-of-knowledge/software-engineering/v4</a:t>
            </a:r>
          </a:p>
          <a:p xmlns:a="http://schemas.openxmlformats.org/drawingml/2006/main">
            <a:r>
              <a:t>https://istqb.org/wp-content/uploads/2024/11/ISTQB_CTFL_Syllabus_v4.0.1.pdf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El cliente necesita importes correctos y navegación comprensible. El administrador necesita catálogo e historial íntegros. El mantenedor requiere cambios que pueda comprobar y el docente necesita evidencias trazables. La tabla muestra cuatro riesgos. Los otros dos son demoras o fallos del catálogo y dificultad para comprar sin ayuda. Probabilidad e impacto se estimaron de uno a tres, bajo, medio y alto. Su producto orienta la prioridad de las pruebas, sin representar fallos ya observados. Stock e historial alcanzaron seis puntos; permisos, tres; rendimiento, interacción y compilación, cuatro.</a:t>
            </a:r>
          </a:p>
          <a:p xmlns:a="http://schemas.openxmlformats.org/drawingml/2006/main">
            <a:r>
              <a:t/>
            </a:r>
          </a:p>
          <a:p xmlns:a="http://schemas.openxmlformats.org/drawingml/2006/main">
            <a:r>
              <a:t>Fuentes: Informe, 6.2. Matriz de riesgos y casos de 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Los criterios hacen posible interpretar los resultados. En veinte casos, 95% exige al menos diecinueve aprobados, con cobertura de los cinco flujos y ningún defecto crítico abierto. En cinco tareas, 80% exige cuatro completadas sin ayuda. Mediana y p95 permiten examinar el centro de la muestra y sus respuestas más lentas. Fiabilidad exige HTTP 200 y contenido correcto. Estos umbrales corresponden a la consulta y al entorno local elegidos. Las normas orientan la evaluación, sin imponer estos límites ni constituir una certificación de NeonPlay.</a:t>
            </a:r>
          </a:p>
          <a:p xmlns:a="http://schemas.openxmlformats.org/drawingml/2006/main">
            <a:r>
              <a:t/>
            </a:r>
          </a:p>
          <a:p xmlns:a="http://schemas.openxmlformats.org/drawingml/2006/main">
            <a:r>
              <a:t>Fuentes: Informe, 6.4. https://www.iso.org/standard/78176.html</a:t>
            </a:r>
          </a:p>
          <a:p xmlns:a="http://schemas.openxmlformats.org/drawingml/2006/main">
            <a:r>
              <a:t>https://www.iso.org/standard/35747.html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La baseline completa es afac785407c041abc13f9b8651e70293aae488d4. La mejora corresponde a f6c1a4c1db8af32cbd3311ec4c6fe2d20d9caa14. La etiqueta permite recuperar el código evaluado sin confundirlo con documentos añadidos después. El navegador fue Chrome 154.0.8037.98, a 1440 por 1000. PostgreSQL utilizó 127.0.0.1:55432 y un esquema temporal separado. Nexus comenzó con precio 39,99 y dos unidades; Void Command estaba agotado. cleanup.json registra el retiro del esquema. Git conserva las fechas reales del proyecto. El repositorio es privado y el docente necesita acceso.</a:t>
            </a:r>
          </a:p>
          <a:p xmlns:a="http://schemas.openxmlformats.org/drawingml/2006/main">
            <a:r>
              <a:t/>
            </a:r>
          </a:p>
          <a:p xmlns:a="http://schemas.openxmlformats.org/drawingml/2006/main">
            <a:r>
              <a:t>Fuentes: https://github.com/orlandotrujillo028-debug/NeonPlay</a:t>
            </a:r>
          </a:p>
          <a:p xmlns:a="http://schemas.openxmlformats.org/drawingml/2006/main">
            <a:r>
              <a:t>quality/evidence/environment.json. quality/evidence/cleanup.json.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Pass significa que el resultado obtenido coincide con el esperado. Las veinte fichas conservan objetivo, técnica, precondiciones, datos, pasos, resultados y evidencia. Los casos incluyen entradas válidas, inválidas y valores límite. CP02 rechaza un correo sin formato, CP03 una contraseña de siete caracteres y CP18 precio cero o stock negativo. CP05 verifica la transición al cerrar sesión. La cobertura corresponde a los cinco flujos seleccionados, sin equivalencia con líneas de código. Antes de aceptar la baseline se corrigieron selectores y una referencia a price del ejecutor; ese ensayo se conserva por separado.</a:t>
            </a:r>
          </a:p>
          <a:p xmlns:a="http://schemas.openxmlformats.org/drawingml/2006/main">
            <a:r>
              <a:t/>
            </a:r>
          </a:p>
          <a:p xmlns:a="http://schemas.openxmlformats.org/drawingml/2006/main">
            <a:r>
              <a:t>Fuentes: quality/matrices/casos_baseline.csv. quality/evidence/baseline/results.json. quality/evidence/instrumentacion-01/results.json.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CP12 comprobó la cantidad mínima de una unidad y total 39,99. CP13 aumentó a dos y después intentó llegar a tres. El carrito mantuvo dos unidades y 79,98, e informó que la cantidad superaba el stock. La captura conserva tanto la cantidad como el aviso. CP14 recargó la página y verificó la persistencia de las dos unidades. Después eliminó la línea y comprobó el estado vacío. Estos resultados respaldan los límites y el cálculo del total en las condiciones elegidas.</a:t>
            </a:r>
          </a:p>
          <a:p xmlns:a="http://schemas.openxmlformats.org/drawingml/2006/main">
            <a:r>
              <a:t/>
            </a:r>
          </a:p>
          <a:p xmlns:a="http://schemas.openxmlformats.org/drawingml/2006/main">
            <a:r>
              <a:t>Fuentes: quality/evidence/baseline/CP12.png. CP13.png. CP14.png. Casos CP12 a CP14.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CP15 añadió una unidad de Nexus y confirmó la compra de demostración. La interfaz mostró el pedido de 39,99. Las comprobaciones HTTP confirmaron el precio histórico de su línea y la reducción del stock a una unidad. CP16 intentó comprar Void Command con stock cero. La interfaz deshabilitó la acción y el servidor rechazó una solicitud directa con HTTP 409. El número de pedidos no cambió. La imagen muestra el resultado del historial; la comprobación del stock también utiliza la evidencia del servidor.</a:t>
            </a:r>
          </a:p>
          <a:p xmlns:a="http://schemas.openxmlformats.org/drawingml/2006/main">
            <a:r>
              <a:t/>
            </a:r>
          </a:p>
          <a:p xmlns:a="http://schemas.openxmlformats.org/drawingml/2006/main">
            <a:r>
              <a:t>Fuentes: quality/evidence/baseline/CP15.png. CP16.png. quality/matrices/casos_baseline.csv.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CP17 creó el juego ficticio, lo consultó, cambió su precio de 29,99 a 31,99 y lo eliminó con confirmación. CP18 rechazó precio cero y stock negativo en formulario y servidor. CP19 archivó Nexus, que tenía un pedido, conservó el precio e historial y verificó su restauración. CP20 impidió operaciones al cliente con HTTP 403 y al usuario sin sesión con HTTP 401. El control se comprobó en el servidor, además de la interfaz. La captura muestra la edición y no pretende representar todas las operaciones del CRUD.</a:t>
            </a:r>
          </a:p>
          <a:p xmlns:a="http://schemas.openxmlformats.org/drawingml/2006/main">
            <a:r>
              <a:t/>
            </a:r>
          </a:p>
          <a:p xmlns:a="http://schemas.openxmlformats.org/drawingml/2006/main">
            <a:r>
              <a:t>Fuentes: quality/evidence/baseline/crud-actualizado.png. Casos CP17 a CP20.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La matriz compara cuatro atributos con sus criterios. La adecuación funcional aprueba el alcance elegido. El catálogo cumple mediana y p95 en local y las treinta respuestas son correctas. La capacidad de interacción queda por debajo del 80%. La tasa usa resultados conformes sobre total por cien; se corrige el factor por diez impreso en la consigna. El único defecto confirmado fue D01, de severidad media, cerrado tras verificar la corrección. No quedaron defectos confirmados abiertos. O01 es una observación de interacción con causa pendiente y se analiza por separado.</a:t>
            </a:r>
          </a:p>
          <a:p xmlns:a="http://schemas.openxmlformats.org/drawingml/2006/main">
            <a:r>
              <a:t/>
            </a:r>
          </a:p>
          <a:p xmlns:a="http://schemas.openxmlformats.org/drawingml/2006/main">
            <a:r>
              <a:t>Fuentes: Informe, 6.4 y 6.5. quality/matrices/metricas.csv.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Se midió GET /api/games?limit=12&amp;sort=price-asc. Después de cinco calentamientos se hicieron treinta solicitudes secuenciales con pausas de 250 milisegundos. El tiempo incluyó recepción y validación del JSON. Cada respuesta tuvo HTTP 200, ocho juegos y precios ascendentes. El promedio fue 3,669733 ms, la mediana exacta 3,5965 ms y el p95 4,452 ms. Para p95 se ordenaron los tiempos y se tomó la posición ceil(0,95 × 30), igual a 29. Mínimo 2,894 y máximo 4,62 ms. Esta muestra no representa navegación completa, saturación, usuarios remotos ni disponibilidad prolongada.</a:t>
            </a:r>
          </a:p>
          <a:p xmlns:a="http://schemas.openxmlformats.org/drawingml/2006/main">
            <a:r>
              <a:t/>
            </a:r>
          </a:p>
          <a:p xmlns:a="http://schemas.openxmlformats.org/drawingml/2006/main">
            <a:r>
              <a:t>Fuentes: quality/evidence/performance.json. quality/matrices/rendimiento.csv.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80 segundos.</a:t>
            </a:r>
          </a:p>
          <a:p xmlns:a="http://schemas.openxmlformats.org/drawingml/2006/main">
            <a:r>
              <a:t/>
            </a:r>
          </a:p>
          <a:p xmlns:a="http://schemas.openxmlformats.org/drawingml/2006/main">
            <a:r>
              <a:t>P01 confirmó por escrito que intentó las cinco tareas. Las primeras tres se completaron sin ayuda. Compra e historial necesitaron asistencia y continúan en el denominador porque fueron intentadas. Su finalización después de recibir ayuda no se confirmó. El 60% quedó veinte puntos porcentuales por debajo de la meta. Participó una persona familiarizada con el proyecto, sin cronometraje ni observación directa. No se identificó dónde apareció la dificultad ni su causa. CP15 comprueba una compra funcional, mientras el piloto registra autonomía declarada. O01 propone observar ambos recorridos antes de elegir cambios.</a:t>
            </a:r>
          </a:p>
          <a:p xmlns:a="http://schemas.openxmlformats.org/drawingml/2006/main">
            <a:r>
              <a:t/>
            </a:r>
          </a:p>
          <a:p xmlns:a="http://schemas.openxmlformats.org/drawingml/2006/main">
            <a:r>
              <a:t>Fuentes: quality/evidence/interaction.json. quality/matrices/interaccion.csv.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90 segundos.</a:t>
            </a:r>
          </a:p>
          <a:p xmlns:a="http://schemas.openxmlformats.org/drawingml/2006/main">
            <a:r>
              <a:t/>
            </a:r>
          </a:p>
          <a:p xmlns:a="http://schemas.openxmlformats.org/drawingml/2006/main">
            <a:r>
              <a:t>D01 afectó la compilación en Windows con la API abierta. El hook prebuild intentó renombrar query_engine-windows.dll.node y recibió EPERM, código 1. La severidad fue media porque existía la alternativa de compilar cliente y servidor por separado. ensure-prisma-client.mjs comprueba esquema, versión, motor e inicialización y genera solo si hace falta. El build corregido terminó con código 0 con la API abierta. La regresión inicial obtuvo 19 Pass y una espera fallida en CP09. La repetición, esperando la URL, fue Pass. Se conservan ambos intentos. Además, aprobaron 20 pruebas de API y 6 de carrito y fechas, como conjunto separado. La corrección no cambió reglas de negocio. Commit: f6c1a4c1db8af32cbd3311ec4c6fe2d20d9caa14.</a:t>
            </a:r>
          </a:p>
          <a:p xmlns:a="http://schemas.openxmlformats.org/drawingml/2006/main">
            <a:r>
              <a:t/>
            </a:r>
          </a:p>
          <a:p xmlns:a="http://schemas.openxmlformats.org/drawingml/2006/main">
            <a:r>
              <a:t>Fuentes: quality/evidence/baseline-build.txt. improvement-build.txt. regression/results.json. regression-retry/results.json. unit-integration.txt.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D01 tiene corrección y evidencia de cierre. O01 mantiene prioridad media. El siguiente piloto presentará las mismas tareas a personas que no conozcan la tienda, sin indicar pasos. Registrará ayudas, tiempos y finalización. La orientación contextual o un acceso más visible al historial se probarán si el diagnóstico los justifica. Su cierre exige diagnóstico y al menos 80% de tareas sin ayuda. Los responsables son sugeridos. Git, migraciones y módulos facilitan revisar cambios; Admin.tsx podría dividirse si crece. La corrección de D01 mejoró reproducibilidad. La evaluación se limita a casos seleccionados, consultas secuenciales y un autorreporte.</a:t>
            </a:r>
          </a:p>
          <a:p xmlns:a="http://schemas.openxmlformats.org/drawingml/2006/main">
            <a:r>
              <a:t/>
            </a:r>
          </a:p>
          <a:p xmlns:a="http://schemas.openxmlformats.org/drawingml/2006/main">
            <a:r>
              <a:t>Fuentes: Informe, plan, mantenibilidad y discusión. quality/matrices/defectos_y_observaciones.csv.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Los objetivos se cumplen al definir criterios y versión, ejecutar pruebas y verificar una mejora. Los resultados respaldan las funciones elegidas y el desempeño local. La compilación mejora, mientras O01 mantiene pendiente el diagnóstico de compra e historial. La autonomía del participante impide concluir que todos los recorridos sean fáciles de usar. Las normas y guías aportan el marco de referencia, sin certificación. Las matrices, capturas y logs permiten comprobar resultados, incluidas incidencias. El repositorio privado requiere acceso del docente. Referencias: ISO, 2016 y 2023; IEEE Computer Society, 2025; ISTQB, 2024.</a:t>
            </a:r>
          </a:p>
          <a:p xmlns:a="http://schemas.openxmlformats.org/drawingml/2006/main">
            <a:r>
              <a:t/>
            </a:r>
          </a:p>
          <a:p xmlns:a="http://schemas.openxmlformats.org/drawingml/2006/main">
            <a:r>
              <a:t>Fuentes: https://www.iso.org/standard/78176.html</a:t>
            </a:r>
          </a:p>
          <a:p xmlns:a="http://schemas.openxmlformats.org/drawingml/2006/main">
            <a:r>
              <a:t>https://www.iso.org/standard/35747.html</a:t>
            </a:r>
          </a:p>
          <a:p xmlns:a="http://schemas.openxmlformats.org/drawingml/2006/main">
            <a:r>
              <a:t>https://www.computer.org/education/bodies-of-knowledge/software-engineering/v4</a:t>
            </a:r>
          </a:p>
          <a:p xmlns:a="http://schemas.openxmlformats.org/drawingml/2006/main">
            <a:r>
              <a:t>https://istqb.org/wp-content/uploads/2024/11/ISTQB_CTFL_Syllabus_v4.0.1.pdf</a:t>
            </a:r>
          </a:p>
          <a:p xmlns:a="http://schemas.openxmlformats.org/drawingml/2006/main">
            <a:r>
              <a:t>https://github.com/orlandotrujillo028-debug/NeonPlay</a:t>
            </a:r>
          </a:p>
          <a:p xmlns:a="http://schemas.openxmlformats.org/drawingml/2006/main">
            <a:r>
              <a:t>Informe, conclusiones.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onplay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 segundos.</a:t>
            </a:r>
          </a:p>
          <a:p xmlns:a="http://schemas.openxmlformats.org/drawingml/2006/main">
            <a:r>
              <a:t/>
            </a:r>
          </a:p>
          <a:p xmlns:a="http://schemas.openxmlformats.org/drawingml/2006/main">
            <a:r>
              <a:t>Preguntas de la defensa. El 100% funcional describe los casos comprobados, sin equivalencia con evaluación exhaustiva. El rendimiento corresponde a un entorno local. El piloto registra tres tareas sin ayuda y dos que necesitaron asistencia, sin causa confirmada. OrderItem conserva el precio histórico. D01 cerró con build exitoso y regresión. O01 sigue abierta. Los datos de prueba son ficticios y el esquema temporal fue retirado.</a:t>
            </a:r>
          </a:p>
          <a:p xmlns:a="http://schemas.openxmlformats.org/drawingml/2006/main">
            <a:r>
              <a:t/>
            </a:r>
          </a:p>
          <a:p xmlns:a="http://schemas.openxmlformats.org/drawingml/2006/main">
            <a:r>
              <a:t>Fuentes: Informe resumido, matrices, evidencias y repositorio NeonPlay.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F590D84-79D3-4C28-8272-EDD8FDDBF972}"/>
              </a:ext>
            </a:extLst>
          </p:cNvPr>
          <p:cNvPicPr>
            <a:picLocks noChangeAspect="1"/>
          </p:cNvPicPr>
          <p:nvPr userDrawn="1"/>
        </p:nvPicPr>
        <p:blipFill>
          <a:blip r:embed="rId2"/>
          <a:stretch>
            <a:fillRect/>
          </a:stretch>
        </p:blipFill>
        <p:spPr>
          <a:xfrm>
            <a:off x="0" y="15240"/>
            <a:ext cx="12192000" cy="6827520"/>
          </a:xfrm>
          <a:prstGeom prst="rect">
            <a:avLst/>
          </a:prstGeom>
        </p:spPr>
      </p:pic>
    </p:spTree>
    <p:extLst>
      <p:ext uri="{BB962C8B-B14F-4D97-AF65-F5344CB8AC3E}">
        <p14:creationId xmlns:p14="http://schemas.microsoft.com/office/powerpoint/2010/main" val="1556285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792C4263-B061-4225-864A-EFFE32EA01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256696"/>
            <a:ext cx="12192000" cy="6344608"/>
          </a:xfrm>
          <a:prstGeom prst="rect">
            <a:avLst/>
          </a:prstGeom>
        </p:spPr>
      </p:pic>
    </p:spTree>
    <p:extLst>
      <p:ext uri="{BB962C8B-B14F-4D97-AF65-F5344CB8AC3E}">
        <p14:creationId xmlns:p14="http://schemas.microsoft.com/office/powerpoint/2010/main" val="1612336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F81EDC2-C54D-4F06-825E-C4EEE6520EB4}"/>
              </a:ext>
            </a:extLst>
          </p:cNvPr>
          <p:cNvPicPr>
            <a:picLocks noChangeAspect="1"/>
          </p:cNvPicPr>
          <p:nvPr userDrawn="1"/>
        </p:nvPicPr>
        <p:blipFill>
          <a:blip r:embed="rId2"/>
          <a:stretch>
            <a:fillRect/>
          </a:stretch>
        </p:blipFill>
        <p:spPr>
          <a:xfrm>
            <a:off x="0" y="14899"/>
            <a:ext cx="12192000" cy="6828201"/>
          </a:xfrm>
          <a:prstGeom prst="rect">
            <a:avLst/>
          </a:prstGeom>
        </p:spPr>
      </p:pic>
    </p:spTree>
    <p:extLst>
      <p:ext uri="{BB962C8B-B14F-4D97-AF65-F5344CB8AC3E}">
        <p14:creationId xmlns:p14="http://schemas.microsoft.com/office/powerpoint/2010/main" val="20730232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235B0E-40F3-FE48-85C8-7BAD90315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EC" dirty="0"/>
          </a:p>
        </p:txBody>
      </p:sp>
      <p:sp>
        <p:nvSpPr>
          <p:cNvPr id="3" name="Marcador de texto 2">
            <a:extLst>
              <a:ext uri="{FF2B5EF4-FFF2-40B4-BE49-F238E27FC236}">
                <a16:creationId xmlns:a16="http://schemas.microsoft.com/office/drawing/2014/main" id="{E6A252DF-D040-3140-AE95-17871B8C9C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es-ES"/>
              <a:t>Editar los estilos de texto del patrón
Segundo nivel
Tercer nivel
Cuarto nivel
Quinto nivel</a:t>
            </a:r>
            <a:endParaRPr lang="es-EC"/>
          </a:p>
        </p:txBody>
      </p:sp>
      <p:sp>
        <p:nvSpPr>
          <p:cNvPr id="4" name="Marcador de fecha 3">
            <a:extLst>
              <a:ext uri="{FF2B5EF4-FFF2-40B4-BE49-F238E27FC236}">
                <a16:creationId xmlns:a16="http://schemas.microsoft.com/office/drawing/2014/main" id="{81FA9B13-6189-2D41-991A-58E300C56F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EB83C7-CE7D-EE43-931B-A983B2AE7CF3}" type="datetimeFigureOut">
              <a:rPr lang="es-EC" smtClean="0"/>
              <a:t>8/5/2023</a:t>
            </a:fld>
            <a:endParaRPr lang="es-EC"/>
          </a:p>
        </p:txBody>
      </p:sp>
      <p:sp>
        <p:nvSpPr>
          <p:cNvPr id="5" name="Marcador de pie de página 4">
            <a:extLst>
              <a:ext uri="{FF2B5EF4-FFF2-40B4-BE49-F238E27FC236}">
                <a16:creationId xmlns:a16="http://schemas.microsoft.com/office/drawing/2014/main" id="{61D491B9-92E6-0B4C-8EE2-6EEF6AD05A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831DFC90-A7E4-7B43-913E-1B358C958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94400E-63C4-0F42-997B-0D037BB11E5E}" type="slidenum">
              <a:rPr lang="es-EC" smtClean="0"/>
              <a:t>‹Nº›</a:t>
            </a:fld>
            <a:endParaRPr lang="es-EC"/>
          </a:p>
        </p:txBody>
      </p:sp>
    </p:spTree>
    <p:extLst>
      <p:ext uri="{BB962C8B-B14F-4D97-AF65-F5344CB8AC3E}">
        <p14:creationId xmlns:p14="http://schemas.microsoft.com/office/powerpoint/2010/main" val="890400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Type="http://schemas.openxmlformats.org/officeDocument/2006/relationships/notesSlide" Target="../notesSlides/neonplay_notesSlide1.xml" Id="npNotes"/></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3.png" Id="npRel2"/><Relationship Type="http://schemas.openxmlformats.org/officeDocument/2006/relationships/notesSlide" Target="../notesSlides/neonplay_notesSlide2.xml" Id="npNotes"/></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4.png" Id="npRel2"/><Relationship Type="http://schemas.openxmlformats.org/officeDocument/2006/relationships/notesSlide" Target="../notesSlides/neonplay_notesSlide3.xml" Id="npNotes"/></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5.png" Id="npRel2"/><Relationship Type="http://schemas.openxmlformats.org/officeDocument/2006/relationships/notesSlide" Target="../notesSlides/neonplay_notesSlide4.xml" Id="npNotes"/></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5.xml" Id="npNotes"/></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6.xml" Id="npNotes"/></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7.xml" Id="npNotes"/></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8.xml" Id="npNotes"/></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6.png" Id="npRel2"/><Relationship Type="http://schemas.openxmlformats.org/officeDocument/2006/relationships/notesSlide" Target="../notesSlides/neonplay_notesSlide9.xml" Id="npNotes"/></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7.png" Id="npRel2"/><Relationship Type="http://schemas.openxmlformats.org/officeDocument/2006/relationships/notesSlide" Target="../notesSlides/neonplay_notesSlide10.xml" Id="npNotes"/></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image" Target="../media/neonplay_image8.png" Id="npRel2"/><Relationship Type="http://schemas.openxmlformats.org/officeDocument/2006/relationships/notesSlide" Target="../notesSlides/neonplay_notesSlide11.xml" Id="npNotes"/></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2.xml" Id="npNotes"/></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chart" Target="charts/neonplay_chart1.xml" Id="npRel2"/><Relationship Type="http://schemas.openxmlformats.org/officeDocument/2006/relationships/notesSlide" Target="../notesSlides/neonplay_notesSlide13.xml" Id="npNotes"/></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4.xml" Id="npNotes"/></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5.xml" Id="npNotes"/></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6.xml" Id="npNotes"/></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Type="http://schemas.openxmlformats.org/officeDocument/2006/relationships/notesSlide" Target="../notesSlides/neonplay_notesSlide17.xml" Id="npNotes"/></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Type="http://schemas.openxmlformats.org/officeDocument/2006/relationships/notesSlide" Target="../notesSlides/neonplay_notesSlide18.xml" Id="npNotes"/></Relationships>
</file>

<file path=ppt/slides/charts/_rels/neonplay_chart1.xml.rels><Relationships xmlns="http://schemas.openxmlformats.org/package/2006/relationships"><Relationship Id="rIdChartSnapshot1" Type="http://schemas.openxmlformats.org/officeDocument/2006/relationships/package" Target="../../embeddings/chart-data-snapshot-001.xlsx"/></Relationships>
</file>

<file path=ppt/slides/charts/neonplay_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000000"/>
                </a:solidFill>
                <a:latin typeface="Calibri"/>
                <a:ea typeface="Calibri"/>
                <a:cs typeface="Calibri"/>
              </a:rPr>
              <a:t>Tiempo HTTP en milisegundos</a:t>
            </a:r>
          </a:p>
        </c:rich>
      </c:tx>
      <c:overlay val="0"/>
      <c:txPr>
        <a:bodyPr xmlns:a="http://schemas.openxmlformats.org/drawingml/2006/main" anchorCtr="1"/>
        <a:lstStyle xmlns:a="http://schemas.openxmlformats.org/drawingml/2006/main"/>
        <a:p xmlns:a="http://schemas.openxmlformats.org/drawingml/2006/main">
          <a:pPr>
            <a:defRPr sz="1950">
              <a:solidFill>
                <a:srgbClr val="000000"/>
              </a:solidFill>
              <a:latin typeface="Calibri"/>
              <a:ea typeface="Calibri"/>
              <a:cs typeface="Calibri"/>
            </a:defRPr>
          </a:pPr>
        </a:p>
      </c:txPr>
    </c:title>
    <c:plotArea>
      <c:barChart>
        <c:barDir val="col"/>
        <c:varyColors val="0"/>
        <c:ser>
          <c:idx val="0"/>
          <c:order val="0"/>
          <c:tx>
            <c:v>Milisegundos</c:v>
          </c:tx>
          <c:spPr>
            <a:solidFill xmlns:a="http://schemas.openxmlformats.org/drawingml/2006/main">
              <a:srgbClr val="EA293C"/>
            </a:solidFill>
          </c:spPr>
          <c:invertIfNegative val="0"/>
          <c:cat>
            <c:strRef>
              <c:f>'Chart Data'!$A$2:$A$4</c:f>
              <c:strCache>
                <c:ptCount val="3"/>
                <c:pt idx="0">
                  <c:v>Promedio</c:v>
                </c:pt>
                <c:pt idx="1">
                  <c:v>Mediana</c:v>
                </c:pt>
                <c:pt idx="2">
                  <c:v>p95</c:v>
                </c:pt>
              </c:strCache>
            </c:strRef>
          </c:cat>
          <c:val>
            <c:numRef>
              <c:f>'Chart Data'!$B$2:$B$4</c:f>
              <c:numCache>
                <c:formatCode>0</c:formatCode>
                <c:ptCount val="3"/>
                <c:pt idx="0">
                  <c:v>3.67</c:v>
                </c:pt>
                <c:pt idx="1">
                  <c:v>3.6</c:v>
                </c:pt>
                <c:pt idx="2">
                  <c:v>4.45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Calibri"/>
                <a:ea typeface="Calibri"/>
                <a:cs typeface="Calibri"/>
              </a:defRPr>
            </a:pPr>
          </a:p>
        </c:txPr>
        <c:crossAx val="48672768"/>
      </c:catAx>
      <c:valAx>
        <c:axId val="48672768"/>
        <c:scaling>
          <c:orientation val="minMax"/>
          <c:max val="5"/>
          <c:min val="0"/>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Calibri"/>
                <a:ea typeface="Calibri"/>
                <a:cs typeface="Calibri"/>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ECDA4AB4-C823-4BF9-A30D-E6D3030876DC}"/>
              </a:ext>
            </a:extLst>
          </p:cNvPr>
          <p:cNvSpPr>
            <a:spLocks noGrp="1"/>
          </p:cNvSpPr>
          <p:nvPr>
            <p:ph type="ctrTitle" idx="4294967295"/>
          </p:nvPr>
        </p:nvSpPr>
        <p:spPr>
          <a:xfrm>
            <a:off x="7678614" y="2718777"/>
            <a:ext cx="3774831" cy="1420446"/>
          </a:xfrm>
        </p:spPr>
        <p:txBody>
          <a:bodyPr/>
          <a:lstStyle/>
          <a:p>
            <a:endParaRPr lang="es-EC" dirty="0"/>
          </a:p>
        </p:txBody>
      </p:sp>
      <p:sp>
        <p:nvSpPr>
          <p:cNvPr id="9" name="np:Portada">
            <a:extLst>
              <a:ext uri="{FF2B5EF4-FFF2-40B4-BE49-F238E27FC236}">
                <a16:creationId xmlns:a16="http://schemas.microsoft.com/office/drawing/2014/main" id="{78769705-3F05-42C0-9610-E7CF431724A3}"/>
              </a:ext>
            </a:extLst>
          </p:cNvPr>
          <p:cNvSpPr>
            <a:spLocks noGrp="1"/>
          </p:cNvSpPr>
          <p:nvPr/>
        </p:nvSpPr>
        <p:spPr>
          <a:xfrm>
            <a:off x="7620000" y="2352675"/>
            <a:ext cx="3762375" cy="203835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Evaluación de</a:t>
            </a:r>
          </a:p>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calidad</a:t>
            </a:r>
          </a:p>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NeonPlay</a:t>
            </a:r>
          </a:p>
        </p:txBody>
      </p:sp>
      <p:sp>
        <p:nvSpPr>
          <p:cNvPr id="10" name="np:Integrantes">
            <a:extLst>
              <a:ext uri="{FF2B5EF4-FFF2-40B4-BE49-F238E27FC236}">
                <a16:creationId xmlns:a16="http://schemas.microsoft.com/office/drawing/2014/main" id="{49651F24-FC5A-494D-A35D-C0FDFE09AA32}"/>
              </a:ext>
            </a:extLst>
          </p:cNvPr>
          <p:cNvSpPr>
            <a:spLocks noGrp="1"/>
          </p:cNvSpPr>
          <p:nvPr/>
        </p:nvSpPr>
        <p:spPr>
          <a:xfrm>
            <a:off x="7620000" y="4552950"/>
            <a:ext cx="3762375" cy="619125"/>
          </a:xfrm>
          <a:prstGeom prst="rect">
            <a:avLst/>
          </a:prstGeom>
          <a:noFill/>
          <a:ln w="0">
            <a:noFill/>
          </a:ln>
        </p:spPr>
        <p:txBody>
          <a:bodyPr lIns="0" tIns="0" rIns="0" bIns="0" anchor="t">
            <a:noAutofit/>
          </a:bodyPr>
          <a:lstStyle>
            <a:defPPr algn="l">
              <a:defRPr sz="1800" b="0">
                <a:solidFill>
                  <a:srgbClr val="000000"/>
                </a:solidFill>
                <a:latin typeface="Calibri"/>
                <a:ea typeface="Calibri"/>
                <a:cs typeface="Calibri"/>
              </a:defRPr>
            </a:defPPr>
          </a:lstStyle>
          <a:p>
            <a:pPr algn="l">
              <a:defRPr sz="1800" b="0">
                <a:solidFill>
                  <a:srgbClr val="000000"/>
                </a:solidFill>
                <a:latin typeface="Calibri"/>
                <a:ea typeface="Calibri"/>
                <a:cs typeface="Calibri"/>
              </a:defRPr>
            </a:pPr>
            <a:r>
              <a:rPr sz="1800" b="0">
                <a:solidFill>
                  <a:srgbClr val="000000"/>
                </a:solidFill>
                <a:latin typeface="Calibri"/>
                <a:ea typeface="Calibri"/>
                <a:cs typeface="Calibri"/>
              </a:rPr>
              <a:t>Kevin Adrián Quiñonez Rocha</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Orlando Eloy Trujillo</a:t>
            </a:r>
          </a:p>
        </p:txBody>
      </p:sp>
      <p:sp>
        <p:nvSpPr>
          <p:cNvPr id="11" name="np:Datos">
            <a:extLst>
              <a:ext uri="{FF2B5EF4-FFF2-40B4-BE49-F238E27FC236}">
                <a16:creationId xmlns:a16="http://schemas.microsoft.com/office/drawing/2014/main" id="{BBACA7A9-06C3-48B8-8EF8-12E907658FCE}"/>
              </a:ext>
            </a:extLst>
          </p:cNvPr>
          <p:cNvSpPr>
            <a:spLocks noGrp="1"/>
          </p:cNvSpPr>
          <p:nvPr/>
        </p:nvSpPr>
        <p:spPr>
          <a:xfrm>
            <a:off x="7620000" y="5276850"/>
            <a:ext cx="3762375" cy="1190625"/>
          </a:xfrm>
          <a:prstGeom prst="rect">
            <a:avLst/>
          </a:prstGeom>
          <a:noFill/>
          <a:ln w="0">
            <a:noFill/>
          </a:ln>
        </p:spPr>
        <p:txBody>
          <a:bodyPr lIns="0" tIns="0" rIns="0" bIns="0" anchor="t">
            <a:noAutofit/>
          </a:bodyPr>
          <a:lstStyle>
            <a:defPPr algn="l">
              <a:defRPr sz="1800" b="0">
                <a:solidFill>
                  <a:srgbClr val="000000"/>
                </a:solidFill>
                <a:latin typeface="Calibri"/>
                <a:ea typeface="Calibri"/>
                <a:cs typeface="Calibri"/>
              </a:defRPr>
            </a:defPPr>
          </a:lstStyle>
          <a:p>
            <a:pPr algn="l">
              <a:defRPr sz="1800" b="0">
                <a:solidFill>
                  <a:srgbClr val="000000"/>
                </a:solidFill>
                <a:latin typeface="Calibri"/>
                <a:ea typeface="Calibri"/>
                <a:cs typeface="Calibri"/>
              </a:defRPr>
            </a:pPr>
            <a:r>
              <a:rPr sz="1800" b="0">
                <a:solidFill>
                  <a:srgbClr val="000000"/>
                </a:solidFill>
                <a:latin typeface="Calibri"/>
                <a:ea typeface="Calibri"/>
                <a:cs typeface="Calibri"/>
              </a:rPr>
              <a:t>Calidad de Software</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Desarrollo de Software, nivel 4</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Ing. Sebastián Landázuri G</a:t>
            </a:r>
          </a:p>
          <a:p>
            <a:pPr algn="l">
              <a:defRPr sz="1800" b="0">
                <a:solidFill>
                  <a:srgbClr val="000000"/>
                </a:solidFill>
                <a:latin typeface="Calibri"/>
                <a:ea typeface="Calibri"/>
                <a:cs typeface="Calibri"/>
              </a:defRPr>
            </a:pPr>
            <a:r>
              <a:rPr sz="1800" b="0">
                <a:solidFill>
                  <a:srgbClr val="000000"/>
                </a:solidFill>
                <a:latin typeface="Calibri"/>
                <a:ea typeface="Calibri"/>
                <a:cs typeface="Calibri"/>
              </a:rPr>
              <a:t>15 de octubre de 2026</a:t>
            </a:r>
          </a:p>
        </p:txBody>
      </p:sp>
    </p:spTree>
    <p:extLst>
      <p:ext uri="{BB962C8B-B14F-4D97-AF65-F5344CB8AC3E}">
        <p14:creationId xmlns:p14="http://schemas.microsoft.com/office/powerpoint/2010/main" val="41731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944A6483-DF41-4EB7-9BD6-CC2DC4CAA511}"/>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NeonPlay y la evaluación</a:t>
            </a:r>
          </a:p>
        </p:txBody>
      </p:sp>
      <p:sp>
        <p:nvSpPr>
          <p:cNvPr id="5" name="np:Contenido">
            <a:extLst>
              <a:ext uri="{FF2B5EF4-FFF2-40B4-BE49-F238E27FC236}">
                <a16:creationId xmlns:a16="http://schemas.microsoft.com/office/drawing/2014/main" id="{31E980CD-6C6A-4CBC-85E0-14126DFA3EA1}"/>
              </a:ext>
            </a:extLst>
          </p:cNvPr>
          <p:cNvSpPr>
            <a:spLocks noGrp="1"/>
          </p:cNvSpPr>
          <p:nvPr/>
        </p:nvSpPr>
        <p:spPr>
          <a:xfrm>
            <a:off x="523875" y="2371725"/>
            <a:ext cx="4000500" cy="3286125"/>
          </a:xfrm>
          <a:prstGeom prst="rect">
            <a:avLst/>
          </a:prstGeom>
          <a:noFill/>
          <a:ln w="0">
            <a:noFill/>
          </a:ln>
        </p:spPr>
        <p:txBody>
          <a:bodyPr lIns="0" tIns="0" rIns="0" bIns="0" anchor="t">
            <a:noAutofit/>
          </a:bodyPr>
          <a:lstStyle>
            <a:defPPr algn="l">
              <a:defRPr sz="2700" b="0">
                <a:solidFill>
                  <a:srgbClr val="000000"/>
                </a:solidFill>
                <a:latin typeface="Calibri"/>
                <a:ea typeface="Calibri"/>
                <a:cs typeface="Calibri"/>
              </a:defRPr>
            </a:defPPr>
          </a:lstStyle>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Tienda de videojuegos con compra de demostración.</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Objetivo: comprobar funciones, medir calidad y verificar una mejora.</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Cinco flujos desde el registro hasta la administración.</a:t>
            </a:r>
          </a:p>
        </p:txBody>
      </p:sp>
      <p:pic>
        <p:nvPicPr>
          <p:cNvPr id="6" name="">
            <a:extLst>
              <a:ext uri="{FF2B5EF4-FFF2-40B4-BE49-F238E27FC236}">
                <a16:creationId xmlns:a16="http://schemas.microsoft.com/office/drawing/2014/main" id="{F254D951-8140-4B94-BF4D-078CDEBC3763}"/>
              </a:ext>
            </a:extLst>
          </p:cNvPr>
          <p:cNvPicPr>
            <a:picLocks noChangeAspect="1"/>
          </p:cNvPicPr>
          <p:nvPr/>
        </p:nvPicPr>
        <p:blipFill>
          <a:blip r:embed="npRel2"/>
          <a:srcRect l="0" t="0" r="0" b="37500"/>
          <a:stretch/>
        </p:blipFill>
        <p:spPr>
          <a:xfrm>
            <a:off x="4762500" y="2365937"/>
            <a:ext cx="5667375" cy="3345326"/>
          </a:xfrm>
          <a:prstGeom prst="rect">
            <a:avLst/>
          </a:prstGeom>
        </p:spPr>
      </p:pic>
      <p:sp>
        <p:nvSpPr>
          <p:cNvPr id="7" name="np:Detalle">
            <a:extLst>
              <a:ext uri="{FF2B5EF4-FFF2-40B4-BE49-F238E27FC236}">
                <a16:creationId xmlns:a16="http://schemas.microsoft.com/office/drawing/2014/main" id="{92CA181D-7A60-442D-9A6F-432C65EB32E9}"/>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Catálogo real de la evaluación. Búsqueda de Nexus en CP07.</a:t>
            </a:r>
          </a:p>
        </p:txBody>
      </p:sp>
    </p:spTree>
    <p:extLst>
      <p:ext uri="{BB962C8B-B14F-4D97-AF65-F5344CB8AC3E}">
        <p14:creationId xmlns:p14="http://schemas.microsoft.com/office/powerpoint/2010/main" val="2341651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561FE15E-8D33-49C9-BA29-80AD9F6C40CC}"/>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Arquitectura y datos</a:t>
            </a:r>
          </a:p>
        </p:txBody>
      </p:sp>
      <p:sp>
        <p:nvSpPr>
          <p:cNvPr id="5" name="np:Contenido">
            <a:extLst>
              <a:ext uri="{FF2B5EF4-FFF2-40B4-BE49-F238E27FC236}">
                <a16:creationId xmlns:a16="http://schemas.microsoft.com/office/drawing/2014/main" id="{4F1107CC-7C6B-4392-A53D-E8E76D9BF368}"/>
              </a:ext>
            </a:extLst>
          </p:cNvPr>
          <p:cNvSpPr>
            <a:spLocks noGrp="1"/>
          </p:cNvSpPr>
          <p:nvPr/>
        </p:nvSpPr>
        <p:spPr>
          <a:xfrm>
            <a:off x="523875" y="2371725"/>
            <a:ext cx="4000500" cy="3286125"/>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React presenta la tienda. Express valida datos y permisos.</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Prisma conecta la API con PostgreSQL.</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El pedido conserva el precio y descuenta stock en una transacción.</a:t>
            </a:r>
          </a:p>
        </p:txBody>
      </p:sp>
      <p:pic>
        <p:nvPicPr>
          <p:cNvPr id="6" name="">
            <a:extLst>
              <a:ext uri="{FF2B5EF4-FFF2-40B4-BE49-F238E27FC236}">
                <a16:creationId xmlns:a16="http://schemas.microsoft.com/office/drawing/2014/main" id="{45D8E75E-1D8A-428B-A9E5-F482C7495864}"/>
              </a:ext>
            </a:extLst>
          </p:cNvPr>
          <p:cNvPicPr>
            <a:picLocks noChangeAspect="1"/>
          </p:cNvPicPr>
          <p:nvPr/>
        </p:nvPicPr>
        <p:blipFill>
          <a:blip r:embed="npRel2"/>
          <a:srcRect l="0" t="0" r="0" b="37177"/>
          <a:stretch/>
        </p:blipFill>
        <p:spPr>
          <a:xfrm>
            <a:off x="4762500" y="2365937"/>
            <a:ext cx="5667375" cy="3345326"/>
          </a:xfrm>
          <a:prstGeom prst="rect">
            <a:avLst/>
          </a:prstGeom>
        </p:spPr>
      </p:pic>
      <p:sp>
        <p:nvSpPr>
          <p:cNvPr id="7" name="np:Detalle">
            <a:extLst>
              <a:ext uri="{FF2B5EF4-FFF2-40B4-BE49-F238E27FC236}">
                <a16:creationId xmlns:a16="http://schemas.microsoft.com/office/drawing/2014/main" id="{79DDAAF0-1689-4787-B3C3-739984E9E088}"/>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CP11: detalle de Nexus con precio, plataforma y disponibilidad.</a:t>
            </a:r>
          </a:p>
        </p:txBody>
      </p:sp>
    </p:spTree>
    <p:extLst>
      <p:ext uri="{BB962C8B-B14F-4D97-AF65-F5344CB8AC3E}">
        <p14:creationId xmlns:p14="http://schemas.microsoft.com/office/powerpoint/2010/main" val="2341651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12A87669-FF65-4658-82C8-EA44EF1FDFBC}"/>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Método de evaluación</a:t>
            </a:r>
          </a:p>
        </p:txBody>
      </p:sp>
      <p:sp>
        <p:nvSpPr>
          <p:cNvPr id="5" name="np:Contenido">
            <a:extLst>
              <a:ext uri="{FF2B5EF4-FFF2-40B4-BE49-F238E27FC236}">
                <a16:creationId xmlns:a16="http://schemas.microsoft.com/office/drawing/2014/main" id="{E0BD9E26-75DE-4CAA-BA8F-5EF40293B8E7}"/>
              </a:ext>
            </a:extLst>
          </p:cNvPr>
          <p:cNvSpPr>
            <a:spLocks noGrp="1"/>
          </p:cNvSpPr>
          <p:nvPr/>
        </p:nvSpPr>
        <p:spPr>
          <a:xfrm>
            <a:off x="523875" y="2343150"/>
            <a:ext cx="4000500" cy="3286125"/>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Definición de riesgos, versión base y criterios.</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20 casos de caja negra con datos ficticios.</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Mediciones y piloto de uso.</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Corrección y pruebas de regresión.</a:t>
            </a:r>
          </a:p>
        </p:txBody>
      </p:sp>
      <p:pic>
        <p:nvPicPr>
          <p:cNvPr id="6" name="">
            <a:extLst>
              <a:ext uri="{FF2B5EF4-FFF2-40B4-BE49-F238E27FC236}">
                <a16:creationId xmlns:a16="http://schemas.microsoft.com/office/drawing/2014/main" id="{D14EE3CB-81EB-4557-BC9E-3B6B184F3531}"/>
              </a:ext>
            </a:extLst>
          </p:cNvPr>
          <p:cNvPicPr>
            <a:picLocks noChangeAspect="1"/>
          </p:cNvPicPr>
          <p:nvPr/>
        </p:nvPicPr>
        <p:blipFill>
          <a:blip r:embed="npRel2"/>
          <a:srcRect l="0" t="0" r="0" b="30000"/>
          <a:stretch/>
        </p:blipFill>
        <p:spPr>
          <a:xfrm>
            <a:off x="4762500" y="2661113"/>
            <a:ext cx="5667375" cy="2754974"/>
          </a:xfrm>
          <a:prstGeom prst="rect">
            <a:avLst/>
          </a:prstGeom>
        </p:spPr>
      </p:pic>
      <p:sp>
        <p:nvSpPr>
          <p:cNvPr id="7" name="np:Detalle">
            <a:extLst>
              <a:ext uri="{FF2B5EF4-FFF2-40B4-BE49-F238E27FC236}">
                <a16:creationId xmlns:a16="http://schemas.microsoft.com/office/drawing/2014/main" id="{3A50ADD9-8FD0-43A1-A969-24D1F022F447}"/>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CP01: perfil de la cuenta ficticia tras el registro válido.</a:t>
            </a:r>
          </a:p>
        </p:txBody>
      </p:sp>
    </p:spTree>
    <p:extLst>
      <p:ext uri="{BB962C8B-B14F-4D97-AF65-F5344CB8AC3E}">
        <p14:creationId xmlns:p14="http://schemas.microsoft.com/office/powerpoint/2010/main" val="2341651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AB0D7880-A6BF-4909-8293-5B5CB7835C82}"/>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Necesidades y riesgos</a:t>
            </a:r>
          </a:p>
        </p:txBody>
      </p:sp>
      <p:graphicFrame>
        <p:nvGraphicFramePr>
          <p:cNvPr id="5" name="">
            <a:extLst>
              <a:ext uri="{FF2B5EF4-FFF2-40B4-BE49-F238E27FC236}">
                <a16:creationId xmlns:a16="http://schemas.microsoft.com/office/drawing/2014/main" id="{6354FF24-6BA6-4631-93A6-550461D0BB7E}"/>
              </a:ext>
            </a:extLst>
          </p:cNvPr>
          <p:cNvGraphicFramePr/>
          <p:nvPr/>
        </p:nvGraphicFramePr>
        <p:xfrm>
          <a:off x="523875" y="2324100"/>
          <a:ext cx="9906000" cy="3333750"/>
        </p:xfrm>
        <a:graphic>
          <a:graphicData uri="http://schemas.openxmlformats.org/drawingml/2006/table">
            <a:tbl>
              <a:tblPr/>
              <a:tblGrid>
                <a:gridCol w="3143250"/>
                <a:gridCol w="4476750"/>
                <a:gridCol w="2286000"/>
              </a:tblGrid>
              <a:tr h="666750">
                <a:tc>
                  <a:txBody>
                    <a:bodyPr lIns="66675" tIns="66675" rIns="66675" bIns="66675"/>
                    <a:lstStyle/>
                    <a:p>
                      <a:pPr algn="l"/>
                      <a:r>
                        <a:rPr sz="2250" b="1">
                          <a:solidFill>
                            <a:srgbClr val="000000"/>
                          </a:solidFill>
                          <a:latin typeface="Calibri"/>
                          <a:ea typeface="Calibri"/>
                          <a:cs typeface="Calibri"/>
                        </a:rPr>
                        <a:t>Interesado</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250" b="1">
                          <a:solidFill>
                            <a:srgbClr val="000000"/>
                          </a:solidFill>
                          <a:latin typeface="Calibri"/>
                          <a:ea typeface="Calibri"/>
                          <a:cs typeface="Calibri"/>
                        </a:rPr>
                        <a:t>Riesgo prioritario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ctr"/>
                      <a:r>
                        <a:rPr sz="2250" b="1">
                          <a:solidFill>
                            <a:srgbClr val="000000"/>
                          </a:solidFill>
                          <a:latin typeface="Calibri"/>
                          <a:ea typeface="Calibri"/>
                          <a:cs typeface="Calibri"/>
                        </a:rPr>
                        <a:t>Comprobación</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666750">
                <a:tc>
                  <a:txBody>
                    <a:bodyPr lIns="66675" tIns="66675" rIns="66675" bIns="66675"/>
                    <a:lstStyle/>
                    <a:p>
                      <a:pPr algn="l"/>
                      <a:r>
                        <a:rPr sz="2250" b="0">
                          <a:solidFill>
                            <a:srgbClr val="000000"/>
                          </a:solidFill>
                          <a:latin typeface="Calibri"/>
                          <a:ea typeface="Calibri"/>
                          <a:cs typeface="Calibri"/>
                        </a:rPr>
                        <a:t>Cliente</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Importe o stock incorrectos</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CP13 y CP15</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250" b="0">
                          <a:solidFill>
                            <a:srgbClr val="000000"/>
                          </a:solidFill>
                          <a:latin typeface="Calibri"/>
                          <a:ea typeface="Calibri"/>
                          <a:cs typeface="Calibri"/>
                        </a:rPr>
                        <a:t>Administrador</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Pérdida del historial</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CP19</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250" b="0">
                          <a:solidFill>
                            <a:srgbClr val="000000"/>
                          </a:solidFill>
                          <a:latin typeface="Calibri"/>
                          <a:ea typeface="Calibri"/>
                          <a:cs typeface="Calibri"/>
                        </a:rPr>
                        <a:t>Cliente y administrador</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Acceso sin permisos</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CP20</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250" b="0">
                          <a:solidFill>
                            <a:srgbClr val="000000"/>
                          </a:solidFill>
                          <a:latin typeface="Calibri"/>
                          <a:ea typeface="Calibri"/>
                          <a:cs typeface="Calibri"/>
                        </a:rPr>
                        <a:t>Mantenedor</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Compilación bloqueada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D01</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6" name="np:Detalle">
            <a:extLst>
              <a:ext uri="{FF2B5EF4-FFF2-40B4-BE49-F238E27FC236}">
                <a16:creationId xmlns:a16="http://schemas.microsoft.com/office/drawing/2014/main" id="{C70E9F70-C203-4B5D-9EA4-E3D1CF3DDE75}"/>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Seis riesgos. Probabilidad e impacto de 1 a 3. Prioridad: P × I.</a:t>
            </a:r>
          </a:p>
        </p:txBody>
      </p:sp>
    </p:spTree>
    <p:extLst>
      <p:ext uri="{BB962C8B-B14F-4D97-AF65-F5344CB8AC3E}">
        <p14:creationId xmlns:p14="http://schemas.microsoft.com/office/powerpoint/2010/main" val="2341651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C1E071F5-DB51-485B-82F4-4FCC845B0240}"/>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Criterios de aceptación</a:t>
            </a:r>
          </a:p>
        </p:txBody>
      </p:sp>
      <p:graphicFrame>
        <p:nvGraphicFramePr>
          <p:cNvPr id="5" name="">
            <a:extLst>
              <a:ext uri="{FF2B5EF4-FFF2-40B4-BE49-F238E27FC236}">
                <a16:creationId xmlns:a16="http://schemas.microsoft.com/office/drawing/2014/main" id="{995C08B6-92EF-483A-BAF3-B1BCA0AC9448}"/>
              </a:ext>
            </a:extLst>
          </p:cNvPr>
          <p:cNvGraphicFramePr/>
          <p:nvPr/>
        </p:nvGraphicFramePr>
        <p:xfrm>
          <a:off x="523875" y="2324100"/>
          <a:ext cx="9906000" cy="3333750"/>
        </p:xfrm>
        <a:graphic>
          <a:graphicData uri="http://schemas.openxmlformats.org/drawingml/2006/table">
            <a:tbl>
              <a:tblPr/>
              <a:tblGrid>
                <a:gridCol w="3905250"/>
                <a:gridCol w="6000750"/>
              </a:tblGrid>
              <a:tr h="666750">
                <a:tc>
                  <a:txBody>
                    <a:bodyPr lIns="66675" tIns="66675" rIns="66675" bIns="66675"/>
                    <a:lstStyle/>
                    <a:p>
                      <a:pPr algn="l"/>
                      <a:r>
                        <a:rPr sz="2325" b="1">
                          <a:solidFill>
                            <a:srgbClr val="000000"/>
                          </a:solidFill>
                          <a:latin typeface="Calibri"/>
                          <a:ea typeface="Calibri"/>
                          <a:cs typeface="Calibri"/>
                        </a:rPr>
                        <a:t>Atributo</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325" b="1">
                          <a:solidFill>
                            <a:srgbClr val="000000"/>
                          </a:solidFill>
                          <a:latin typeface="Calibri"/>
                          <a:ea typeface="Calibri"/>
                          <a:cs typeface="Calibri"/>
                        </a:rPr>
                        <a:t>Criterio del proyecto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666750">
                <a:tc>
                  <a:txBody>
                    <a:bodyPr lIns="66675" tIns="66675" rIns="66675" bIns="66675"/>
                    <a:lstStyle/>
                    <a:p>
                      <a:pPr algn="l"/>
                      <a:r>
                        <a:rPr sz="2325" b="0">
                          <a:solidFill>
                            <a:srgbClr val="000000"/>
                          </a:solidFill>
                          <a:latin typeface="Calibri"/>
                          <a:ea typeface="Calibri"/>
                          <a:cs typeface="Calibri"/>
                        </a:rPr>
                        <a:t>Adecuación funcional</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325" b="0">
                          <a:solidFill>
                            <a:srgbClr val="000000"/>
                          </a:solidFill>
                          <a:latin typeface="Calibri"/>
                          <a:ea typeface="Calibri"/>
                          <a:cs typeface="Calibri"/>
                        </a:rPr>
                        <a:t>≥ 95% de casos y cinco flujos</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325" b="0">
                          <a:solidFill>
                            <a:srgbClr val="000000"/>
                          </a:solidFill>
                          <a:latin typeface="Calibri"/>
                          <a:ea typeface="Calibri"/>
                          <a:cs typeface="Calibri"/>
                        </a:rPr>
                        <a:t>Eficiencia de desempeño</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325" b="0">
                          <a:solidFill>
                            <a:srgbClr val="000000"/>
                          </a:solidFill>
                          <a:latin typeface="Calibri"/>
                          <a:ea typeface="Calibri"/>
                          <a:cs typeface="Calibri"/>
                        </a:rPr>
                        <a:t>Mediana ≤ 300 ms y p95 ≤ 500 ms</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325" b="0">
                          <a:solidFill>
                            <a:srgbClr val="000000"/>
                          </a:solidFill>
                          <a:latin typeface="Calibri"/>
                          <a:ea typeface="Calibri"/>
                          <a:cs typeface="Calibri"/>
                        </a:rPr>
                        <a:t>Capacidad de interacción</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325" b="0">
                          <a:solidFill>
                            <a:srgbClr val="000000"/>
                          </a:solidFill>
                          <a:latin typeface="Calibri"/>
                          <a:ea typeface="Calibri"/>
                          <a:cs typeface="Calibri"/>
                        </a:rPr>
                        <a:t>≥ 80% de tareas sin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325" b="0">
                          <a:solidFill>
                            <a:srgbClr val="000000"/>
                          </a:solidFill>
                          <a:latin typeface="Calibri"/>
                          <a:ea typeface="Calibri"/>
                          <a:cs typeface="Calibri"/>
                        </a:rPr>
                        <a:t>Fiabilidad</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325" b="0">
                          <a:solidFill>
                            <a:srgbClr val="000000"/>
                          </a:solidFill>
                          <a:latin typeface="Calibri"/>
                          <a:ea typeface="Calibri"/>
                          <a:cs typeface="Calibri"/>
                        </a:rPr>
                        <a:t>30 respuestas correctas de 30</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6" name="np:Detalle">
            <a:extLst>
              <a:ext uri="{FF2B5EF4-FFF2-40B4-BE49-F238E27FC236}">
                <a16:creationId xmlns:a16="http://schemas.microsoft.com/office/drawing/2014/main" id="{CE5DEA85-46FD-469B-A6C2-157CE2665A07}"/>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Criterios locales. Además, cero defectos críticos abiertos.</a:t>
            </a:r>
          </a:p>
        </p:txBody>
      </p:sp>
    </p:spTree>
    <p:extLst>
      <p:ext uri="{BB962C8B-B14F-4D97-AF65-F5344CB8AC3E}">
        <p14:creationId xmlns:p14="http://schemas.microsoft.com/office/powerpoint/2010/main" val="2341651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90BFF9CA-19FE-4E6C-A692-72267DD0EB81}"/>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Versión base y entorno</a:t>
            </a:r>
          </a:p>
        </p:txBody>
      </p:sp>
      <p:sp>
        <p:nvSpPr>
          <p:cNvPr id="5" name="np:Contenido">
            <a:extLst>
              <a:ext uri="{FF2B5EF4-FFF2-40B4-BE49-F238E27FC236}">
                <a16:creationId xmlns:a16="http://schemas.microsoft.com/office/drawing/2014/main" id="{116ABC0D-27BE-4482-9570-3AEC11A8F239}"/>
              </a:ext>
            </a:extLst>
          </p:cNvPr>
          <p:cNvSpPr>
            <a:spLocks noGrp="1"/>
          </p:cNvSpPr>
          <p:nvPr/>
        </p:nvSpPr>
        <p:spPr>
          <a:xfrm>
            <a:off x="523875" y="2352675"/>
            <a:ext cx="9906000" cy="3048000"/>
          </a:xfrm>
          <a:prstGeom prst="rect">
            <a:avLst/>
          </a:prstGeom>
          <a:noFill/>
          <a:ln w="0">
            <a:noFill/>
          </a:ln>
        </p:spPr>
        <p:txBody>
          <a:bodyPr lIns="0" tIns="0" rIns="0" bIns="0" anchor="t">
            <a:noAutofit/>
          </a:bodyPr>
          <a:lstStyle>
            <a:defPPr algn="l">
              <a:defRPr sz="2700" b="0">
                <a:solidFill>
                  <a:srgbClr val="000000"/>
                </a:solidFill>
                <a:latin typeface="Calibri"/>
                <a:ea typeface="Calibri"/>
                <a:cs typeface="Calibri"/>
              </a:defRPr>
            </a:defPPr>
          </a:lstStyle>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Etiqueta baseline-calidad-v1, commit afac785.</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Windows 11, Node.js 22.23.3 y Prisma 6.19.0.</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Tienda local en 127.0.0.1:4011.</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Ocho juegos y cuentas ficticias en PostgreSQL.</a:t>
            </a:r>
          </a:p>
        </p:txBody>
      </p:sp>
      <p:sp>
        <p:nvSpPr>
          <p:cNvPr id="6" name="np:Detalle">
            <a:extLst>
              <a:ext uri="{FF2B5EF4-FFF2-40B4-BE49-F238E27FC236}">
                <a16:creationId xmlns:a16="http://schemas.microsoft.com/office/drawing/2014/main" id="{8A423D44-E09C-4C32-A2DE-AA444095D7D0}"/>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Evaluación: 10/10/2026. Rama codex/calidad-evaluacion.</a:t>
            </a:r>
          </a:p>
        </p:txBody>
      </p:sp>
    </p:spTree>
    <p:extLst>
      <p:ext uri="{BB962C8B-B14F-4D97-AF65-F5344CB8AC3E}">
        <p14:creationId xmlns:p14="http://schemas.microsoft.com/office/powerpoint/2010/main" val="234165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532E98E0-1F4F-442C-A501-38B145468E1E}"/>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Resultado de los casos</a:t>
            </a:r>
          </a:p>
        </p:txBody>
      </p:sp>
      <p:graphicFrame>
        <p:nvGraphicFramePr>
          <p:cNvPr id="5" name="">
            <a:extLst>
              <a:ext uri="{FF2B5EF4-FFF2-40B4-BE49-F238E27FC236}">
                <a16:creationId xmlns:a16="http://schemas.microsoft.com/office/drawing/2014/main" id="{04C4C220-5920-4B36-A6AE-6CF732E9236C}"/>
              </a:ext>
            </a:extLst>
          </p:cNvPr>
          <p:cNvGraphicFramePr/>
          <p:nvPr/>
        </p:nvGraphicFramePr>
        <p:xfrm>
          <a:off x="523875" y="2324100"/>
          <a:ext cx="9906000" cy="3333750"/>
        </p:xfrm>
        <a:graphic>
          <a:graphicData uri="http://schemas.openxmlformats.org/drawingml/2006/table">
            <a:tbl>
              <a:tblPr/>
              <a:tblGrid>
                <a:gridCol w="4857750"/>
                <a:gridCol w="3048000"/>
                <a:gridCol w="2000250"/>
              </a:tblGrid>
              <a:tr h="555625">
                <a:tc>
                  <a:txBody>
                    <a:bodyPr lIns="66675" tIns="66675" rIns="66675" bIns="66675"/>
                    <a:lstStyle/>
                    <a:p>
                      <a:pPr algn="l"/>
                      <a:r>
                        <a:rPr sz="2250" b="1">
                          <a:solidFill>
                            <a:srgbClr val="000000"/>
                          </a:solidFill>
                          <a:latin typeface="Calibri"/>
                          <a:ea typeface="Calibri"/>
                          <a:cs typeface="Calibri"/>
                        </a:rPr>
                        <a:t>Flujo</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250" b="1">
                          <a:solidFill>
                            <a:srgbClr val="000000"/>
                          </a:solidFill>
                          <a:latin typeface="Calibri"/>
                          <a:ea typeface="Calibri"/>
                          <a:cs typeface="Calibri"/>
                        </a:rPr>
                        <a:t>Casos</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ctr"/>
                      <a:r>
                        <a:rPr sz="2250" b="1">
                          <a:solidFill>
                            <a:srgbClr val="000000"/>
                          </a:solidFill>
                          <a:latin typeface="Calibri"/>
                          <a:ea typeface="Calibri"/>
                          <a:cs typeface="Calibri"/>
                        </a:rPr>
                        <a:t>Aprobados</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555625">
                <a:tc>
                  <a:txBody>
                    <a:bodyPr lIns="66675" tIns="66675" rIns="66675" bIns="66675"/>
                    <a:lstStyle/>
                    <a:p>
                      <a:pPr algn="l"/>
                      <a:r>
                        <a:rPr sz="2250" b="0">
                          <a:solidFill>
                            <a:srgbClr val="000000"/>
                          </a:solidFill>
                          <a:latin typeface="Calibri"/>
                          <a:ea typeface="Calibri"/>
                          <a:cs typeface="Calibri"/>
                        </a:rPr>
                        <a:t>Registro y sesión</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CP01 a CP06</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6 de 6</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Catálogo y detalle</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CP07 a CP11</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5 de 5</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Carrito</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CP12 a CP14</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3 de 3</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Compra e historial</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CP15 y CP16</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2 de 2</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Administración</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CP17 a CP20</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250" b="0">
                          <a:solidFill>
                            <a:srgbClr val="000000"/>
                          </a:solidFill>
                          <a:latin typeface="Calibri"/>
                          <a:ea typeface="Calibri"/>
                          <a:cs typeface="Calibri"/>
                        </a:rPr>
                        <a:t>4 de 4</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6" name="np:Detalle">
            <a:extLst>
              <a:ext uri="{FF2B5EF4-FFF2-40B4-BE49-F238E27FC236}">
                <a16:creationId xmlns:a16="http://schemas.microsoft.com/office/drawing/2014/main" id="{6994370D-3C0E-4BEA-9E91-6E667FDCA36D}"/>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Versión base: 20 de 20 Pass. Cobertura: 5 de 5 flujos.</a:t>
            </a:r>
          </a:p>
        </p:txBody>
      </p:sp>
    </p:spTree>
    <p:extLst>
      <p:ext uri="{BB962C8B-B14F-4D97-AF65-F5344CB8AC3E}">
        <p14:creationId xmlns:p14="http://schemas.microsoft.com/office/powerpoint/2010/main" val="2341651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F2E5AD06-BE58-4B3B-A194-76E1D02C86FD}"/>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Carrito y disponibilidad</a:t>
            </a:r>
          </a:p>
        </p:txBody>
      </p:sp>
      <p:sp>
        <p:nvSpPr>
          <p:cNvPr id="5" name="np:Contenido">
            <a:extLst>
              <a:ext uri="{FF2B5EF4-FFF2-40B4-BE49-F238E27FC236}">
                <a16:creationId xmlns:a16="http://schemas.microsoft.com/office/drawing/2014/main" id="{A1897C0E-F821-4BDF-9038-0D61DD8F7AEB}"/>
              </a:ext>
            </a:extLst>
          </p:cNvPr>
          <p:cNvSpPr>
            <a:spLocks noGrp="1"/>
          </p:cNvSpPr>
          <p:nvPr/>
        </p:nvSpPr>
        <p:spPr>
          <a:xfrm>
            <a:off x="523875" y="2362200"/>
            <a:ext cx="4000500" cy="32385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Nexus cuesta USD 39,99 y tiene stock 2.</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El carrito limita la cantidad a dos unidades.</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Total comprobado: USD 79,98.</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Persiste al recargar.</a:t>
            </a:r>
          </a:p>
        </p:txBody>
      </p:sp>
      <p:pic>
        <p:nvPicPr>
          <p:cNvPr id="6" name="">
            <a:extLst>
              <a:ext uri="{FF2B5EF4-FFF2-40B4-BE49-F238E27FC236}">
                <a16:creationId xmlns:a16="http://schemas.microsoft.com/office/drawing/2014/main" id="{CA6BC3B1-DFB1-41B3-94E9-384428989139}"/>
              </a:ext>
            </a:extLst>
          </p:cNvPr>
          <p:cNvPicPr>
            <a:picLocks noChangeAspect="1"/>
          </p:cNvPicPr>
          <p:nvPr/>
        </p:nvPicPr>
        <p:blipFill>
          <a:blip r:embed="npRel2"/>
          <a:srcRect l="0" t="17717" r="0" b="1575"/>
          <a:stretch/>
        </p:blipFill>
        <p:spPr>
          <a:xfrm>
            <a:off x="4762500" y="2424972"/>
            <a:ext cx="5667375" cy="3227255"/>
          </a:xfrm>
          <a:prstGeom prst="rect">
            <a:avLst/>
          </a:prstGeom>
        </p:spPr>
      </p:pic>
      <p:sp>
        <p:nvSpPr>
          <p:cNvPr id="7" name="np:Detalle">
            <a:extLst>
              <a:ext uri="{FF2B5EF4-FFF2-40B4-BE49-F238E27FC236}">
                <a16:creationId xmlns:a16="http://schemas.microsoft.com/office/drawing/2014/main" id="{2C1903A8-E712-4306-BF36-5DDCA4DE0070}"/>
              </a:ext>
            </a:extLst>
          </p:cNvPr>
          <p:cNvSpPr>
            <a:spLocks noGrp="1"/>
          </p:cNvSpPr>
          <p:nvPr/>
        </p:nvSpPr>
        <p:spPr>
          <a:xfrm>
            <a:off x="523875" y="588645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Vista parcial de CP13. El intento de superar el stock conserva el límite.</a:t>
            </a:r>
          </a:p>
        </p:txBody>
      </p:sp>
    </p:spTree>
    <p:extLst>
      <p:ext uri="{BB962C8B-B14F-4D97-AF65-F5344CB8AC3E}">
        <p14:creationId xmlns:p14="http://schemas.microsoft.com/office/powerpoint/2010/main" val="2341651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D1456179-68C5-448B-9C29-532409BC41E1}"/>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Compra e historial</a:t>
            </a:r>
          </a:p>
        </p:txBody>
      </p:sp>
      <p:sp>
        <p:nvSpPr>
          <p:cNvPr id="5" name="np:Contenido">
            <a:extLst>
              <a:ext uri="{FF2B5EF4-FFF2-40B4-BE49-F238E27FC236}">
                <a16:creationId xmlns:a16="http://schemas.microsoft.com/office/drawing/2014/main" id="{AE733DA1-34BA-46AB-910D-CA61454B2766}"/>
              </a:ext>
            </a:extLst>
          </p:cNvPr>
          <p:cNvSpPr>
            <a:spLocks noGrp="1"/>
          </p:cNvSpPr>
          <p:nvPr/>
        </p:nvSpPr>
        <p:spPr>
          <a:xfrm>
            <a:off x="523875" y="2362200"/>
            <a:ext cx="4000500" cy="32385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Pedido creado por USD 39,99.</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La línea conserva el precio de compra.</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Stock de Nexus: de 2 a 1.</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Producto agotado: HTTP 409 y ningún pedido nuevo.</a:t>
            </a:r>
          </a:p>
        </p:txBody>
      </p:sp>
      <p:pic>
        <p:nvPicPr>
          <p:cNvPr id="6" name="">
            <a:extLst>
              <a:ext uri="{FF2B5EF4-FFF2-40B4-BE49-F238E27FC236}">
                <a16:creationId xmlns:a16="http://schemas.microsoft.com/office/drawing/2014/main" id="{94C338B2-14A0-42B1-9F38-88FE19C4DCB8}"/>
              </a:ext>
            </a:extLst>
          </p:cNvPr>
          <p:cNvPicPr>
            <a:picLocks noChangeAspect="1"/>
          </p:cNvPicPr>
          <p:nvPr/>
        </p:nvPicPr>
        <p:blipFill>
          <a:blip r:embed="npRel2"/>
          <a:srcRect l="0" t="10000" r="0" b="30000"/>
          <a:stretch/>
        </p:blipFill>
        <p:spPr>
          <a:xfrm>
            <a:off x="4762500" y="2857897"/>
            <a:ext cx="5667375" cy="2361406"/>
          </a:xfrm>
          <a:prstGeom prst="rect">
            <a:avLst/>
          </a:prstGeom>
        </p:spPr>
      </p:pic>
      <p:sp>
        <p:nvSpPr>
          <p:cNvPr id="7" name="np:Detalle">
            <a:extLst>
              <a:ext uri="{FF2B5EF4-FFF2-40B4-BE49-F238E27FC236}">
                <a16:creationId xmlns:a16="http://schemas.microsoft.com/office/drawing/2014/main" id="{AF74515F-91AF-4EE1-8668-A66ABA1A3238}"/>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CP15 muestra el pedido real de demostración. CP16 comprueba el rechazo.</a:t>
            </a:r>
          </a:p>
        </p:txBody>
      </p:sp>
    </p:spTree>
    <p:extLst>
      <p:ext uri="{BB962C8B-B14F-4D97-AF65-F5344CB8AC3E}">
        <p14:creationId xmlns:p14="http://schemas.microsoft.com/office/powerpoint/2010/main" val="2341651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1E98C95E-77BE-4AFC-9B52-91465DEFEFF3}"/>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CRUD y permisos</a:t>
            </a:r>
          </a:p>
        </p:txBody>
      </p:sp>
      <p:sp>
        <p:nvSpPr>
          <p:cNvPr id="5" name="np:Contenido">
            <a:extLst>
              <a:ext uri="{FF2B5EF4-FFF2-40B4-BE49-F238E27FC236}">
                <a16:creationId xmlns:a16="http://schemas.microsoft.com/office/drawing/2014/main" id="{69741F91-AB00-4744-8CD9-2F82327E85A6}"/>
              </a:ext>
            </a:extLst>
          </p:cNvPr>
          <p:cNvSpPr>
            <a:spLocks noGrp="1"/>
          </p:cNvSpPr>
          <p:nvPr/>
        </p:nvSpPr>
        <p:spPr>
          <a:xfrm>
            <a:off x="523875" y="2362200"/>
            <a:ext cx="4000500" cy="3238500"/>
          </a:xfrm>
          <a:prstGeom prst="rect">
            <a:avLst/>
          </a:prstGeom>
          <a:noFill/>
          <a:ln w="0">
            <a:noFill/>
          </a:ln>
        </p:spPr>
        <p:txBody>
          <a:bodyPr lIns="0" tIns="0" rIns="0" bIns="0" anchor="t">
            <a:noAutofit/>
          </a:bodyPr>
          <a:lstStyle>
            <a:defPPr algn="l">
              <a:defRPr sz="2625" b="0">
                <a:solidFill>
                  <a:srgbClr val="000000"/>
                </a:solidFill>
                <a:latin typeface="Calibri"/>
                <a:ea typeface="Calibri"/>
                <a:cs typeface="Calibri"/>
              </a:defRPr>
            </a:defPPr>
          </a:lstStyle>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Crear, consultar, editar y eliminar videojuegos.</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Precio editado a USD 31,99.</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Archivado conserva los pedidos.</a:t>
            </a:r>
          </a:p>
          <a:p>
            <a:pPr marL="228600" indent="-114300" algn="l">
              <a:spcAft>
                <a:spcPts val="1000"/>
              </a:spcAft>
              <a:buChar char="•"/>
              <a:defRPr sz="2625" b="0">
                <a:solidFill>
                  <a:srgbClr val="000000"/>
                </a:solidFill>
                <a:latin typeface="Calibri"/>
                <a:ea typeface="Calibri"/>
                <a:cs typeface="Calibri"/>
              </a:defRPr>
            </a:pPr>
            <a:r>
              <a:rPr sz="2625" b="0">
                <a:solidFill>
                  <a:srgbClr val="000000"/>
                </a:solidFill>
                <a:latin typeface="Calibri"/>
                <a:ea typeface="Calibri"/>
                <a:cs typeface="Calibri"/>
              </a:rPr>
              <a:t>Permisos: HTTP 403 o 401.</a:t>
            </a:r>
          </a:p>
        </p:txBody>
      </p:sp>
      <p:pic>
        <p:nvPicPr>
          <p:cNvPr id="6" name="">
            <a:extLst>
              <a:ext uri="{FF2B5EF4-FFF2-40B4-BE49-F238E27FC236}">
                <a16:creationId xmlns:a16="http://schemas.microsoft.com/office/drawing/2014/main" id="{66CB2676-D480-48B8-A670-4B51C7EBFC75}"/>
              </a:ext>
            </a:extLst>
          </p:cNvPr>
          <p:cNvPicPr>
            <a:picLocks noChangeAspect="1"/>
          </p:cNvPicPr>
          <p:nvPr/>
        </p:nvPicPr>
        <p:blipFill>
          <a:blip r:embed="npRel2"/>
          <a:srcRect l="0" t="8403" r="0" b="38885"/>
          <a:stretch/>
        </p:blipFill>
        <p:spPr>
          <a:xfrm>
            <a:off x="4762500" y="2680791"/>
            <a:ext cx="5667375" cy="2715617"/>
          </a:xfrm>
          <a:prstGeom prst="rect">
            <a:avLst/>
          </a:prstGeom>
        </p:spPr>
      </p:pic>
      <p:sp>
        <p:nvSpPr>
          <p:cNvPr id="7" name="np:Detalle">
            <a:extLst>
              <a:ext uri="{FF2B5EF4-FFF2-40B4-BE49-F238E27FC236}">
                <a16:creationId xmlns:a16="http://schemas.microsoft.com/office/drawing/2014/main" id="{8EFC81E7-B946-4D7B-B5CD-FCABD0B78B35}"/>
              </a:ext>
            </a:extLst>
          </p:cNvPr>
          <p:cNvSpPr>
            <a:spLocks noGrp="1"/>
          </p:cNvSpPr>
          <p:nvPr/>
        </p:nvSpPr>
        <p:spPr>
          <a:xfrm>
            <a:off x="523875" y="588645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Vista parcial de CP17: Juego QA baseline con el precio actualizado.</a:t>
            </a:r>
          </a:p>
        </p:txBody>
      </p:sp>
    </p:spTree>
    <p:extLst>
      <p:ext uri="{BB962C8B-B14F-4D97-AF65-F5344CB8AC3E}">
        <p14:creationId xmlns:p14="http://schemas.microsoft.com/office/powerpoint/2010/main" val="2341651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84252052-E441-49BE-83C4-B57FD3DDF07E}"/>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Métricas y resultados</a:t>
            </a:r>
          </a:p>
        </p:txBody>
      </p:sp>
      <p:graphicFrame>
        <p:nvGraphicFramePr>
          <p:cNvPr id="5" name="">
            <a:extLst>
              <a:ext uri="{FF2B5EF4-FFF2-40B4-BE49-F238E27FC236}">
                <a16:creationId xmlns:a16="http://schemas.microsoft.com/office/drawing/2014/main" id="{765B68B7-B272-4527-8749-7D43BC3F2210}"/>
              </a:ext>
            </a:extLst>
          </p:cNvPr>
          <p:cNvGraphicFramePr/>
          <p:nvPr/>
        </p:nvGraphicFramePr>
        <p:xfrm>
          <a:off x="523875" y="2324100"/>
          <a:ext cx="9906000" cy="3333750"/>
        </p:xfrm>
        <a:graphic>
          <a:graphicData uri="http://schemas.openxmlformats.org/drawingml/2006/table">
            <a:tbl>
              <a:tblPr/>
              <a:tblGrid>
                <a:gridCol w="2381250"/>
                <a:gridCol w="2857500"/>
                <a:gridCol w="2476500"/>
                <a:gridCol w="2190750"/>
              </a:tblGrid>
              <a:tr h="666750">
                <a:tc>
                  <a:txBody>
                    <a:bodyPr lIns="66675" tIns="66675" rIns="66675" bIns="66675"/>
                    <a:lstStyle/>
                    <a:p>
                      <a:pPr algn="l"/>
                      <a:r>
                        <a:rPr sz="2175" b="1">
                          <a:solidFill>
                            <a:srgbClr val="000000"/>
                          </a:solidFill>
                          <a:latin typeface="Calibri"/>
                          <a:ea typeface="Calibri"/>
                          <a:cs typeface="Calibri"/>
                        </a:rPr>
                        <a:t>Atributo</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175" b="1">
                          <a:solidFill>
                            <a:srgbClr val="000000"/>
                          </a:solidFill>
                          <a:latin typeface="Calibri"/>
                          <a:ea typeface="Calibri"/>
                          <a:cs typeface="Calibri"/>
                        </a:rPr>
                        <a:t>Resultado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175" b="1">
                          <a:solidFill>
                            <a:srgbClr val="000000"/>
                          </a:solidFill>
                          <a:latin typeface="Calibri"/>
                          <a:ea typeface="Calibri"/>
                          <a:cs typeface="Calibri"/>
                        </a:rPr>
                        <a:t>Criterio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ctr"/>
                      <a:r>
                        <a:rPr sz="2175" b="1">
                          <a:solidFill>
                            <a:srgbClr val="000000"/>
                          </a:solidFill>
                          <a:latin typeface="Calibri"/>
                          <a:ea typeface="Calibri"/>
                          <a:cs typeface="Calibri"/>
                        </a:rPr>
                        <a:t>Conclusión</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666750">
                <a:tc>
                  <a:txBody>
                    <a:bodyPr lIns="66675" tIns="66675" rIns="66675" bIns="66675"/>
                    <a:lstStyle/>
                    <a:p>
                      <a:pPr algn="l"/>
                      <a:r>
                        <a:rPr sz="2175" b="0">
                          <a:solidFill>
                            <a:srgbClr val="000000"/>
                          </a:solidFill>
                          <a:latin typeface="Calibri"/>
                          <a:ea typeface="Calibri"/>
                          <a:cs typeface="Calibri"/>
                        </a:rPr>
                        <a:t>Funcional</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20/20 = 100%</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 95%</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Cumple</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175" b="0">
                          <a:solidFill>
                            <a:srgbClr val="000000"/>
                          </a:solidFill>
                          <a:latin typeface="Calibri"/>
                          <a:ea typeface="Calibri"/>
                          <a:cs typeface="Calibri"/>
                        </a:rPr>
                        <a:t>Desempeño</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3,60 ms mediana</a:t>
                      </a:r>
                    </a:p>
                    <a:p>
                      <a:pPr algn="l"/>
                      <a:r>
                        <a:rPr sz="2175" b="0">
                          <a:solidFill>
                            <a:srgbClr val="000000"/>
                          </a:solidFill>
                          <a:latin typeface="Calibri"/>
                          <a:ea typeface="Calibri"/>
                          <a:cs typeface="Calibri"/>
                        </a:rPr>
                        <a:t>4,45 ms p95</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 300 ms</a:t>
                      </a:r>
                    </a:p>
                    <a:p>
                      <a:pPr algn="l"/>
                      <a:r>
                        <a:rPr sz="2175" b="0">
                          <a:solidFill>
                            <a:srgbClr val="000000"/>
                          </a:solidFill>
                          <a:latin typeface="Calibri"/>
                          <a:ea typeface="Calibri"/>
                          <a:cs typeface="Calibri"/>
                        </a:rPr>
                        <a:t>≤ 500 ms</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Cumple local</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175" b="0">
                          <a:solidFill>
                            <a:srgbClr val="000000"/>
                          </a:solidFill>
                          <a:latin typeface="Calibri"/>
                          <a:ea typeface="Calibri"/>
                          <a:cs typeface="Calibri"/>
                        </a:rPr>
                        <a:t>Interacción</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3/5 = 60%</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 80%</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No cumple</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666750">
                <a:tc>
                  <a:txBody>
                    <a:bodyPr lIns="66675" tIns="66675" rIns="66675" bIns="66675"/>
                    <a:lstStyle/>
                    <a:p>
                      <a:pPr algn="l"/>
                      <a:r>
                        <a:rPr sz="2175" b="0">
                          <a:solidFill>
                            <a:srgbClr val="000000"/>
                          </a:solidFill>
                          <a:latin typeface="Calibri"/>
                          <a:ea typeface="Calibri"/>
                          <a:cs typeface="Calibri"/>
                        </a:rPr>
                        <a:t>Fiabilidad</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30/30 correctas</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30 de 30</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Cumple muestra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6" name="np:Detalle">
            <a:extLst>
              <a:ext uri="{FF2B5EF4-FFF2-40B4-BE49-F238E27FC236}">
                <a16:creationId xmlns:a16="http://schemas.microsoft.com/office/drawing/2014/main" id="{E582FAEE-8672-46EE-93BE-D22AAD521B21}"/>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Baseline: 0 críticos, 0 altos, 1 medio y 0 bajos. D01 cerrado.</a:t>
            </a:r>
          </a:p>
        </p:txBody>
      </p:sp>
    </p:spTree>
    <p:extLst>
      <p:ext uri="{BB962C8B-B14F-4D97-AF65-F5344CB8AC3E}">
        <p14:creationId xmlns:p14="http://schemas.microsoft.com/office/powerpoint/2010/main" val="2341651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913C7F1B-712C-4CE1-941F-E65414835B7C}"/>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Desempeño del catálogo</a:t>
            </a:r>
          </a:p>
        </p:txBody>
      </p:sp>
      <p:graphicFrame>
        <p:nvGraphicFramePr>
          <p:cNvPr id="5" name="Chart">
            <a:extLst>
              <a:ext uri="{FF2B5EF4-FFF2-40B4-BE49-F238E27FC236}">
                <a16:creationId xmlns:a16="http://schemas.microsoft.com/office/drawing/2014/main" id="{1EB1A4A8-9B1E-4664-BDD1-132F89E652C0}"/>
              </a:ext>
            </a:extLst>
          </p:cNvPr>
          <p:cNvGraphicFramePr/>
          <p:nvPr/>
        </p:nvGraphicFramePr>
        <p:xfrm>
          <a:off x="523875" y="2314575"/>
          <a:ext cx="5905500" cy="3333750"/>
        </p:xfrm>
        <a:graphic>
          <a:graphicData uri="http://schemas.openxmlformats.org/drawingml/2006/chart">
            <c:chart xmlns:c="http://schemas.openxmlformats.org/drawingml/2006/chart" r:id="npRel2"/>
          </a:graphicData>
        </a:graphic>
      </p:graphicFrame>
      <p:sp>
        <p:nvSpPr>
          <p:cNvPr id="6" name="np:Contenido">
            <a:extLst>
              <a:ext uri="{FF2B5EF4-FFF2-40B4-BE49-F238E27FC236}">
                <a16:creationId xmlns:a16="http://schemas.microsoft.com/office/drawing/2014/main" id="{09DFA4EF-2833-4A9B-9F4D-FA2B329C5FA5}"/>
              </a:ext>
            </a:extLst>
          </p:cNvPr>
          <p:cNvSpPr>
            <a:spLocks noGrp="1"/>
          </p:cNvSpPr>
          <p:nvPr/>
        </p:nvSpPr>
        <p:spPr>
          <a:xfrm>
            <a:off x="6762750" y="2409825"/>
            <a:ext cx="3667125" cy="3190875"/>
          </a:xfrm>
          <a:prstGeom prst="rect">
            <a:avLst/>
          </a:prstGeom>
          <a:noFill/>
          <a:ln w="0">
            <a:noFill/>
          </a:ln>
        </p:spPr>
        <p:txBody>
          <a:bodyPr lIns="0" tIns="0" rIns="0" bIns="0" anchor="t">
            <a:noAutofit/>
          </a:bodyPr>
          <a:lstStyle>
            <a:defPPr algn="l">
              <a:defRPr sz="2400" b="0">
                <a:solidFill>
                  <a:srgbClr val="000000"/>
                </a:solidFill>
                <a:latin typeface="Calibri"/>
                <a:ea typeface="Calibri"/>
                <a:cs typeface="Calibri"/>
              </a:defRPr>
            </a:defPPr>
          </a:lstStyle>
          <a:p>
            <a:pPr marL="228600" indent="-114300" algn="l">
              <a:spcAft>
                <a:spcPts val="1000"/>
              </a:spcAft>
              <a:buChar char="•"/>
              <a:defRPr sz="2400" b="0">
                <a:solidFill>
                  <a:srgbClr val="000000"/>
                </a:solidFill>
                <a:latin typeface="Calibri"/>
                <a:ea typeface="Calibri"/>
                <a:cs typeface="Calibri"/>
              </a:defRPr>
            </a:pPr>
            <a:r>
              <a:rPr sz="2400" b="0">
                <a:solidFill>
                  <a:srgbClr val="000000"/>
                </a:solidFill>
                <a:latin typeface="Calibri"/>
                <a:ea typeface="Calibri"/>
                <a:cs typeface="Calibri"/>
              </a:rPr>
              <a:t>5 calentamientos.</a:t>
            </a:r>
          </a:p>
          <a:p>
            <a:pPr marL="228600" indent="-114300" algn="l">
              <a:spcAft>
                <a:spcPts val="1000"/>
              </a:spcAft>
              <a:buChar char="•"/>
              <a:defRPr sz="2400" b="0">
                <a:solidFill>
                  <a:srgbClr val="000000"/>
                </a:solidFill>
                <a:latin typeface="Calibri"/>
                <a:ea typeface="Calibri"/>
                <a:cs typeface="Calibri"/>
              </a:defRPr>
            </a:pPr>
            <a:r>
              <a:rPr sz="2400" b="0">
                <a:solidFill>
                  <a:srgbClr val="000000"/>
                </a:solidFill>
                <a:latin typeface="Calibri"/>
                <a:ea typeface="Calibri"/>
                <a:cs typeface="Calibri"/>
              </a:rPr>
              <a:t>30 consultas secuenciales.</a:t>
            </a:r>
          </a:p>
          <a:p>
            <a:pPr marL="228600" indent="-114300" algn="l">
              <a:spcAft>
                <a:spcPts val="1000"/>
              </a:spcAft>
              <a:buChar char="•"/>
              <a:defRPr sz="2400" b="0">
                <a:solidFill>
                  <a:srgbClr val="000000"/>
                </a:solidFill>
                <a:latin typeface="Calibri"/>
                <a:ea typeface="Calibri"/>
                <a:cs typeface="Calibri"/>
              </a:defRPr>
            </a:pPr>
            <a:r>
              <a:rPr sz="2400" b="0">
                <a:solidFill>
                  <a:srgbClr val="000000"/>
                </a:solidFill>
                <a:latin typeface="Calibri"/>
                <a:ea typeface="Calibri"/>
                <a:cs typeface="Calibri"/>
              </a:rPr>
              <a:t>Pausa de 250 ms.</a:t>
            </a:r>
          </a:p>
          <a:p>
            <a:pPr marL="228600" indent="-114300" algn="l">
              <a:spcAft>
                <a:spcPts val="1000"/>
              </a:spcAft>
              <a:buChar char="•"/>
              <a:defRPr sz="2400" b="0">
                <a:solidFill>
                  <a:srgbClr val="000000"/>
                </a:solidFill>
                <a:latin typeface="Calibri"/>
                <a:ea typeface="Calibri"/>
                <a:cs typeface="Calibri"/>
              </a:defRPr>
            </a:pPr>
            <a:r>
              <a:rPr sz="2400" b="0">
                <a:solidFill>
                  <a:srgbClr val="000000"/>
                </a:solidFill>
                <a:latin typeface="Calibri"/>
                <a:ea typeface="Calibri"/>
                <a:cs typeface="Calibri"/>
              </a:rPr>
              <a:t>30 respuestas correctas.</a:t>
            </a:r>
          </a:p>
        </p:txBody>
      </p:sp>
      <p:sp>
        <p:nvSpPr>
          <p:cNvPr id="7" name="np:Detalle">
            <a:extLst>
              <a:ext uri="{FF2B5EF4-FFF2-40B4-BE49-F238E27FC236}">
                <a16:creationId xmlns:a16="http://schemas.microsoft.com/office/drawing/2014/main" id="{4BDD1895-DD38-4D99-9C9B-7FF75DF98BC1}"/>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Medición local sin carga concurrente ni descarga de portadas.</a:t>
            </a:r>
          </a:p>
        </p:txBody>
      </p:sp>
    </p:spTree>
    <p:extLst>
      <p:ext uri="{BB962C8B-B14F-4D97-AF65-F5344CB8AC3E}">
        <p14:creationId xmlns:p14="http://schemas.microsoft.com/office/powerpoint/2010/main" val="2341651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DD9510AE-D823-4BA4-89F1-5B44CA9ED2CC}"/>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Tareas completadas sin ayuda</a:t>
            </a:r>
          </a:p>
        </p:txBody>
      </p:sp>
      <p:graphicFrame>
        <p:nvGraphicFramePr>
          <p:cNvPr id="5" name="">
            <a:extLst>
              <a:ext uri="{FF2B5EF4-FFF2-40B4-BE49-F238E27FC236}">
                <a16:creationId xmlns:a16="http://schemas.microsoft.com/office/drawing/2014/main" id="{0B947B02-9451-49D7-BAD4-12579ED3CD0C}"/>
              </a:ext>
            </a:extLst>
          </p:cNvPr>
          <p:cNvGraphicFramePr/>
          <p:nvPr/>
        </p:nvGraphicFramePr>
        <p:xfrm>
          <a:off x="523875" y="2324100"/>
          <a:ext cx="9906000" cy="3333750"/>
        </p:xfrm>
        <a:graphic>
          <a:graphicData uri="http://schemas.openxmlformats.org/drawingml/2006/table">
            <a:tbl>
              <a:tblPr/>
              <a:tblGrid>
                <a:gridCol w="6286500"/>
                <a:gridCol w="3619500"/>
              </a:tblGrid>
              <a:tr h="555625">
                <a:tc>
                  <a:txBody>
                    <a:bodyPr lIns="66675" tIns="66675" rIns="66675" bIns="66675"/>
                    <a:lstStyle/>
                    <a:p>
                      <a:pPr algn="l"/>
                      <a:r>
                        <a:rPr sz="2250" b="1">
                          <a:solidFill>
                            <a:srgbClr val="000000"/>
                          </a:solidFill>
                          <a:latin typeface="Calibri"/>
                          <a:ea typeface="Calibri"/>
                          <a:cs typeface="Calibri"/>
                        </a:rPr>
                        <a:t>Tarea de P01</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250" b="1">
                          <a:solidFill>
                            <a:srgbClr val="000000"/>
                          </a:solidFill>
                          <a:latin typeface="Calibri"/>
                          <a:ea typeface="Calibri"/>
                          <a:cs typeface="Calibri"/>
                        </a:rPr>
                        <a:t>Resultado declarado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555625">
                <a:tc>
                  <a:txBody>
                    <a:bodyPr lIns="66675" tIns="66675" rIns="66675" bIns="66675"/>
                    <a:lstStyle/>
                    <a:p>
                      <a:pPr algn="l"/>
                      <a:r>
                        <a:rPr sz="2250" b="0">
                          <a:solidFill>
                            <a:srgbClr val="000000"/>
                          </a:solidFill>
                          <a:latin typeface="Calibri"/>
                          <a:ea typeface="Calibri"/>
                          <a:cs typeface="Calibri"/>
                        </a:rPr>
                        <a:t>Buscar un videojuego</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Sin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Filtrar por plataforma</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Sin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Agregar y cambiar cantidad</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Sin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Comprar en demostración</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Necesitó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555625">
                <a:tc>
                  <a:txBody>
                    <a:bodyPr lIns="66675" tIns="66675" rIns="66675" bIns="66675"/>
                    <a:lstStyle/>
                    <a:p>
                      <a:pPr algn="l"/>
                      <a:r>
                        <a:rPr sz="2250" b="0">
                          <a:solidFill>
                            <a:srgbClr val="000000"/>
                          </a:solidFill>
                          <a:latin typeface="Calibri"/>
                          <a:ea typeface="Calibri"/>
                          <a:cs typeface="Calibri"/>
                        </a:rPr>
                        <a:t>Encontrar el pedido</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250" b="0">
                          <a:solidFill>
                            <a:srgbClr val="000000"/>
                          </a:solidFill>
                          <a:latin typeface="Calibri"/>
                          <a:ea typeface="Calibri"/>
                          <a:cs typeface="Calibri"/>
                        </a:rPr>
                        <a:t>Necesitó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6" name="np:Detalle">
            <a:extLst>
              <a:ext uri="{FF2B5EF4-FFF2-40B4-BE49-F238E27FC236}">
                <a16:creationId xmlns:a16="http://schemas.microsoft.com/office/drawing/2014/main" id="{A63F943E-3B77-4747-A8FC-DC4FAAAD1B89}"/>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3 de 5 = 60%. Meta: 80%. Autorreporte de una persona.</a:t>
            </a:r>
          </a:p>
        </p:txBody>
      </p:sp>
    </p:spTree>
    <p:extLst>
      <p:ext uri="{BB962C8B-B14F-4D97-AF65-F5344CB8AC3E}">
        <p14:creationId xmlns:p14="http://schemas.microsoft.com/office/powerpoint/2010/main" val="2341651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9F242683-C319-47FE-81FA-7CDC0B97BA9B}"/>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Corrección y regresión</a:t>
            </a:r>
          </a:p>
        </p:txBody>
      </p:sp>
      <p:sp>
        <p:nvSpPr>
          <p:cNvPr id="5" name="np:D01">
            <a:extLst>
              <a:ext uri="{FF2B5EF4-FFF2-40B4-BE49-F238E27FC236}">
                <a16:creationId xmlns:a16="http://schemas.microsoft.com/office/drawing/2014/main" id="{64176D43-1C4D-41FA-A7EA-5238B20E05B3}"/>
              </a:ext>
            </a:extLst>
          </p:cNvPr>
          <p:cNvSpPr>
            <a:spLocks noGrp="1"/>
          </p:cNvSpPr>
          <p:nvPr/>
        </p:nvSpPr>
        <p:spPr>
          <a:xfrm>
            <a:off x="523875" y="2276475"/>
            <a:ext cx="9906000" cy="1047750"/>
          </a:xfrm>
          <a:prstGeom prst="rect">
            <a:avLst/>
          </a:prstGeom>
          <a:noFill/>
          <a:ln w="0">
            <a:noFill/>
          </a:ln>
        </p:spPr>
        <p:txBody>
          <a:bodyPr lIns="0" tIns="0" rIns="0" bIns="0" anchor="t">
            <a:noAutofit/>
          </a:bodyPr>
          <a:lstStyle>
            <a:defPPr algn="l">
              <a:defRPr sz="2475" b="0">
                <a:solidFill>
                  <a:srgbClr val="000000"/>
                </a:solidFill>
                <a:latin typeface="Calibri"/>
                <a:ea typeface="Calibri"/>
                <a:cs typeface="Calibri"/>
              </a:defRPr>
            </a:defPPr>
          </a:lstStyle>
          <a:p>
            <a:pPr algn="l">
              <a:defRPr sz="2475" b="0">
                <a:solidFill>
                  <a:srgbClr val="000000"/>
                </a:solidFill>
                <a:latin typeface="Calibri"/>
                <a:ea typeface="Calibri"/>
                <a:cs typeface="Calibri"/>
              </a:defRPr>
            </a:pPr>
            <a:r>
              <a:rPr sz="2475" b="0">
                <a:solidFill>
                  <a:srgbClr val="000000"/>
                </a:solidFill>
                <a:latin typeface="Calibri"/>
                <a:ea typeface="Calibri"/>
                <a:cs typeface="Calibri"/>
              </a:rPr>
              <a:t>D01: Prisma intentaba regenerar una DLL ocupada por la API.</a:t>
            </a:r>
          </a:p>
          <a:p>
            <a:pPr algn="l">
              <a:defRPr sz="2475" b="0">
                <a:solidFill>
                  <a:srgbClr val="000000"/>
                </a:solidFill>
                <a:latin typeface="Calibri"/>
                <a:ea typeface="Calibri"/>
                <a:cs typeface="Calibri"/>
              </a:defRPr>
            </a:pPr>
            <a:r>
              <a:rPr sz="2475" b="0">
                <a:solidFill>
                  <a:srgbClr val="000000"/>
                </a:solidFill>
                <a:latin typeface="Calibri"/>
                <a:ea typeface="Calibri"/>
                <a:cs typeface="Calibri"/>
              </a:rPr>
              <a:t>La corrección reutiliza el cliente vigente. Build final: código 0.</a:t>
            </a:r>
          </a:p>
        </p:txBody>
      </p:sp>
      <p:graphicFrame>
        <p:nvGraphicFramePr>
          <p:cNvPr id="6" name="">
            <a:extLst>
              <a:ext uri="{FF2B5EF4-FFF2-40B4-BE49-F238E27FC236}">
                <a16:creationId xmlns:a16="http://schemas.microsoft.com/office/drawing/2014/main" id="{D6D7EB9D-2915-4C16-A7C9-71A97042E24B}"/>
              </a:ext>
            </a:extLst>
          </p:cNvPr>
          <p:cNvGraphicFramePr/>
          <p:nvPr/>
        </p:nvGraphicFramePr>
        <p:xfrm>
          <a:off x="523875" y="3409950"/>
          <a:ext cx="9906000" cy="1952625"/>
        </p:xfrm>
        <a:graphic>
          <a:graphicData uri="http://schemas.openxmlformats.org/drawingml/2006/table">
            <a:tbl>
              <a:tblPr/>
              <a:tblGrid>
                <a:gridCol w="2381250"/>
                <a:gridCol w="5429250"/>
                <a:gridCol w="2095500"/>
              </a:tblGrid>
              <a:tr h="488156">
                <a:tc>
                  <a:txBody>
                    <a:bodyPr lIns="66675" tIns="66675" rIns="66675" bIns="66675"/>
                    <a:lstStyle/>
                    <a:p>
                      <a:pPr algn="l"/>
                      <a:r>
                        <a:rPr sz="2175" b="1">
                          <a:solidFill>
                            <a:srgbClr val="000000"/>
                          </a:solidFill>
                          <a:latin typeface="Calibri"/>
                          <a:ea typeface="Calibri"/>
                          <a:cs typeface="Calibri"/>
                        </a:rPr>
                        <a:t>Caso crítico</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175" b="1">
                          <a:solidFill>
                            <a:srgbClr val="000000"/>
                          </a:solidFill>
                          <a:latin typeface="Calibri"/>
                          <a:ea typeface="Calibri"/>
                          <a:cs typeface="Calibri"/>
                        </a:rPr>
                        <a:t>Comprobación</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ctr"/>
                      <a:r>
                        <a:rPr sz="2175" b="1">
                          <a:solidFill>
                            <a:srgbClr val="000000"/>
                          </a:solidFill>
                          <a:latin typeface="Calibri"/>
                          <a:ea typeface="Calibri"/>
                          <a:cs typeface="Calibri"/>
                        </a:rPr>
                        <a:t>Resultado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488156">
                <a:tc>
                  <a:txBody>
                    <a:bodyPr lIns="66675" tIns="66675" rIns="66675" bIns="66675"/>
                    <a:lstStyle/>
                    <a:p>
                      <a:pPr algn="l"/>
                      <a:r>
                        <a:rPr sz="2175" b="0">
                          <a:solidFill>
                            <a:srgbClr val="000000"/>
                          </a:solidFill>
                          <a:latin typeface="Calibri"/>
                          <a:ea typeface="Calibri"/>
                          <a:cs typeface="Calibri"/>
                        </a:rPr>
                        <a:t>CP05</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Inicio y cierre de sesión</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Pass</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488156">
                <a:tc>
                  <a:txBody>
                    <a:bodyPr lIns="66675" tIns="66675" rIns="66675" bIns="66675"/>
                    <a:lstStyle/>
                    <a:p>
                      <a:pPr algn="l"/>
                      <a:r>
                        <a:rPr sz="2175" b="0">
                          <a:solidFill>
                            <a:srgbClr val="000000"/>
                          </a:solidFill>
                          <a:latin typeface="Calibri"/>
                          <a:ea typeface="Calibri"/>
                          <a:cs typeface="Calibri"/>
                        </a:rPr>
                        <a:t>CP15</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Pedido, precio y stock</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Pass</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488156">
                <a:tc>
                  <a:txBody>
                    <a:bodyPr lIns="66675" tIns="66675" rIns="66675" bIns="66675"/>
                    <a:lstStyle/>
                    <a:p>
                      <a:pPr algn="l"/>
                      <a:r>
                        <a:rPr sz="2175" b="0">
                          <a:solidFill>
                            <a:srgbClr val="000000"/>
                          </a:solidFill>
                          <a:latin typeface="Calibri"/>
                          <a:ea typeface="Calibri"/>
                          <a:cs typeface="Calibri"/>
                        </a:rPr>
                        <a:t>CP17</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75" b="0">
                          <a:solidFill>
                            <a:srgbClr val="000000"/>
                          </a:solidFill>
                          <a:latin typeface="Calibri"/>
                          <a:ea typeface="Calibri"/>
                          <a:cs typeface="Calibri"/>
                        </a:rPr>
                        <a:t>CRUD completo</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75" b="0">
                          <a:solidFill>
                            <a:srgbClr val="000000"/>
                          </a:solidFill>
                          <a:latin typeface="Calibri"/>
                          <a:ea typeface="Calibri"/>
                          <a:cs typeface="Calibri"/>
                        </a:rPr>
                        <a:t>Pass</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7" name="np:Detalle">
            <a:extLst>
              <a:ext uri="{FF2B5EF4-FFF2-40B4-BE49-F238E27FC236}">
                <a16:creationId xmlns:a16="http://schemas.microsoft.com/office/drawing/2014/main" id="{1EF617A2-566D-47FF-91CF-2DF59B3443FB}"/>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Regresión: 19 Pass iniciales, CP09 repetido Pass, consolidado 20/20.</a:t>
            </a:r>
          </a:p>
        </p:txBody>
      </p:sp>
    </p:spTree>
    <p:extLst>
      <p:ext uri="{BB962C8B-B14F-4D97-AF65-F5344CB8AC3E}">
        <p14:creationId xmlns:p14="http://schemas.microsoft.com/office/powerpoint/2010/main" val="2341651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1717D50B-652A-4581-B38B-9A701AEAB40F}"/>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Plan de mejora</a:t>
            </a:r>
          </a:p>
        </p:txBody>
      </p:sp>
      <p:graphicFrame>
        <p:nvGraphicFramePr>
          <p:cNvPr id="5" name="">
            <a:extLst>
              <a:ext uri="{FF2B5EF4-FFF2-40B4-BE49-F238E27FC236}">
                <a16:creationId xmlns:a16="http://schemas.microsoft.com/office/drawing/2014/main" id="{A92D8897-9054-466C-9BC9-CEE3637943DF}"/>
              </a:ext>
            </a:extLst>
          </p:cNvPr>
          <p:cNvGraphicFramePr/>
          <p:nvPr/>
        </p:nvGraphicFramePr>
        <p:xfrm>
          <a:off x="523875" y="2324100"/>
          <a:ext cx="9906000" cy="2857500"/>
        </p:xfrm>
        <a:graphic>
          <a:graphicData uri="http://schemas.openxmlformats.org/drawingml/2006/table">
            <a:tbl>
              <a:tblPr/>
              <a:tblGrid>
                <a:gridCol w="2190750"/>
                <a:gridCol w="5238750"/>
                <a:gridCol w="2476500"/>
              </a:tblGrid>
              <a:tr h="952500">
                <a:tc>
                  <a:txBody>
                    <a:bodyPr lIns="66675" tIns="66675" rIns="66675" bIns="66675"/>
                    <a:lstStyle/>
                    <a:p>
                      <a:pPr algn="l"/>
                      <a:r>
                        <a:rPr sz="2100" b="1">
                          <a:solidFill>
                            <a:srgbClr val="000000"/>
                          </a:solidFill>
                          <a:latin typeface="Calibri"/>
                          <a:ea typeface="Calibri"/>
                          <a:cs typeface="Calibri"/>
                        </a:rPr>
                        <a:t>Asunto</a:t>
                      </a:r>
                    </a:p>
                  </a:txBody>
                  <a:tcPr marL="91440" marR="91440" marT="45720" marB="45720" anchor="ctr">
                    <a:lnL w="9525">
                      <a:solidFill>
                        <a:srgbClr val="CFCFCF"/>
                      </a:solidFill>
                      <a:prstDash val="solid"/>
                    </a:lnL>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l"/>
                      <a:r>
                        <a:rPr sz="2100" b="1">
                          <a:solidFill>
                            <a:srgbClr val="000000"/>
                          </a:solidFill>
                          <a:latin typeface="Calibri"/>
                          <a:ea typeface="Calibri"/>
                          <a:cs typeface="Calibri"/>
                        </a:rPr>
                        <a:t>Acción y cierre</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c>
                  <a:txBody>
                    <a:bodyPr lIns="66675" tIns="66675" rIns="66675" bIns="66675"/>
                    <a:lstStyle/>
                    <a:p>
                      <a:pPr algn="ctr"/>
                      <a:r>
                        <a:rPr sz="2100" b="1">
                          <a:solidFill>
                            <a:srgbClr val="000000"/>
                          </a:solidFill>
                          <a:latin typeface="Calibri"/>
                          <a:ea typeface="Calibri"/>
                          <a:cs typeface="Calibri"/>
                        </a:rPr>
                        <a:t>Responsable sugerido</a:t>
                      </a:r>
                    </a:p>
                  </a:txBody>
                  <a:tcPr marL="91440" marR="91440" marT="45720" marB="45720" anchor="ctr">
                    <a:lnR w="9525">
                      <a:solidFill>
                        <a:srgbClr val="CFCFCF"/>
                      </a:solidFill>
                      <a:prstDash val="solid"/>
                    </a:lnR>
                    <a:lnT w="9525">
                      <a:solidFill>
                        <a:srgbClr val="CFCFCF"/>
                      </a:solidFill>
                      <a:prstDash val="solid"/>
                    </a:lnT>
                    <a:lnB w="9525">
                      <a:solidFill>
                        <a:srgbClr val="CFCFCF"/>
                      </a:solidFill>
                      <a:prstDash val="solid"/>
                    </a:lnB>
                    <a:solidFill>
                      <a:srgbClr val="EBEBEB"/>
                    </a:solidFill>
                  </a:tcPr>
                </a:tc>
              </a:tr>
              <a:tr h="952500">
                <a:tc>
                  <a:txBody>
                    <a:bodyPr lIns="66675" tIns="66675" rIns="66675" bIns="66675"/>
                    <a:lstStyle/>
                    <a:p>
                      <a:pPr algn="l"/>
                      <a:r>
                        <a:rPr sz="2100" b="0">
                          <a:solidFill>
                            <a:srgbClr val="000000"/>
                          </a:solidFill>
                          <a:latin typeface="Calibri"/>
                          <a:ea typeface="Calibri"/>
                          <a:cs typeface="Calibri"/>
                        </a:rPr>
                        <a:t>D01</a:t>
                      </a:r>
                    </a:p>
                    <a:p>
                      <a:pPr algn="l"/>
                      <a:r>
                        <a:rPr sz="2100" b="0">
                          <a:solidFill>
                            <a:srgbClr val="000000"/>
                          </a:solidFill>
                          <a:latin typeface="Calibri"/>
                          <a:ea typeface="Calibri"/>
                          <a:cs typeface="Calibri"/>
                        </a:rPr>
                        <a:t>Cerrado</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00" b="0">
                          <a:solidFill>
                            <a:srgbClr val="000000"/>
                          </a:solidFill>
                          <a:latin typeface="Calibri"/>
                          <a:ea typeface="Calibri"/>
                          <a:cs typeface="Calibri"/>
                        </a:rPr>
                        <a:t>Cliente Prisma vigente.</a:t>
                      </a:r>
                    </a:p>
                    <a:p>
                      <a:pPr algn="l"/>
                      <a:r>
                        <a:rPr sz="2100" b="0">
                          <a:solidFill>
                            <a:srgbClr val="000000"/>
                          </a:solidFill>
                          <a:latin typeface="Calibri"/>
                          <a:ea typeface="Calibri"/>
                          <a:cs typeface="Calibri"/>
                        </a:rPr>
                        <a:t>Build y regresión correctos.</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00" b="0">
                          <a:solidFill>
                            <a:srgbClr val="000000"/>
                          </a:solidFill>
                          <a:latin typeface="Calibri"/>
                          <a:ea typeface="Calibri"/>
                          <a:cs typeface="Calibri"/>
                        </a:rPr>
                        <a:t>Orlando Trujillo</a:t>
                      </a:r>
                    </a:p>
                    <a:p>
                      <a:pPr algn="ctr"/>
                      <a:r>
                        <a:rPr sz="2100" b="0">
                          <a:solidFill>
                            <a:srgbClr val="000000"/>
                          </a:solidFill>
                          <a:latin typeface="Calibri"/>
                          <a:ea typeface="Calibri"/>
                          <a:cs typeface="Calibri"/>
                        </a:rPr>
                        <a:t>Servidor</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r h="952500">
                <a:tc>
                  <a:txBody>
                    <a:bodyPr lIns="66675" tIns="66675" rIns="66675" bIns="66675"/>
                    <a:lstStyle/>
                    <a:p>
                      <a:pPr algn="l"/>
                      <a:r>
                        <a:rPr sz="2100" b="0">
                          <a:solidFill>
                            <a:srgbClr val="000000"/>
                          </a:solidFill>
                          <a:latin typeface="Calibri"/>
                          <a:ea typeface="Calibri"/>
                          <a:cs typeface="Calibri"/>
                        </a:rPr>
                        <a:t>O01</a:t>
                      </a:r>
                    </a:p>
                    <a:p>
                      <a:pPr algn="l"/>
                      <a:r>
                        <a:rPr sz="2100" b="0">
                          <a:solidFill>
                            <a:srgbClr val="000000"/>
                          </a:solidFill>
                          <a:latin typeface="Calibri"/>
                          <a:ea typeface="Calibri"/>
                          <a:cs typeface="Calibri"/>
                        </a:rPr>
                        <a:t>Abierta</a:t>
                      </a:r>
                    </a:p>
                  </a:txBody>
                  <a:tcPr marL="91440" marR="91440" marT="45720" marB="45720" anchor="ctr">
                    <a:lnL w="9525">
                      <a:solidFill>
                        <a:srgbClr val="CFCFCF"/>
                      </a:solidFill>
                      <a:prstDash val="solid"/>
                    </a:lnL>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l"/>
                      <a:r>
                        <a:rPr sz="2100" b="0">
                          <a:solidFill>
                            <a:srgbClr val="000000"/>
                          </a:solidFill>
                          <a:latin typeface="Calibri"/>
                          <a:ea typeface="Calibri"/>
                          <a:cs typeface="Calibri"/>
                        </a:rPr>
                        <a:t>Observar compra e historial.</a:t>
                      </a:r>
                    </a:p>
                    <a:p>
                      <a:pPr algn="l"/>
                      <a:r>
                        <a:rPr sz="2100" b="0">
                          <a:solidFill>
                            <a:srgbClr val="000000"/>
                          </a:solidFill>
                          <a:latin typeface="Calibri"/>
                          <a:ea typeface="Calibri"/>
                          <a:cs typeface="Calibri"/>
                        </a:rPr>
                        <a:t>Diagnóstico y ≥ 80% sin ayuda.</a:t>
                      </a:r>
                    </a:p>
                  </a:txBody>
                  <a:tcPr marL="91440" marR="91440" marT="45720" marB="45720" anchor="ctr">
                    <a:lnR w="9525">
                      <a:solidFill>
                        <a:srgbClr val="CFCFCF"/>
                      </a:solidFill>
                      <a:prstDash val="solid"/>
                    </a:lnR>
                    <a:lnB w="9525">
                      <a:solidFill>
                        <a:srgbClr val="CFCFCF"/>
                      </a:solidFill>
                      <a:prstDash val="solid"/>
                    </a:lnB>
                    <a:solidFill>
                      <a:srgbClr val="FFFFFF"/>
                    </a:solidFill>
                  </a:tcPr>
                </a:tc>
                <a:tc>
                  <a:txBody>
                    <a:bodyPr lIns="66675" tIns="66675" rIns="66675" bIns="66675"/>
                    <a:lstStyle/>
                    <a:p>
                      <a:pPr algn="ctr"/>
                      <a:r>
                        <a:rPr sz="2100" b="0">
                          <a:solidFill>
                            <a:srgbClr val="000000"/>
                          </a:solidFill>
                          <a:latin typeface="Calibri"/>
                          <a:ea typeface="Calibri"/>
                          <a:cs typeface="Calibri"/>
                        </a:rPr>
                        <a:t>Kevin Quiñonez</a:t>
                      </a:r>
                    </a:p>
                    <a:p>
                      <a:pPr algn="ctr"/>
                      <a:r>
                        <a:rPr sz="2100" b="0">
                          <a:solidFill>
                            <a:srgbClr val="000000"/>
                          </a:solidFill>
                          <a:latin typeface="Calibri"/>
                          <a:ea typeface="Calibri"/>
                          <a:cs typeface="Calibri"/>
                        </a:rPr>
                        <a:t>Interfaz</a:t>
                      </a:r>
                    </a:p>
                  </a:txBody>
                  <a:tcPr marL="91440" marR="91440" marT="45720" marB="45720" anchor="ctr">
                    <a:lnR w="9525">
                      <a:solidFill>
                        <a:srgbClr val="CFCFCF"/>
                      </a:solidFill>
                      <a:prstDash val="solid"/>
                    </a:lnR>
                    <a:lnB w="9525">
                      <a:solidFill>
                        <a:srgbClr val="CFCFCF"/>
                      </a:solidFill>
                      <a:prstDash val="solid"/>
                    </a:lnB>
                    <a:solidFill>
                      <a:srgbClr val="FFFFFF"/>
                    </a:solidFill>
                  </a:tcPr>
                </a:tc>
              </a:tr>
            </a:tbl>
          </a:graphicData>
        </a:graphic>
      </p:graphicFrame>
      <p:sp>
        <p:nvSpPr>
          <p:cNvPr id="6" name="np:Límite">
            <a:extLst>
              <a:ext uri="{FF2B5EF4-FFF2-40B4-BE49-F238E27FC236}">
                <a16:creationId xmlns:a16="http://schemas.microsoft.com/office/drawing/2014/main" id="{DC7ACF77-E5FA-43AE-99C8-2E40626B3023}"/>
              </a:ext>
            </a:extLst>
          </p:cNvPr>
          <p:cNvSpPr>
            <a:spLocks noGrp="1"/>
          </p:cNvSpPr>
          <p:nvPr/>
        </p:nvSpPr>
        <p:spPr>
          <a:xfrm>
            <a:off x="523875" y="5334000"/>
            <a:ext cx="9906000" cy="742950"/>
          </a:xfrm>
          <a:prstGeom prst="rect">
            <a:avLst/>
          </a:prstGeom>
          <a:noFill/>
          <a:ln w="0">
            <a:noFill/>
          </a:ln>
        </p:spPr>
        <p:txBody>
          <a:bodyPr lIns="0" tIns="0" rIns="0" bIns="0" anchor="t">
            <a:noAutofit/>
          </a:bodyPr>
          <a:lstStyle>
            <a:defPPr algn="l">
              <a:defRPr sz="2175" b="0">
                <a:solidFill>
                  <a:srgbClr val="000000"/>
                </a:solidFill>
                <a:latin typeface="Calibri"/>
                <a:ea typeface="Calibri"/>
                <a:cs typeface="Calibri"/>
              </a:defRPr>
            </a:defPPr>
          </a:lstStyle>
          <a:p>
            <a:pPr algn="l">
              <a:defRPr sz="2175" b="0">
                <a:solidFill>
                  <a:srgbClr val="000000"/>
                </a:solidFill>
                <a:latin typeface="Calibri"/>
                <a:ea typeface="Calibri"/>
                <a:cs typeface="Calibri"/>
              </a:defRPr>
            </a:pPr>
            <a:r>
              <a:rPr sz="2175" b="0">
                <a:solidFill>
                  <a:srgbClr val="000000"/>
                </a:solidFill>
                <a:latin typeface="Calibri"/>
                <a:ea typeface="Calibri"/>
                <a:cs typeface="Calibri"/>
              </a:rPr>
              <a:t>Siguiente etapa: observación con participantes nuevos.</a:t>
            </a:r>
          </a:p>
          <a:p>
            <a:pPr algn="l">
              <a:defRPr sz="2175" b="0">
                <a:solidFill>
                  <a:srgbClr val="000000"/>
                </a:solidFill>
                <a:latin typeface="Calibri"/>
                <a:ea typeface="Calibri"/>
                <a:cs typeface="Calibri"/>
              </a:defRPr>
            </a:pPr>
            <a:r>
              <a:rPr sz="2175" b="0">
                <a:solidFill>
                  <a:srgbClr val="000000"/>
                </a:solidFill>
                <a:latin typeface="Calibri"/>
                <a:ea typeface="Calibri"/>
                <a:cs typeface="Calibri"/>
              </a:rPr>
              <a:t>Antes de publicar: concurrencia, seguridad y accesibilidad.</a:t>
            </a:r>
          </a:p>
        </p:txBody>
      </p:sp>
    </p:spTree>
    <p:extLst>
      <p:ext uri="{BB962C8B-B14F-4D97-AF65-F5344CB8AC3E}">
        <p14:creationId xmlns:p14="http://schemas.microsoft.com/office/powerpoint/2010/main" val="2341651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BAACC-5240-4E68-A4E9-ACA6E7A4B0A2}"/>
              </a:ext>
            </a:extLst>
          </p:cNvPr>
          <p:cNvSpPr>
            <a:spLocks noGrp="1"/>
          </p:cNvSpPr>
          <p:nvPr>
            <p:ph type="title" idx="4294967295"/>
          </p:nvPr>
        </p:nvSpPr>
        <p:spPr>
          <a:xfrm>
            <a:off x="492369" y="1395046"/>
            <a:ext cx="11218985" cy="295642"/>
          </a:xfrm>
        </p:spPr>
        <p:txBody>
          <a:bodyPr>
            <a:noAutofit/>
          </a:bodyPr>
          <a:lstStyle/>
          <a:p>
            <a:endParaRPr lang="es-EC" sz="3200" dirty="0"/>
          </a:p>
        </p:txBody>
      </p:sp>
      <p:sp>
        <p:nvSpPr>
          <p:cNvPr id="3" name="Marcador de contenido 2">
            <a:extLst>
              <a:ext uri="{FF2B5EF4-FFF2-40B4-BE49-F238E27FC236}">
                <a16:creationId xmlns:a16="http://schemas.microsoft.com/office/drawing/2014/main" id="{055CBC30-9FA5-4F46-97C3-766A43887EE6}"/>
              </a:ext>
            </a:extLst>
          </p:cNvPr>
          <p:cNvSpPr>
            <a:spLocks noGrp="1"/>
          </p:cNvSpPr>
          <p:nvPr>
            <p:ph idx="4294967295"/>
          </p:nvPr>
        </p:nvSpPr>
        <p:spPr>
          <a:xfrm>
            <a:off x="492369" y="1825625"/>
            <a:ext cx="11218985" cy="4351338"/>
          </a:xfrm>
        </p:spPr>
        <p:txBody>
          <a:bodyPr>
            <a:normAutofit/>
          </a:bodyPr>
          <a:lstStyle/>
          <a:p>
            <a:endParaRPr lang="es-EC" sz="2000" dirty="0"/>
          </a:p>
        </p:txBody>
      </p:sp>
      <p:sp>
        <p:nvSpPr>
          <p:cNvPr id="4" name="np:Título">
            <a:extLst>
              <a:ext uri="{FF2B5EF4-FFF2-40B4-BE49-F238E27FC236}">
                <a16:creationId xmlns:a16="http://schemas.microsoft.com/office/drawing/2014/main" id="{CE8A7CFD-130F-4AA6-A28D-80B026B9B860}"/>
              </a:ext>
            </a:extLst>
          </p:cNvPr>
          <p:cNvSpPr>
            <a:spLocks noGrp="1"/>
          </p:cNvSpPr>
          <p:nvPr/>
        </p:nvSpPr>
        <p:spPr>
          <a:xfrm>
            <a:off x="495300" y="1343025"/>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Conclusiones y fuentes</a:t>
            </a:r>
          </a:p>
        </p:txBody>
      </p:sp>
      <p:sp>
        <p:nvSpPr>
          <p:cNvPr id="5" name="np:Contenido">
            <a:extLst>
              <a:ext uri="{FF2B5EF4-FFF2-40B4-BE49-F238E27FC236}">
                <a16:creationId xmlns:a16="http://schemas.microsoft.com/office/drawing/2014/main" id="{EDA275BE-C378-4BEF-8FC2-A0F6FC07BA2B}"/>
              </a:ext>
            </a:extLst>
          </p:cNvPr>
          <p:cNvSpPr>
            <a:spLocks noGrp="1"/>
          </p:cNvSpPr>
          <p:nvPr/>
        </p:nvSpPr>
        <p:spPr>
          <a:xfrm>
            <a:off x="523875" y="2324100"/>
            <a:ext cx="9906000" cy="2095500"/>
          </a:xfrm>
          <a:prstGeom prst="rect">
            <a:avLst/>
          </a:prstGeom>
          <a:noFill/>
          <a:ln w="0">
            <a:noFill/>
          </a:ln>
        </p:spPr>
        <p:txBody>
          <a:bodyPr lIns="0" tIns="0" rIns="0" bIns="0" anchor="t">
            <a:noAutofit/>
          </a:bodyPr>
          <a:lstStyle>
            <a:defPPr algn="l">
              <a:defRPr sz="2700" b="0">
                <a:solidFill>
                  <a:srgbClr val="000000"/>
                </a:solidFill>
                <a:latin typeface="Calibri"/>
                <a:ea typeface="Calibri"/>
                <a:cs typeface="Calibri"/>
              </a:defRPr>
            </a:defPPr>
          </a:lstStyle>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Los cinco flujos funcionaron en los casos comprobados.</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La corrección de D01 superó compilación y regresión.</a:t>
            </a:r>
          </a:p>
          <a:p>
            <a:pPr marL="228600" indent="-114300" algn="l">
              <a:spcAft>
                <a:spcPts val="1000"/>
              </a:spcAft>
              <a:buChar char="•"/>
              <a:defRPr sz="2700" b="0">
                <a:solidFill>
                  <a:srgbClr val="000000"/>
                </a:solidFill>
                <a:latin typeface="Calibri"/>
                <a:ea typeface="Calibri"/>
                <a:cs typeface="Calibri"/>
              </a:defRPr>
            </a:pPr>
            <a:r>
              <a:rPr sz="2700" b="0">
                <a:solidFill>
                  <a:srgbClr val="000000"/>
                </a:solidFill>
                <a:latin typeface="Calibri"/>
                <a:ea typeface="Calibri"/>
                <a:cs typeface="Calibri"/>
              </a:rPr>
              <a:t>Compra e historial requieren estudiar la ayuda solicitada.</a:t>
            </a:r>
          </a:p>
        </p:txBody>
      </p:sp>
      <p:sp>
        <p:nvSpPr>
          <p:cNvPr id="6" name="np:Referencias">
            <a:extLst>
              <a:ext uri="{FF2B5EF4-FFF2-40B4-BE49-F238E27FC236}">
                <a16:creationId xmlns:a16="http://schemas.microsoft.com/office/drawing/2014/main" id="{2132D759-5EAE-4A6A-9F61-E075E2A1569C}"/>
              </a:ext>
            </a:extLst>
          </p:cNvPr>
          <p:cNvSpPr>
            <a:spLocks noGrp="1"/>
          </p:cNvSpPr>
          <p:nvPr/>
        </p:nvSpPr>
        <p:spPr>
          <a:xfrm>
            <a:off x="523875" y="4800600"/>
            <a:ext cx="9906000" cy="781050"/>
          </a:xfrm>
          <a:prstGeom prst="rect">
            <a:avLst/>
          </a:prstGeom>
          <a:noFill/>
          <a:ln w="0">
            <a:noFill/>
          </a:ln>
        </p:spPr>
        <p:txBody>
          <a:bodyPr lIns="0" tIns="0" rIns="0" bIns="0" anchor="t">
            <a:noAutofit/>
          </a:bodyPr>
          <a:lstStyle>
            <a:defPPr algn="l">
              <a:defRPr sz="2325" b="0">
                <a:solidFill>
                  <a:srgbClr val="000000"/>
                </a:solidFill>
                <a:latin typeface="Calibri"/>
                <a:ea typeface="Calibri"/>
                <a:cs typeface="Calibri"/>
              </a:defRPr>
            </a:defPPr>
          </a:lstStyle>
          <a:p>
            <a:pPr algn="l">
              <a:defRPr sz="2325" b="0">
                <a:solidFill>
                  <a:srgbClr val="000000"/>
                </a:solidFill>
                <a:latin typeface="Calibri"/>
                <a:ea typeface="Calibri"/>
                <a:cs typeface="Calibri"/>
              </a:defRPr>
            </a:pPr>
            <a:r>
              <a:rPr sz="2325" b="0">
                <a:solidFill>
                  <a:srgbClr val="000000"/>
                </a:solidFill>
                <a:latin typeface="Calibri"/>
                <a:ea typeface="Calibri"/>
                <a:cs typeface="Calibri"/>
              </a:rPr>
              <a:t>ISO/IEC 25010:2023 e ISO/IEC 25023:2016</a:t>
            </a:r>
          </a:p>
          <a:p>
            <a:pPr algn="l">
              <a:defRPr sz="2325" b="0">
                <a:solidFill>
                  <a:srgbClr val="000000"/>
                </a:solidFill>
                <a:latin typeface="Calibri"/>
                <a:ea typeface="Calibri"/>
                <a:cs typeface="Calibri"/>
              </a:defRPr>
            </a:pPr>
            <a:r>
              <a:rPr sz="2325" b="0">
                <a:solidFill>
                  <a:srgbClr val="000000"/>
                </a:solidFill>
                <a:latin typeface="Calibri"/>
                <a:ea typeface="Calibri"/>
                <a:cs typeface="Calibri"/>
              </a:rPr>
              <a:t>SWEBOK V4.0a e ISTQB CTFL 4.0.1</a:t>
            </a:r>
          </a:p>
        </p:txBody>
      </p:sp>
      <p:sp>
        <p:nvSpPr>
          <p:cNvPr id="7" name="np:Detalle">
            <a:extLst>
              <a:ext uri="{FF2B5EF4-FFF2-40B4-BE49-F238E27FC236}">
                <a16:creationId xmlns:a16="http://schemas.microsoft.com/office/drawing/2014/main" id="{35618285-2D4F-46D9-8C30-45A7AFDAE710}"/>
              </a:ext>
            </a:extLst>
          </p:cNvPr>
          <p:cNvSpPr>
            <a:spLocks noGrp="1"/>
          </p:cNvSpPr>
          <p:nvPr/>
        </p:nvSpPr>
        <p:spPr>
          <a:xfrm>
            <a:off x="523875" y="5829300"/>
            <a:ext cx="9906000" cy="342900"/>
          </a:xfrm>
          <a:prstGeom prst="rect">
            <a:avLst/>
          </a:prstGeom>
          <a:noFill/>
          <a:ln w="0">
            <a:noFill/>
          </a:ln>
        </p:spPr>
        <p:txBody>
          <a:bodyPr lIns="0" tIns="0" rIns="0" bIns="0" anchor="t">
            <a:noAutofit/>
          </a:bodyPr>
          <a:lstStyle>
            <a:defPPr algn="l">
              <a:defRPr sz="2100" b="0">
                <a:solidFill>
                  <a:srgbClr val="000000"/>
                </a:solidFill>
                <a:latin typeface="Calibri"/>
                <a:ea typeface="Calibri"/>
                <a:cs typeface="Calibri"/>
              </a:defRPr>
            </a:defPPr>
          </a:lstStyle>
          <a:p>
            <a:pPr algn="l">
              <a:defRPr sz="2100" b="0">
                <a:solidFill>
                  <a:srgbClr val="000000"/>
                </a:solidFill>
                <a:latin typeface="Calibri"/>
                <a:ea typeface="Calibri"/>
                <a:cs typeface="Calibri"/>
              </a:defRPr>
            </a:pPr>
            <a:r>
              <a:rPr sz="2100" b="0">
                <a:solidFill>
                  <a:srgbClr val="000000"/>
                </a:solidFill>
                <a:latin typeface="Calibri"/>
                <a:ea typeface="Calibri"/>
                <a:cs typeface="Calibri"/>
              </a:rPr>
              <a:t>Código y evidencias: github.com/orlandotrujillo028-debug/NeonPlay</a:t>
            </a:r>
          </a:p>
        </p:txBody>
      </p:sp>
    </p:spTree>
    <p:extLst>
      <p:ext uri="{BB962C8B-B14F-4D97-AF65-F5344CB8AC3E}">
        <p14:creationId xmlns:p14="http://schemas.microsoft.com/office/powerpoint/2010/main" val="2341651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p:Preguntas">
            <a:extLst>
              <a:ext uri="{FF2B5EF4-FFF2-40B4-BE49-F238E27FC236}">
                <a16:creationId xmlns:a16="http://schemas.microsoft.com/office/drawing/2014/main" id="{ECA912F6-273D-4704-B9E5-ECD55F09298C}"/>
              </a:ext>
            </a:extLst>
          </p:cNvPr>
          <p:cNvSpPr>
            <a:spLocks noGrp="1"/>
          </p:cNvSpPr>
          <p:nvPr/>
        </p:nvSpPr>
        <p:spPr>
          <a:xfrm>
            <a:off x="714375" y="1524000"/>
            <a:ext cx="9906000" cy="762000"/>
          </a:xfrm>
          <a:prstGeom prst="rect">
            <a:avLst/>
          </a:prstGeom>
          <a:noFill/>
          <a:ln w="0">
            <a:noFill/>
          </a:ln>
        </p:spPr>
        <p:txBody>
          <a:bodyPr lIns="0" tIns="0" rIns="0" bIns="0" anchor="t">
            <a:noAutofit/>
          </a:bodyPr>
          <a:lstStyle>
            <a:defPPr algn="l">
              <a:defRPr sz="4400" b="0">
                <a:solidFill>
                  <a:srgbClr val="000000"/>
                </a:solidFill>
                <a:latin typeface="Calibri Light"/>
                <a:ea typeface="Calibri Light"/>
                <a:cs typeface="Calibri Light"/>
              </a:defRPr>
            </a:defPPr>
          </a:lstStyle>
          <a:p>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Preguntas</a:t>
            </a:r>
          </a:p>
        </p:txBody>
      </p:sp>
    </p:spTree>
    <p:extLst>
      <p:ext uri="{BB962C8B-B14F-4D97-AF65-F5344CB8AC3E}">
        <p14:creationId xmlns:p14="http://schemas.microsoft.com/office/powerpoint/2010/main" val="17419194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0</Words>
  <Application>Microsoft Office PowerPoint</Application>
  <PresentationFormat>Panorámica</PresentationFormat>
  <Paragraphs>0</Paragraphs>
  <Slides>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2026-10-12T03:27:22.7420000Z</dcterms:created>
  <dcterms:modified xsi:type="dcterms:W3CDTF">2026-10-12T03:27:22.7420000Z</dcterms:modified>
</coreProperties>
</file>