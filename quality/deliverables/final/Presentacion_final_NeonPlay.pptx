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eonplay_notesSlide1.xml" ContentType="application/vnd.openxmlformats-officedocument.presentationml.notesSlide+xml"/>
  <Override PartName="/ppt/notesMasters/neonplay_notesMaster1.xml" ContentType="application/vnd.openxmlformats-officedocument.presentationml.notesMaster+xml"/>
  <Override PartName="/ppt/notesMasters/theme/neonplay_theme3.xml" ContentType="application/vnd.openxmlformats-officedocument.theme+xml"/>
  <Override PartName="/ppt/notesSlides/neonplay_notesSlide2.xml" ContentType="application/vnd.openxmlformats-officedocument.presentationml.notesSlide+xml"/>
  <Override PartName="/ppt/media/neonplay_image3.png" ContentType="image/png"/>
  <Override PartName="/ppt/notesSlides/neonplay_notesSlide3.xml" ContentType="application/vnd.openxmlformats-officedocument.presentationml.notesSlide+xml"/>
  <Override PartName="/ppt/notesSlides/neonplay_notesSlide4.xml" ContentType="application/vnd.openxmlformats-officedocument.presentationml.notesSlide+xml"/>
  <Override PartName="/ppt/notesSlides/neonplay_notesSlide5.xml" ContentType="application/vnd.openxmlformats-officedocument.presentationml.notesSlide+xml"/>
  <Override PartName="/ppt/notesSlides/neonplay_notesSlide6.xml" ContentType="application/vnd.openxmlformats-officedocument.presentationml.notesSlide+xml"/>
  <Override PartName="/ppt/slides/slide6.xml" ContentType="application/vnd.openxmlformats-officedocument.presentationml.slide+xml"/>
  <Override PartName="/ppt/notesSlides/neonplay_notesSlide7.xml" ContentType="application/vnd.openxmlformats-officedocument.presentationml.notesSlide+xml"/>
  <Override PartName="/ppt/slides/slide7.xml" ContentType="application/vnd.openxmlformats-officedocument.presentationml.slide+xml"/>
  <Override PartName="/ppt/notesSlides/neonplay_notesSlide8.xml" ContentType="application/vnd.openxmlformats-officedocument.presentationml.notesSlide+xml"/>
  <Override PartName="/ppt/slides/slide8.xml" ContentType="application/vnd.openxmlformats-officedocument.presentationml.slide+xml"/>
  <Override PartName="/ppt/notesSlides/neonplay_notesSlide9.xml" ContentType="application/vnd.openxmlformats-officedocument.presentationml.notesSlide+xml"/>
  <Override PartName="/ppt/slides/slide9.xml" ContentType="application/vnd.openxmlformats-officedocument.presentationml.slide+xml"/>
  <Override PartName="/ppt/notesSlides/neonplay_notesSlide10.xml" ContentType="application/vnd.openxmlformats-officedocument.presentationml.notesSlide+xml"/>
  <Override PartName="/ppt/slides/slide10.xml" ContentType="application/vnd.openxmlformats-officedocument.presentationml.slide+xml"/>
  <Override PartName="/ppt/media/neonplay_image4.png" ContentType="image/png"/>
  <Override PartName="/ppt/notesSlides/neonplay_notesSlide11.xml" ContentType="application/vnd.openxmlformats-officedocument.presentationml.notesSlide+xml"/>
  <Override PartName="/ppt/slides/slide11.xml" ContentType="application/vnd.openxmlformats-officedocument.presentationml.slide+xml"/>
  <Override PartName="/ppt/media/neonplay_image5.png" ContentType="image/png"/>
  <Override PartName="/ppt/notesSlides/neonplay_notesSlide12.xml" ContentType="application/vnd.openxmlformats-officedocument.presentationml.notesSlide+xml"/>
  <Override PartName="/ppt/slides/slide12.xml" ContentType="application/vnd.openxmlformats-officedocument.presentationml.slide+xml"/>
  <Override PartName="/ppt/notesSlides/neonplay_notesSlide13.xml" ContentType="application/vnd.openxmlformats-officedocument.presentationml.notesSlide+xml"/>
  <Override PartName="/ppt/slides/slide13.xml" ContentType="application/vnd.openxmlformats-officedocument.presentationml.slide+xml"/>
  <Override PartName="/ppt/slides/charts/neonplay_chart1.xml" ContentType="application/vnd.openxmlformats-officedocument.drawingml.chart+xml"/>
  <Override PartName="/ppt/notesSlides/neonplay_notesSlide14.xml" ContentType="application/vnd.openxmlformats-officedocument.presentationml.notesSlide+xml"/>
  <Override PartName="/ppt/slides/slide14.xml" ContentType="application/vnd.openxmlformats-officedocument.presentationml.slide+xml"/>
  <Override PartName="/ppt/notesSlides/neonplay_notesSlide15.xml" ContentType="application/vnd.openxmlformats-officedocument.presentationml.notesSlide+xml"/>
  <Override PartName="/ppt/slides/slide15.xml" ContentType="application/vnd.openxmlformats-officedocument.presentationml.slide+xml"/>
  <Override PartName="/ppt/notesSlides/neonplay_notesSlide16.xml" ContentType="application/vnd.openxmlformats-officedocument.presentationml.notesSlide+xml"/>
  <Override PartName="/ppt/slides/slide16.xml" ContentType="application/vnd.openxmlformats-officedocument.presentationml.slide+xml"/>
  <Override PartName="/ppt/notesSlides/neonplay_notesSlide17.xml" ContentType="application/vnd.openxmlformats-officedocument.presentationml.notesSlide+xml"/>
  <Override PartName="/ppt/slides/slide17.xml" ContentType="application/vnd.openxmlformats-officedocument.presentationml.slide+xml"/>
  <Override PartName="/ppt/notesSlides/neonplay_notesSlide18.xml" ContentType="application/vnd.openxmlformats-officedocument.presentationml.notesSlide+xml"/>
  <Override PartName="/ppt/slides/slide18.xml" ContentType="application/vnd.openxmlformats-officedocument.presentationml.slide+xml"/>
  <Override PartName="/ppt/notesSlides/neonplay_notesSlide19.xml" ContentType="application/vnd.openxmlformats-officedocument.presentationml.notesSlide+xml"/>
  <Override PartName="/ppt/slides/slide19.xml" ContentType="application/vnd.openxmlformats-officedocument.presentationml.slide+xml"/>
  <Override PartName="/ppt/notesSlides/neonplay_notesSlide20.xml" ContentType="application/vnd.openxmlformats-officedocument.presentationml.notesSlide+xml"/>
  <Override PartName="/ppt/slides/slide20.xml" ContentType="application/vnd.openxmlformats-officedocument.presentationml.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npNotesMaster"/>
  </p:notesMasterIdLst>
  <p:handoutMasterIdLst>
    <p:handoutMasterId r:id="rId7"/>
  </p:handoutMasterIdLst>
  <p:sldIdLst>
    <p:sldId id="256" r:id="npSlide1"/>
    <p:sldId id="257" r:id="npSlide2"/>
    <p:sldId id="258" r:id="npSlide3"/>
    <p:sldId id="259" r:id="npSlide4"/>
    <p:sldId id="260" r:id="npSlide5"/>
    <p:sldId id="261" r:id="npSlide6"/>
    <p:sldId id="262" r:id="npSlide7"/>
    <p:sldId id="263" r:id="npSlide8"/>
    <p:sldId id="264" r:id="npSlide9"/>
    <p:sldId id="265" r:id="npSlide10"/>
    <p:sldId id="266" r:id="npSlide11"/>
    <p:sldId id="267" r:id="npSlide12"/>
    <p:sldId id="268" r:id="npSlide13"/>
    <p:sldId id="269" r:id="npSlide14"/>
    <p:sldId id="270" r:id="npSlide15"/>
    <p:sldId id="271" r:id="npSlide16"/>
    <p:sldId id="272" r:id="npSlide17"/>
    <p:sldId id="273" r:id="npSlide18"/>
    <p:sldId id="274" r:id="npSlide19"/>
    <p:sldId id="275" r:id="npSlide2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2"/>
    <p:restoredTop sz="94740"/>
  </p:normalViewPr>
  <p:slideViewPr>
    <p:cSldViewPr snapToGrid="0" snapToObjects="1">
      <p:cViewPr>
        <p:scale>
          <a:sx n="90" d="100"/>
          <a:sy n="90" d="100"/>
        </p:scale>
        <p:origin x="156" y="48"/>
      </p:cViewPr>
      <p:guideLst/>
    </p:cSldViewPr>
  </p:slideViewPr>
  <p:notesTextViewPr>
    <p:cViewPr>
      <p:scale>
        <a:sx n="1" d="1"/>
        <a:sy n="1" d="1"/>
      </p:scale>
      <p:origin x="0" y="0"/>
    </p:cViewPr>
  </p:notesTextViewPr>
  <p:notesViewPr>
    <p:cSldViewPr snapToGrid="0" snapToObjects="1">
      <p:cViewPr varScale="1">
        <p:scale>
          <a:sx n="67" d="100"/>
          <a:sy n="67" d="100"/>
        </p:scale>
        <p:origin x="283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7" Type="http://schemas.openxmlformats.org/officeDocument/2006/relationships/handoutMaster" Target="handoutMasters/handoutMaster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 Id="npSlide1" Type="http://schemas.openxmlformats.org/officeDocument/2006/relationships/slide" Target="slides/slide1.xml"/><Relationship Id="npSlide2" Type="http://schemas.openxmlformats.org/officeDocument/2006/relationships/slide" Target="slides/slide2.xml"/><Relationship Id="npSlide3" Type="http://schemas.openxmlformats.org/officeDocument/2006/relationships/slide" Target="slides/slide3.xml"/><Relationship Id="npSlide4" Type="http://schemas.openxmlformats.org/officeDocument/2006/relationships/slide" Target="slides/slide4.xml"/><Relationship Id="npSlide5" Type="http://schemas.openxmlformats.org/officeDocument/2006/relationships/slide" Target="slides/slide5.xml"/><Relationship Id="npSlide6" Type="http://schemas.openxmlformats.org/officeDocument/2006/relationships/slide" Target="slides/slide6.xml"/><Relationship Id="npSlide7" Type="http://schemas.openxmlformats.org/officeDocument/2006/relationships/slide" Target="slides/slide7.xml"/><Relationship Id="npSlide8" Type="http://schemas.openxmlformats.org/officeDocument/2006/relationships/slide" Target="slides/slide8.xml"/><Relationship Id="npSlide9" Type="http://schemas.openxmlformats.org/officeDocument/2006/relationships/slide" Target="slides/slide9.xml"/><Relationship Id="npSlide10" Type="http://schemas.openxmlformats.org/officeDocument/2006/relationships/slide" Target="slides/slide10.xml"/><Relationship Id="npSlide11" Type="http://schemas.openxmlformats.org/officeDocument/2006/relationships/slide" Target="slides/slide11.xml"/><Relationship Id="npSlide12" Type="http://schemas.openxmlformats.org/officeDocument/2006/relationships/slide" Target="slides/slide12.xml"/><Relationship Id="npSlide13" Type="http://schemas.openxmlformats.org/officeDocument/2006/relationships/slide" Target="slides/slide13.xml"/><Relationship Id="npSlide14" Type="http://schemas.openxmlformats.org/officeDocument/2006/relationships/slide" Target="slides/slide14.xml"/><Relationship Id="npSlide15" Type="http://schemas.openxmlformats.org/officeDocument/2006/relationships/slide" Target="slides/slide15.xml"/><Relationship Id="npSlide16" Type="http://schemas.openxmlformats.org/officeDocument/2006/relationships/slide" Target="slides/slide16.xml"/><Relationship Id="npSlide17" Type="http://schemas.openxmlformats.org/officeDocument/2006/relationships/slide" Target="slides/slide17.xml"/><Relationship Id="npSlide18" Type="http://schemas.openxmlformats.org/officeDocument/2006/relationships/slide" Target="slides/slide18.xml"/><Relationship Id="npSlide19" Type="http://schemas.openxmlformats.org/officeDocument/2006/relationships/slide" Target="slides/slide19.xml"/><Relationship Id="npSlide20" Type="http://schemas.openxmlformats.org/officeDocument/2006/relationships/slide" Target="slides/slide20.xml"/><Relationship Id="npNotesMaster" Type="http://schemas.openxmlformats.org/officeDocument/2006/relationships/notesMaster" Target="notesMasters/neonplay_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94E2EFF-4920-4B45-8A49-F3E4C2F7C5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a:extLst>
              <a:ext uri="{FF2B5EF4-FFF2-40B4-BE49-F238E27FC236}">
                <a16:creationId xmlns:a16="http://schemas.microsoft.com/office/drawing/2014/main" id="{F1B25D7E-5D9E-4324-973B-F37E026A6E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7D7FF-DDC7-474C-8526-899954A31AD1}" type="datetimeFigureOut">
              <a:rPr lang="es-EC" smtClean="0"/>
              <a:t>8/5/2023</a:t>
            </a:fld>
            <a:endParaRPr lang="es-EC"/>
          </a:p>
        </p:txBody>
      </p:sp>
      <p:sp>
        <p:nvSpPr>
          <p:cNvPr id="4" name="Marcador de pie de página 3">
            <a:extLst>
              <a:ext uri="{FF2B5EF4-FFF2-40B4-BE49-F238E27FC236}">
                <a16:creationId xmlns:a16="http://schemas.microsoft.com/office/drawing/2014/main" id="{1BE1F024-B4D1-4D02-9D60-BC00CD1570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5" name="Marcador de número de diapositiva 4">
            <a:extLst>
              <a:ext uri="{FF2B5EF4-FFF2-40B4-BE49-F238E27FC236}">
                <a16:creationId xmlns:a16="http://schemas.microsoft.com/office/drawing/2014/main" id="{CF5626AA-BF38-4F1F-9164-6E9E13F3CC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C8D488-B844-44E3-AFA6-D489E552E6D9}" type="slidenum">
              <a:rPr lang="es-EC" smtClean="0"/>
              <a:t>‹Nº›</a:t>
            </a:fld>
            <a:endParaRPr lang="es-EC"/>
          </a:p>
        </p:txBody>
      </p:sp>
    </p:spTree>
    <p:extLst>
      <p:ext uri="{BB962C8B-B14F-4D97-AF65-F5344CB8AC3E}">
        <p14:creationId xmlns:p14="http://schemas.microsoft.com/office/powerpoint/2010/main" val="4010748488"/>
      </p:ext>
    </p:extLst>
  </p:cSld>
  <p:clrMap bg1="lt1" tx1="dk1" bg2="lt2" tx2="dk2" accent1="accent1" accent2="accent2" accent3="accent3" accent4="accent4" accent5="accent5" accent6="accent6" hlink="hlink" folHlink="folHlink"/>
</p:handoutMaster>
</file>

<file path=ppt/notesMasters/_rels/neonplay_notesMaster1.xml.rels><?xml version='1.0' encoding='UTF-8' standalone='yes'?>
<Relationships xmlns="http://schemas.openxmlformats.org/package/2006/relationships"><Relationship Type="http://schemas.openxmlformats.org/officeDocument/2006/relationships/theme" Target="theme/neonplay_theme3.xml" Id="R719c0f5d385942e4"/></Relationships>
</file>

<file path=ppt/notesMasters/neonplay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neonplay_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eonplay_notesSlide1.xml.rels><?xml version='1.0' encoding='UTF-8' standalone='yes'?>
<Relationships xmlns="http://schemas.openxmlformats.org/package/2006/relationships"><Relationship Type="http://schemas.openxmlformats.org/officeDocument/2006/relationships/slide" Target="../slides/slide1.xml" Id="R3320845b6488429e"/><Relationship Type="http://schemas.openxmlformats.org/officeDocument/2006/relationships/notesMaster" Target="../notesMasters/neonplay_notesMaster1.xml" Id="Rd116171a85d3456b"/></Relationships>
</file>

<file path=ppt/notesSlides/_rels/neonplay_notesSlide2.xml.rels><?xml version='1.0' encoding='UTF-8' standalone='yes'?>
<Relationships xmlns="http://schemas.openxmlformats.org/package/2006/relationships"><Relationship Type="http://schemas.openxmlformats.org/officeDocument/2006/relationships/slide" Target="../slides/slide2.xml" Id="R7f06ddcd7a1b4efe"/><Relationship Type="http://schemas.openxmlformats.org/officeDocument/2006/relationships/notesMaster" Target="../notesMasters/neonplay_notesMaster1.xml" Id="Raa32f817ff404000"/></Relationships>
</file>

<file path=ppt/notesSlides/_rels/neonplay_notesSlide3.xml.rels><?xml version='1.0' encoding='UTF-8' standalone='yes'?>
<Relationships xmlns="http://schemas.openxmlformats.org/package/2006/relationships"><Relationship Type="http://schemas.openxmlformats.org/officeDocument/2006/relationships/slide" Target="../slides/slide3.xml" Id="R482bcd255d0a4222"/><Relationship Type="http://schemas.openxmlformats.org/officeDocument/2006/relationships/notesMaster" Target="../notesMasters/neonplay_notesMaster1.xml" Id="R4712ed8c7c91403e"/></Relationships>
</file>

<file path=ppt/notesSlides/_rels/neonplay_notesSlide4.xml.rels><?xml version='1.0' encoding='UTF-8' standalone='yes'?>
<Relationships xmlns="http://schemas.openxmlformats.org/package/2006/relationships"><Relationship Type="http://schemas.openxmlformats.org/officeDocument/2006/relationships/slide" Target="../slides/slide4.xml" Id="R412897461e68460a"/><Relationship Type="http://schemas.openxmlformats.org/officeDocument/2006/relationships/notesMaster" Target="../notesMasters/neonplay_notesMaster1.xml" Id="R368c0cc76d274bcb"/></Relationships>
</file>

<file path=ppt/notesSlides/_rels/neonplay_notesSlide5.xml.rels><?xml version='1.0' encoding='UTF-8' standalone='yes'?>
<Relationships xmlns="http://schemas.openxmlformats.org/package/2006/relationships"><Relationship Type="http://schemas.openxmlformats.org/officeDocument/2006/relationships/slide" Target="../slides/slide5.xml" Id="R5af29e0bbdd843c7"/><Relationship Type="http://schemas.openxmlformats.org/officeDocument/2006/relationships/notesMaster" Target="../notesMasters/neonplay_notesMaster1.xml" Id="Rb4755848c7c8406e"/></Relationships>
</file>

<file path=ppt/notesSlides/_rels/neonplay_notesSlide6.xml.rels><?xml version='1.0' encoding='UTF-8' standalone='yes'?>
<Relationships xmlns="http://schemas.openxmlformats.org/package/2006/relationships"><Relationship Type="http://schemas.openxmlformats.org/officeDocument/2006/relationships/slide" Target="../slides/slide6.xml" Id="R220bd1b407cf4bdf"/><Relationship Type="http://schemas.openxmlformats.org/officeDocument/2006/relationships/notesMaster" Target="../notesMasters/neonplay_notesMaster1.xml" Id="Rabe348e561a54584"/></Relationships>
</file>

<file path=ppt/notesSlides/_rels/neonplay_notesSlide7.xml.rels><?xml version='1.0' encoding='UTF-8' standalone='yes'?>
<Relationships xmlns="http://schemas.openxmlformats.org/package/2006/relationships"><Relationship Type="http://schemas.openxmlformats.org/officeDocument/2006/relationships/slide" Target="../slides/slide7.xml" Id="Rcffa40d3a9d143e2"/><Relationship Type="http://schemas.openxmlformats.org/officeDocument/2006/relationships/notesMaster" Target="../notesMasters/neonplay_notesMaster1.xml" Id="Rd6011452e9e74df5"/></Relationships>
</file>

<file path=ppt/notesSlides/_rels/neonplay_notesSlide8.xml.rels><?xml version='1.0' encoding='UTF-8' standalone='yes'?>
<Relationships xmlns="http://schemas.openxmlformats.org/package/2006/relationships"><Relationship Type="http://schemas.openxmlformats.org/officeDocument/2006/relationships/slide" Target="../slides/slide8.xml" Id="R1b3c5c166fbc44ae"/><Relationship Type="http://schemas.openxmlformats.org/officeDocument/2006/relationships/notesMaster" Target="../notesMasters/neonplay_notesMaster1.xml" Id="R471f314db48f4c93"/></Relationships>
</file>

<file path=ppt/notesSlides/_rels/neonplay_notesSlide9.xml.rels><?xml version='1.0' encoding='UTF-8' standalone='yes'?>
<Relationships xmlns="http://schemas.openxmlformats.org/package/2006/relationships"><Relationship Type="http://schemas.openxmlformats.org/officeDocument/2006/relationships/slide" Target="../slides/slide9.xml" Id="Re5f2748daed7417d"/><Relationship Type="http://schemas.openxmlformats.org/officeDocument/2006/relationships/notesMaster" Target="../notesMasters/neonplay_notesMaster1.xml" Id="Rcd5c54582dec48e6"/></Relationships>
</file>

<file path=ppt/notesSlides/_rels/neonplay_notesSlide10.xml.rels><?xml version='1.0' encoding='UTF-8' standalone='yes'?>
<Relationships xmlns="http://schemas.openxmlformats.org/package/2006/relationships"><Relationship Type="http://schemas.openxmlformats.org/officeDocument/2006/relationships/slide" Target="../slides/slide10.xml" Id="R8a348579c5024e12"/><Relationship Type="http://schemas.openxmlformats.org/officeDocument/2006/relationships/notesMaster" Target="../notesMasters/neonplay_notesMaster1.xml" Id="R92dc355a18e443bd"/></Relationships>
</file>

<file path=ppt/notesSlides/_rels/neonplay_notesSlide11.xml.rels><?xml version='1.0' encoding='UTF-8' standalone='yes'?>
<Relationships xmlns="http://schemas.openxmlformats.org/package/2006/relationships"><Relationship Type="http://schemas.openxmlformats.org/officeDocument/2006/relationships/slide" Target="../slides/slide11.xml" Id="R8c502056f79e44c5"/><Relationship Type="http://schemas.openxmlformats.org/officeDocument/2006/relationships/notesMaster" Target="../notesMasters/neonplay_notesMaster1.xml" Id="R87f6c1c78a214d44"/></Relationships>
</file>

<file path=ppt/notesSlides/_rels/neonplay_notesSlide12.xml.rels><?xml version='1.0' encoding='UTF-8' standalone='yes'?>
<Relationships xmlns="http://schemas.openxmlformats.org/package/2006/relationships"><Relationship Type="http://schemas.openxmlformats.org/officeDocument/2006/relationships/slide" Target="../slides/slide12.xml" Id="Rbf7c92ccfe63463b"/><Relationship Type="http://schemas.openxmlformats.org/officeDocument/2006/relationships/notesMaster" Target="../notesMasters/neonplay_notesMaster1.xml" Id="R2c8dbc7bd68e42fe"/></Relationships>
</file>

<file path=ppt/notesSlides/_rels/neonplay_notesSlide13.xml.rels><?xml version='1.0' encoding='UTF-8' standalone='yes'?>
<Relationships xmlns="http://schemas.openxmlformats.org/package/2006/relationships"><Relationship Type="http://schemas.openxmlformats.org/officeDocument/2006/relationships/slide" Target="../slides/slide13.xml" Id="R6119733c74ac4225"/><Relationship Type="http://schemas.openxmlformats.org/officeDocument/2006/relationships/notesMaster" Target="../notesMasters/neonplay_notesMaster1.xml" Id="R754ca97a19784f6a"/></Relationships>
</file>

<file path=ppt/notesSlides/_rels/neonplay_notesSlide14.xml.rels><?xml version='1.0' encoding='UTF-8' standalone='yes'?>
<Relationships xmlns="http://schemas.openxmlformats.org/package/2006/relationships"><Relationship Type="http://schemas.openxmlformats.org/officeDocument/2006/relationships/slide" Target="../slides/slide14.xml" Id="Rb9ca3902b0e1416a"/><Relationship Type="http://schemas.openxmlformats.org/officeDocument/2006/relationships/notesMaster" Target="../notesMasters/neonplay_notesMaster1.xml" Id="R47f49952ce884b28"/></Relationships>
</file>

<file path=ppt/notesSlides/_rels/neonplay_notesSlide15.xml.rels><?xml version='1.0' encoding='UTF-8' standalone='yes'?>
<Relationships xmlns="http://schemas.openxmlformats.org/package/2006/relationships"><Relationship Type="http://schemas.openxmlformats.org/officeDocument/2006/relationships/slide" Target="../slides/slide15.xml" Id="R830d76865df24438"/><Relationship Type="http://schemas.openxmlformats.org/officeDocument/2006/relationships/notesMaster" Target="../notesMasters/neonplay_notesMaster1.xml" Id="R57575076d00d476e"/></Relationships>
</file>

<file path=ppt/notesSlides/_rels/neonplay_notesSlide16.xml.rels><?xml version='1.0' encoding='UTF-8' standalone='yes'?>
<Relationships xmlns="http://schemas.openxmlformats.org/package/2006/relationships"><Relationship Type="http://schemas.openxmlformats.org/officeDocument/2006/relationships/slide" Target="../slides/slide16.xml" Id="R180450a26de94001"/><Relationship Type="http://schemas.openxmlformats.org/officeDocument/2006/relationships/notesMaster" Target="../notesMasters/neonplay_notesMaster1.xml" Id="Rb86cc6052b724cc4"/></Relationships>
</file>

<file path=ppt/notesSlides/_rels/neonplay_notesSlide17.xml.rels><?xml version='1.0' encoding='UTF-8' standalone='yes'?>
<Relationships xmlns="http://schemas.openxmlformats.org/package/2006/relationships"><Relationship Type="http://schemas.openxmlformats.org/officeDocument/2006/relationships/slide" Target="../slides/slide17.xml" Id="Rcb60d227902b4afd"/><Relationship Type="http://schemas.openxmlformats.org/officeDocument/2006/relationships/notesMaster" Target="../notesMasters/neonplay_notesMaster1.xml" Id="R82a148637cc44bb5"/></Relationships>
</file>

<file path=ppt/notesSlides/_rels/neonplay_notesSlide18.xml.rels><?xml version='1.0' encoding='UTF-8' standalone='yes'?>
<Relationships xmlns="http://schemas.openxmlformats.org/package/2006/relationships"><Relationship Type="http://schemas.openxmlformats.org/officeDocument/2006/relationships/slide" Target="../slides/slide18.xml" Id="R0e711dc3c67e434f"/><Relationship Type="http://schemas.openxmlformats.org/officeDocument/2006/relationships/notesMaster" Target="../notesMasters/neonplay_notesMaster1.xml" Id="Rc97d9b81f8d74e95"/></Relationships>
</file>

<file path=ppt/notesSlides/_rels/neonplay_notesSlide19.xml.rels><?xml version='1.0' encoding='UTF-8' standalone='yes'?>
<Relationships xmlns="http://schemas.openxmlformats.org/package/2006/relationships"><Relationship Type="http://schemas.openxmlformats.org/officeDocument/2006/relationships/slide" Target="../slides/slide19.xml" Id="R71d259baed044b6c"/><Relationship Type="http://schemas.openxmlformats.org/officeDocument/2006/relationships/notesMaster" Target="../notesMasters/neonplay_notesMaster1.xml" Id="Rbd50e83ba14047d5"/></Relationships>
</file>

<file path=ppt/notesSlides/_rels/neonplay_notesSlide20.xml.rels><?xml version='1.0' encoding='UTF-8' standalone='yes'?>
<Relationships xmlns="http://schemas.openxmlformats.org/package/2006/relationships"><Relationship Type="http://schemas.openxmlformats.org/officeDocument/2006/relationships/slide" Target="../slides/slide20.xml" Id="R1b8e2af4d53e46f4"/><Relationship Type="http://schemas.openxmlformats.org/officeDocument/2006/relationships/notesMaster" Target="../notesMasters/neonplay_notesMaster1.xml" Id="R3766a861f68d4520"/></Relationships>
</file>

<file path=ppt/notesSlides/neonplay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segundos.</a:t>
            </a:r>
          </a:p>
          <a:p xmlns:a="http://schemas.openxmlformats.org/drawingml/2006/main">
            <a:r>
              <a:t/>
            </a:r>
          </a:p>
          <a:p xmlns:a="http://schemas.openxmlformats.org/drawingml/2006/main">
            <a:r>
              <a:t>Presentar a los integrantes y el propósito del trabajo. La exposición evalúa una tienda existente mediante pruebas, métricas y una corrección verificada. La defensa dura dieciocho minutos y deja dos minutos para preguntas.</a:t>
            </a:r>
          </a:p>
          <a:p xmlns:a="http://schemas.openxmlformats.org/drawingml/2006/main">
            <a:r>
              <a:t/>
            </a:r>
          </a:p>
          <a:p xmlns:a="http://schemas.openxmlformats.org/drawingml/2006/main">
            <a:r>
              <a:t>Fuentes: Datos académicos facilitados por el equipo. Plantilla institucional ITQ.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a:t>
            </a:r>
          </a:p>
          <a:p xmlns:a="http://schemas.openxmlformats.org/drawingml/2006/main">
            <a:r>
              <a:t/>
            </a:r>
          </a:p>
          <a:p xmlns:a="http://schemas.openxmlformats.org/drawingml/2006/main">
            <a:r>
              <a:t>El problema consiste en determinar qué tan bien responde NeonPlay a las necesidades de sus usuarios. El objetivo general es evaluar el producto mediante caja negra, medición y verificación de una corrección. Los objetivos específicos corresponden a analizar el contexto, ejecutar pruebas y comprobar una mejora. Anticipar que el funcionamiento será favorable en los casos elegidos, mientras la interacción necesita seguimiento.</a:t>
            </a:r>
          </a:p>
          <a:p xmlns:a="http://schemas.openxmlformats.org/drawingml/2006/main">
            <a:r>
              <a:t/>
            </a:r>
          </a:p>
          <a:p xmlns:a="http://schemas.openxmlformats.org/drawingml/2006/main">
            <a:r>
              <a:t>Fuentes: Informe, descripción y objetivos.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Explicar los cinco flujos. Un cliente encuentra un juego, revisa disponibilidad, gestiona el carrito, compra en demostración y consulta su pedido. El administrador mantiene el catálogo y revisa registros. La captura muestra una búsqueda real de la evaluación. Pagos reales y entrega de claves digitales quedan como ampliaciones posteriores. Esta presentación analiza la calidad de la versión existente.</a:t>
            </a:r>
          </a:p>
          <a:p xmlns:a="http://schemas.openxmlformats.org/drawingml/2006/main">
            <a:r>
              <a:t/>
            </a:r>
          </a:p>
          <a:p xmlns:a="http://schemas.openxmlformats.org/drawingml/2006/main">
            <a:r>
              <a:t>Fuentes: quality/evidence/baseline/CP07.png. README y docs/ARQUITECTURA.md.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El navegador solicita datos a Express. El servidor valida la sesión, el rol, el precio y el stock antes de guardar el pedido con Prisma. User tiene sesiones y pedidos. Game pertenece a Category y se vincula con Platform mediante GamePlatform. Order contiene OrderItem, que guarda precio y datos de la compra. La transacción protege pedido y descuento de stock. El archivado conserva el historial.</a:t>
            </a:r>
          </a:p>
          <a:p xmlns:a="http://schemas.openxmlformats.org/drawingml/2006/main">
            <a:r>
              <a:t/>
            </a:r>
          </a:p>
          <a:p xmlns:a="http://schemas.openxmlformats.org/drawingml/2006/main">
            <a:r>
              <a:t>Fuentes: server/prisma/schema.prisma. server/src/routes/orders.ts. docs/ARQUITECTURA.md.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La calidad tiene sentido a partir de necesidades. El cliente requiere una compra correcta, el administrador conservar sus registros y quien mantiene el sistema poder compilarlo. Se estimaron probabilidad e impacto de uno a tres y se usó su producto para orientar las pruebas. Esta tabla muestra cuatro ejemplos. También se consideraron respuesta del catálogo y autonomía de compra. Un riesgo no equivale a un defecto encontrado.</a:t>
            </a:r>
          </a:p>
          <a:p xmlns:a="http://schemas.openxmlformats.org/drawingml/2006/main">
            <a:r>
              <a:t/>
            </a:r>
          </a:p>
          <a:p xmlns:a="http://schemas.openxmlformats.org/drawingml/2006/main">
            <a:r>
              <a:t>Fuentes: Informe, apartado 6.3. Matriz de riesgos y casos.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Explicar brevemente el papel de cada fuente. ISO 25010 proporciona el modelo de calidad y ISO 25023 la referencia de medición. Su ficha mantiene vigente la edición de 2016 y registra confirmación en 2022. SWEBOK vincula las áreas de ingeniería e ISTQB fundamenta las técnicas empleadas. Se consultaron fuentes primarias el 10 de octubre de 2026. Las fichas públicas ISO respaldan el marco general, sin afirmar certificación del producto.</a:t>
            </a:r>
          </a:p>
          <a:p xmlns:a="http://schemas.openxmlformats.org/drawingml/2006/main">
            <a:r>
              <a:t/>
            </a:r>
          </a:p>
          <a:p xmlns:a="http://schemas.openxmlformats.org/drawingml/2006/main">
            <a:r>
              <a:t>Fuentes: https://www.iso.org/standard/78176.html</a:t>
            </a:r>
          </a:p>
          <a:p xmlns:a="http://schemas.openxmlformats.org/drawingml/2006/main">
            <a:r>
              <a:t>https://www.iso.org/standard/35747.html</a:t>
            </a:r>
          </a:p>
          <a:p xmlns:a="http://schemas.openxmlformats.org/drawingml/2006/main">
            <a:r>
              <a:t>https://www.computer.org/education/bodies-of-knowledge/software-engineering/v4</a:t>
            </a:r>
          </a:p>
          <a:p xmlns:a="http://schemas.openxmlformats.org/drawingml/2006/main">
            <a:r>
              <a:t>https://istqb.org/wp-content/uploads/2024/11/ISTQB_CTFL_Syllabus_v4.0.1.pdf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Los criterios permiten decidir si la medición cumple lo esperado. Para veinte casos, 95% exige al menos diecinueve aprobados y además ningún crítico abierto. En cinco tareas, 80% equivale a cuatro sin ayuda. Los límites de desempeño corresponden a una consulta sencilla y local, con mediana para la tendencia central y p95 para respuestas más lentas. Fiabilidad exige contenido correcto, no solo HTTP 200.</a:t>
            </a:r>
          </a:p>
          <a:p xmlns:a="http://schemas.openxmlformats.org/drawingml/2006/main">
            <a:r>
              <a:t/>
            </a:r>
          </a:p>
          <a:p xmlns:a="http://schemas.openxmlformats.org/drawingml/2006/main">
            <a:r>
              <a:t>Fuentes: Informe, apartado 6.4. https://www.iso.org/standard/35747.html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La baseline completa es afac785407c041abc13f9b8651e70293aae488d4. La mejora es f6c1a4c1db8af32cbd3311ec4c6fe2d20d9caa14. Git permite comparar ambas versiones. La evaluación utilizó Chrome 154.0.8037.98, pantalla 1440 por 1000 y PostgreSQL en 55432. Nexus empezó con stock dos y precio 39,99, y Void Command con stock cero. El esquema temporal se retiró al terminar. El repositorio privado conserva el código, las matrices y las evidencias.</a:t>
            </a:r>
          </a:p>
          <a:p xmlns:a="http://schemas.openxmlformats.org/drawingml/2006/main">
            <a:r>
              <a:t/>
            </a:r>
          </a:p>
          <a:p xmlns:a="http://schemas.openxmlformats.org/drawingml/2006/main">
            <a:r>
              <a:t>Fuentes: https://github.com/orlandotrujillo028-debug/NeonPlay</a:t>
            </a:r>
          </a:p>
          <a:p xmlns:a="http://schemas.openxmlformats.org/drawingml/2006/main">
            <a:r>
              <a:t>quality/evidence/environment.json. cleanup.json.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Presentar los conteos de la baseline aceptada. Los veinte casos incluyen datos válidos, inválidos y límites. Cada registro conserva precondiciones, pasos, esperado, obtenido y evidencia. Playwright opera la interfaz y algunas consultas HTTP comprueban el servidor. La cobertura se refiere a cinco flujos, sin equivalencia con cobertura de líneas. El ensayo inicial del ejecutor tuvo errores de preparación que se corrigieron y conservaron por separado.</a:t>
            </a:r>
          </a:p>
          <a:p xmlns:a="http://schemas.openxmlformats.org/drawingml/2006/main">
            <a:r>
              <a:t/>
            </a:r>
          </a:p>
          <a:p xmlns:a="http://schemas.openxmlformats.org/drawingml/2006/main">
            <a:r>
              <a:t>Fuentes: quality/matrices/casos_baseline.csv. quality/evidence/baseline/results.json. instrumentacion-01/results.json.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Justificar el diseño mediante ejemplos. CP02 distingue el correo inválido. CP13 intenta superar la frontera del stock. CP05 verifica el paso de sesión abierta a cerrada. CP19 distingue un juego con pedidos de uno sin relaciones. En CP20 las particiones se organizan por rol. El diseño ayuda a elegir condiciones relevantes y reproducibles en lugar de hacer clic sin un resultado esperado.</a:t>
            </a:r>
          </a:p>
          <a:p xmlns:a="http://schemas.openxmlformats.org/drawingml/2006/main">
            <a:r>
              <a:t/>
            </a:r>
          </a:p>
          <a:p xmlns:a="http://schemas.openxmlformats.org/drawingml/2006/main">
            <a:r>
              <a:t>Fuentes: https://istqb.org/wp-content/uploads/2024/11/ISTQB_CTFL_Syllabus_v4.0.1.pdf</a:t>
            </a:r>
          </a:p>
          <a:p xmlns:a="http://schemas.openxmlformats.org/drawingml/2006/main">
            <a:r>
              <a:t>quality/matrices/casos_baseline.csv.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65 segundos.</a:t>
            </a:r>
          </a:p>
          <a:p xmlns:a="http://schemas.openxmlformats.org/drawingml/2006/main">
            <a:r>
              <a:t/>
            </a:r>
          </a:p>
          <a:p xmlns:a="http://schemas.openxmlformats.org/drawingml/2006/main">
            <a:r>
              <a:t>CP15 añadió una unidad de Nexus y confirmó la compra. El pedido mostró 39,99 y la API confirmó precio de línea conservado y stock uno. CP16 intentó comprar Void Command agotado. La interfaz deshabilitó la acción y el servidor rechazó una solicitud directa con 409, sin crear otro pedido. CP13 había comprobado el límite del carrito y el total de dos unidades de 79,98. Estos resultados responden al riesgo de importes o existencias incorrectos.</a:t>
            </a:r>
          </a:p>
          <a:p xmlns:a="http://schemas.openxmlformats.org/drawingml/2006/main">
            <a:r>
              <a:t/>
            </a:r>
          </a:p>
          <a:p xmlns:a="http://schemas.openxmlformats.org/drawingml/2006/main">
            <a:r>
              <a:t>Fuentes: CP13, CP15 y CP16. quality/evidence/baseline/CP15.png.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CP17 creó el juego ficticio, lo consultó, cambió su precio a 31,99 y lo eliminó. CP18 rechazó precio cero y stock negativo. CP19 archivó Nexus con pedido y conservó el historial, después comprobó su restauración. CP20 denegó operaciones administrativas al cliente con 403 y sin sesión con 401. La protección se comprueba en el servidor, además de la navegación visible.</a:t>
            </a:r>
          </a:p>
          <a:p xmlns:a="http://schemas.openxmlformats.org/drawingml/2006/main">
            <a:r>
              <a:t/>
            </a:r>
          </a:p>
          <a:p xmlns:a="http://schemas.openxmlformats.org/drawingml/2006/main">
            <a:r>
              <a:t>Fuentes: CP17 a CP20. quality/evidence/baseline/crud-actualizado.png.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Esta es la síntesis de los cuatro atributos. La aprobación funcional cubre los casos elegidos y la interacción mide autonomía de una persona. El catálogo cumplió los umbrales de mediana y p95, y sus treinta respuestas fueron correctas. D01 fue el único defecto confirmado: severidad media, cerrado tras verificar. O01 sigue abierta como observación de interacción. La consigna imprime por diez, por lo que se declara el uso de por cien para porcentajes.</a:t>
            </a:r>
          </a:p>
          <a:p xmlns:a="http://schemas.openxmlformats.org/drawingml/2006/main">
            <a:r>
              <a:t/>
            </a:r>
          </a:p>
          <a:p xmlns:a="http://schemas.openxmlformats.org/drawingml/2006/main">
            <a:r>
              <a:t>Fuentes: Informe, apartados 6.7 a 6.10. quality/matrices/metricas.csv.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El endpoint fue GET del catálogo con orden ascendente. Tras cinco calentamientos se ejecutaron treinta consultas con pausas de 250 milisegundos. El tiempo incluye recepción y validación del JSON. Promedio 3,67, mediana 3,60 y p95 4,45 milisegundos. El p95 toma el rango más próximo de la muestra ordenada. Cada respuesta tuvo ocho juegos en el orden esperado. El resultado no incorpora la red de un cliente remoto ni estrés con usuarios simultáneos.</a:t>
            </a:r>
          </a:p>
          <a:p xmlns:a="http://schemas.openxmlformats.org/drawingml/2006/main">
            <a:r>
              <a:t/>
            </a:r>
          </a:p>
          <a:p xmlns:a="http://schemas.openxmlformats.org/drawingml/2006/main">
            <a:r>
              <a:t>Fuentes: quality/evidence/performance.json. quality/matrices/rendimiento.csv.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P01 confirmó que intentó las cinco tareas. Las tres primeras se completaron sin ayuda y las dos últimas necesitaron ayuda. La tasa es tres sobre cinco por cien, sesenta por ciento. No se confirmó la finalización posterior de las asistidas. No hubo cronometraje ni observación directa. La persona conoce el proyecto, de modo que esta muestra no permite generalizar. O01 propone investigar compra e historial con participantes nuevos y registrar las causas antes de modificar la interfaz.</a:t>
            </a:r>
          </a:p>
          <a:p xmlns:a="http://schemas.openxmlformats.org/drawingml/2006/main">
            <a:r>
              <a:t/>
            </a:r>
          </a:p>
          <a:p xmlns:a="http://schemas.openxmlformats.org/drawingml/2006/main">
            <a:r>
              <a:t>Fuentes: quality/evidence/interaction.json. quality/matrices/interaccion.csv.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El hook prebuild intentaba reemplazar query_engine-windows.dll.node mientras la API lo usaba. Eso bloqueaba el comando habitual de compilación. La severidad fue media porque existía una alternativa de compilación directa. El script nuevo comprueba esquema, versión, presencia del motor e inicialización. Solo genera cuando hace falta. La comparación ignora espacios y comentarios y conserva valores entre comillas. El build pasó con la API abierta y la regresión confirmó el cierre.</a:t>
            </a:r>
          </a:p>
          <a:p xmlns:a="http://schemas.openxmlformats.org/drawingml/2006/main">
            <a:r>
              <a:t/>
            </a:r>
          </a:p>
          <a:p xmlns:a="http://schemas.openxmlformats.org/drawingml/2006/main">
            <a:r>
              <a:t>Fuentes: quality/evidence/baseline-build.txt. improvement-build.txt. Commit f6c1a4c1db8af32cbd3311ec4c6fe2d20d9caa14.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65 segundos.</a:t>
            </a:r>
          </a:p>
          <a:p xmlns:a="http://schemas.openxmlformats.org/drawingml/2006/main">
            <a:r>
              <a:t/>
            </a:r>
          </a:p>
          <a:p xmlns:a="http://schemas.openxmlformats.org/drawingml/2006/main">
            <a:r>
              <a:t>Los tres casos críticos pasaron después de la corrección. También se repitió la suite de veinte casos. CP09 necesitó esperar la actualización de la URL, su repetición pasó y ambos intentos se conservaron. Las veintiséis pruebas complementarias corresponden a veinte de API y seis de carrito y fechas. No se suman a los veinte casos para elevar el porcentaje. La comparación de versiones muestra que la corrección afecta scripts y documentación, no reglas de negocio.</a:t>
            </a:r>
          </a:p>
          <a:p xmlns:a="http://schemas.openxmlformats.org/drawingml/2006/main">
            <a:r>
              <a:t/>
            </a:r>
          </a:p>
          <a:p xmlns:a="http://schemas.openxmlformats.org/drawingml/2006/main">
            <a:r>
              <a:t>Fuentes: quality/matrices/regresion.csv. regression/results.json. regression-retry/results.json. unit-integration.txt.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65 segundos.</a:t>
            </a:r>
          </a:p>
          <a:p xmlns:a="http://schemas.openxmlformats.org/drawingml/2006/main">
            <a:r>
              <a:t/>
            </a:r>
          </a:p>
          <a:p xmlns:a="http://schemas.openxmlformats.org/drawingml/2006/main">
            <a:r>
              <a:t>D01 cuenta con una corrección verificada. O01 necesita diagnóstico. El siguiente piloto debe observar usuarios nuevos, registrar dónde solicitan ayuda y medir las tareas. Si el diagnóstico lo respalda, pueden probarse indicaciones de compra o un acceso más visible al historial. Esas alternativas todavía no son causas demostradas. Tras el cambio se repite el piloto y los casos críticos. Antes de producción se requiere otro protocolo de carga, seguridad y accesibilidad.</a:t>
            </a:r>
          </a:p>
          <a:p xmlns:a="http://schemas.openxmlformats.org/drawingml/2006/main">
            <a:r>
              <a:t/>
            </a:r>
          </a:p>
          <a:p xmlns:a="http://schemas.openxmlformats.org/drawingml/2006/main">
            <a:r>
              <a:t>Fuentes: Informe, apartado 6.12. quality/matrices/defectos_y_observaciones.csv.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segundos.</a:t>
            </a:r>
          </a:p>
          <a:p xmlns:a="http://schemas.openxmlformats.org/drawingml/2006/main">
            <a:r>
              <a:t/>
            </a:r>
          </a:p>
          <a:p xmlns:a="http://schemas.openxmlformats.org/drawingml/2006/main">
            <a:r>
              <a:t>Relacionar el cierre con los tres objetivos. Se definió la versión, los riesgos y los criterios. Se aplicaron pruebas y mediciones que muestran resultados favorables de negocio y una autonomía de sesenta por ciento. Se verificó una corrección y se dejó un plan con acciones medibles. La evaluación respalda el producto en los escenarios elegidos y conserva límites claros: muestra corta de rendimiento y un participante por autorreporte.</a:t>
            </a:r>
          </a:p>
          <a:p xmlns:a="http://schemas.openxmlformats.org/drawingml/2006/main">
            <a:r>
              <a:t/>
            </a:r>
          </a:p>
          <a:p xmlns:a="http://schemas.openxmlformats.org/drawingml/2006/main">
            <a:r>
              <a:t>Fuentes: Informe, discusión y conclusiones.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 segundos.</a:t>
            </a:r>
          </a:p>
          <a:p xmlns:a="http://schemas.openxmlformats.org/drawingml/2006/main">
            <a:r>
              <a:t/>
            </a:r>
          </a:p>
          <a:p xmlns:a="http://schemas.openxmlformats.org/drawingml/2006/main">
            <a:r>
              <a:t>Reservar dos minutos para preguntas. Un 100% de casos describe el alcance probado. El rendimiento es local. El piloto distingue tareas con y sin ayuda. El pedido conserva el precio en OrderItem. D01 se cierra con build exitoso y regresión. O01 sigue pendiente de investigar. Los datos de prueba son ficticios y el esquema temporal fue retirado.</a:t>
            </a:r>
          </a:p>
          <a:p xmlns:a="http://schemas.openxmlformats.org/drawingml/2006/main">
            <a:r>
              <a:t/>
            </a:r>
          </a:p>
          <a:p xmlns:a="http://schemas.openxmlformats.org/drawingml/2006/main">
            <a:r>
              <a:t>Fuentes: Evaluación de NeonPlay del 10/10/2026. Matrices y evidencias en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F590D84-79D3-4C28-8272-EDD8FDDBF972}"/>
              </a:ext>
            </a:extLst>
          </p:cNvPr>
          <p:cNvPicPr>
            <a:picLocks noChangeAspect="1"/>
          </p:cNvPicPr>
          <p:nvPr userDrawn="1"/>
        </p:nvPicPr>
        <p:blipFill>
          <a:blip r:embed="rId2"/>
          <a:stretch>
            <a:fillRect/>
          </a:stretch>
        </p:blipFill>
        <p:spPr>
          <a:xfrm>
            <a:off x="0" y="15240"/>
            <a:ext cx="12192000" cy="6827520"/>
          </a:xfrm>
          <a:prstGeom prst="rect">
            <a:avLst/>
          </a:prstGeom>
        </p:spPr>
      </p:pic>
    </p:spTree>
    <p:extLst>
      <p:ext uri="{BB962C8B-B14F-4D97-AF65-F5344CB8AC3E}">
        <p14:creationId xmlns:p14="http://schemas.microsoft.com/office/powerpoint/2010/main" val="1556285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792C4263-B061-4225-864A-EFFE32EA01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256696"/>
            <a:ext cx="12192000" cy="6344608"/>
          </a:xfrm>
          <a:prstGeom prst="rect">
            <a:avLst/>
          </a:prstGeom>
        </p:spPr>
      </p:pic>
    </p:spTree>
    <p:extLst>
      <p:ext uri="{BB962C8B-B14F-4D97-AF65-F5344CB8AC3E}">
        <p14:creationId xmlns:p14="http://schemas.microsoft.com/office/powerpoint/2010/main" val="1612336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F81EDC2-C54D-4F06-825E-C4EEE6520EB4}"/>
              </a:ext>
            </a:extLst>
          </p:cNvPr>
          <p:cNvPicPr>
            <a:picLocks noChangeAspect="1"/>
          </p:cNvPicPr>
          <p:nvPr userDrawn="1"/>
        </p:nvPicPr>
        <p:blipFill>
          <a:blip r:embed="rId2"/>
          <a:stretch>
            <a:fillRect/>
          </a:stretch>
        </p:blipFill>
        <p:spPr>
          <a:xfrm>
            <a:off x="0" y="14899"/>
            <a:ext cx="12192000" cy="6828201"/>
          </a:xfrm>
          <a:prstGeom prst="rect">
            <a:avLst/>
          </a:prstGeom>
        </p:spPr>
      </p:pic>
    </p:spTree>
    <p:extLst>
      <p:ext uri="{BB962C8B-B14F-4D97-AF65-F5344CB8AC3E}">
        <p14:creationId xmlns:p14="http://schemas.microsoft.com/office/powerpoint/2010/main" val="20730232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235B0E-40F3-FE48-85C8-7BAD90315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EC" dirty="0"/>
          </a:p>
        </p:txBody>
      </p:sp>
      <p:sp>
        <p:nvSpPr>
          <p:cNvPr id="3" name="Marcador de texto 2">
            <a:extLst>
              <a:ext uri="{FF2B5EF4-FFF2-40B4-BE49-F238E27FC236}">
                <a16:creationId xmlns:a16="http://schemas.microsoft.com/office/drawing/2014/main" id="{E6A252DF-D040-3140-AE95-17871B8C9C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s-ES"/>
              <a:t>Editar los estilos de texto del patrón
Segundo nivel
Tercer nivel
Cuarto nivel
Quinto nivel</a:t>
            </a:r>
            <a:endParaRPr lang="es-EC"/>
          </a:p>
        </p:txBody>
      </p:sp>
      <p:sp>
        <p:nvSpPr>
          <p:cNvPr id="4" name="Marcador de fecha 3">
            <a:extLst>
              <a:ext uri="{FF2B5EF4-FFF2-40B4-BE49-F238E27FC236}">
                <a16:creationId xmlns:a16="http://schemas.microsoft.com/office/drawing/2014/main" id="{81FA9B13-6189-2D41-991A-58E300C56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EB83C7-CE7D-EE43-931B-A983B2AE7CF3}" type="datetimeFigureOut">
              <a:rPr lang="es-EC" smtClean="0"/>
              <a:t>8/5/2023</a:t>
            </a:fld>
            <a:endParaRPr lang="es-EC"/>
          </a:p>
        </p:txBody>
      </p:sp>
      <p:sp>
        <p:nvSpPr>
          <p:cNvPr id="5" name="Marcador de pie de página 4">
            <a:extLst>
              <a:ext uri="{FF2B5EF4-FFF2-40B4-BE49-F238E27FC236}">
                <a16:creationId xmlns:a16="http://schemas.microsoft.com/office/drawing/2014/main" id="{61D491B9-92E6-0B4C-8EE2-6EEF6AD05A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831DFC90-A7E4-7B43-913E-1B358C958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94400E-63C4-0F42-997B-0D037BB11E5E}" type="slidenum">
              <a:rPr lang="es-EC" smtClean="0"/>
              <a:t>‹Nº›</a:t>
            </a:fld>
            <a:endParaRPr lang="es-EC"/>
          </a:p>
        </p:txBody>
      </p:sp>
    </p:spTree>
    <p:extLst>
      <p:ext uri="{BB962C8B-B14F-4D97-AF65-F5344CB8AC3E}">
        <p14:creationId xmlns:p14="http://schemas.microsoft.com/office/powerpoint/2010/main" val="890400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Type="http://schemas.openxmlformats.org/officeDocument/2006/relationships/notesSlide" Target="../notesSlides/neonplay_notesSlide1.xml" Id="npNotes"/></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2.xml" Id="npNotes"/></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3.png" Id="npRel2"/><Relationship Type="http://schemas.openxmlformats.org/officeDocument/2006/relationships/notesSlide" Target="../notesSlides/neonplay_notesSlide3.xml" Id="npNotes"/></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4.xml" Id="npNotes"/></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5.xml" Id="npNotes"/></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6.xml" Id="npNotes"/></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7.xml" Id="npNotes"/></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8.xml" Id="npNotes"/></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9.xml" Id="npNotes"/></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0.xml" Id="npNotes"/></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4.png" Id="npRel2"/><Relationship Type="http://schemas.openxmlformats.org/officeDocument/2006/relationships/notesSlide" Target="../notesSlides/neonplay_notesSlide11.xml" Id="npNotes"/></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5.png" Id="npRel2"/><Relationship Type="http://schemas.openxmlformats.org/officeDocument/2006/relationships/notesSlide" Target="../notesSlides/neonplay_notesSlide12.xml" Id="npNotes"/></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3.xml" Id="npNotes"/></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chart" Target="charts/neonplay_chart1.xml" Id="npRel2"/><Relationship Type="http://schemas.openxmlformats.org/officeDocument/2006/relationships/notesSlide" Target="../notesSlides/neonplay_notesSlide14.xml" Id="npNotes"/></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5.xml" Id="npNotes"/></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6.xml" Id="npNotes"/></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7.xml" Id="npNotes"/></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8.xml" Id="npNotes"/></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9.xml" Id="npNotes"/></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Type="http://schemas.openxmlformats.org/officeDocument/2006/relationships/notesSlide" Target="../notesSlides/neonplay_notesSlide20.xml" Id="npNotes"/></Relationships>
</file>

<file path=ppt/slides/charts/_rels/neonplay_chart1.xml.rels><Relationships xmlns="http://schemas.openxmlformats.org/package/2006/relationships"><Relationship Id="rIdChartSnapshot1" Type="http://schemas.openxmlformats.org/officeDocument/2006/relationships/package" Target="../../embeddings/chart-data-snapshot-001.xlsx"/></Relationships>
</file>

<file path=ppt/slides/charts/neonplay_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solidFill>
                  <a:srgbClr val="000000"/>
                </a:solidFill>
              </a:rPr>
              <a:t>Tiempo HTTP en milisegundos</a:t>
            </a:r>
          </a:p>
        </c:rich>
      </c:tx>
      <c:overlay val="0"/>
      <c:txPr>
        <a:bodyPr xmlns:a="http://schemas.openxmlformats.org/drawingml/2006/main" anchorCtr="1"/>
        <a:lstStyle xmlns:a="http://schemas.openxmlformats.org/drawingml/2006/main"/>
        <a:p xmlns:a="http://schemas.openxmlformats.org/drawingml/2006/main">
          <a:pPr>
            <a:defRPr sz="2025">
              <a:solidFill>
                <a:srgbClr val="000000"/>
              </a:solidFill>
            </a:defRPr>
          </a:pPr>
        </a:p>
      </c:txPr>
    </c:title>
    <c:plotArea>
      <c:barChart>
        <c:barDir val="col"/>
        <c:varyColors val="0"/>
        <c:ser>
          <c:idx val="0"/>
          <c:order val="0"/>
          <c:tx>
            <c:v>Milisegundos</c:v>
          </c:tx>
          <c:spPr>
            <a:solidFill xmlns:a="http://schemas.openxmlformats.org/drawingml/2006/main">
              <a:srgbClr val="EA293C"/>
            </a:solidFill>
          </c:spPr>
          <c:invertIfNegative val="0"/>
          <c:cat>
            <c:strRef>
              <c:f>'Chart Data'!$A$2:$A$4</c:f>
              <c:strCache>
                <c:ptCount val="3"/>
                <c:pt idx="0">
                  <c:v>Promedio</c:v>
                </c:pt>
                <c:pt idx="1">
                  <c:v>Mediana</c:v>
                </c:pt>
                <c:pt idx="2">
                  <c:v>p95</c:v>
                </c:pt>
              </c:strCache>
            </c:strRef>
          </c:cat>
          <c:val>
            <c:numRef>
              <c:f>'Chart Data'!$B$2:$B$4</c:f>
              <c:numCache>
                <c:formatCode>0</c:formatCode>
                <c:ptCount val="3"/>
                <c:pt idx="0">
                  <c:v>3.67</c:v>
                </c:pt>
                <c:pt idx="1">
                  <c:v>3.6</c:v>
                </c:pt>
                <c:pt idx="2">
                  <c:v>4.45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solidFill>
                    <a:srgbClr val="000000"/>
                  </a:solidFil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defRPr>
            </a:pPr>
          </a:p>
        </c:txPr>
        <c:crossAx val="48672768"/>
      </c:catAx>
      <c:valAx>
        <c:axId val="48672768"/>
        <c:scaling>
          <c:orientation val="minMax"/>
          <c:max val="5"/>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CDA4AB4-C823-4BF9-A30D-E6D3030876DC}"/>
              </a:ext>
            </a:extLst>
          </p:cNvPr>
          <p:cNvSpPr>
            <a:spLocks noGrp="1"/>
          </p:cNvSpPr>
          <p:nvPr>
            <p:ph type="ctrTitle" idx="4294967295"/>
          </p:nvPr>
        </p:nvSpPr>
        <p:spPr>
          <a:xfrm>
            <a:off x="7678614" y="2718777"/>
            <a:ext cx="3774831" cy="1420446"/>
          </a:xfrm>
        </p:spPr>
        <p:txBody>
          <a:bodyPr/>
          <a:lstStyle/>
          <a:p>
            <a:endParaRPr lang="es-EC" dirty="0"/>
          </a:p>
        </p:txBody>
      </p:sp>
      <p:sp>
        <p:nvSpPr>
          <p:cNvPr id="9" name="np:Portada">
            <a:extLst>
              <a:ext uri="{FF2B5EF4-FFF2-40B4-BE49-F238E27FC236}">
                <a16:creationId xmlns:a16="http://schemas.microsoft.com/office/drawing/2014/main" id="{23DE3014-9CBE-4E23-AD26-67CC5428C61E}"/>
              </a:ext>
            </a:extLst>
          </p:cNvPr>
          <p:cNvSpPr>
            <a:spLocks noGrp="1"/>
          </p:cNvSpPr>
          <p:nvPr/>
        </p:nvSpPr>
        <p:spPr>
          <a:xfrm>
            <a:off x="7620000" y="2352675"/>
            <a:ext cx="3762375" cy="203835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Calidad del</a:t>
            </a:r>
          </a:p>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producto</a:t>
            </a:r>
          </a:p>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a:t>
            </a:r>
          </a:p>
        </p:txBody>
      </p:sp>
      <p:sp>
        <p:nvSpPr>
          <p:cNvPr id="10" name="np:Integrantes">
            <a:extLst>
              <a:ext uri="{FF2B5EF4-FFF2-40B4-BE49-F238E27FC236}">
                <a16:creationId xmlns:a16="http://schemas.microsoft.com/office/drawing/2014/main" id="{F1BAE1AF-C779-4FE7-871C-27A5D29360EB}"/>
              </a:ext>
            </a:extLst>
          </p:cNvPr>
          <p:cNvSpPr>
            <a:spLocks noGrp="1"/>
          </p:cNvSpPr>
          <p:nvPr/>
        </p:nvSpPr>
        <p:spPr>
          <a:xfrm>
            <a:off x="7620000" y="4552950"/>
            <a:ext cx="3762375" cy="590550"/>
          </a:xfrm>
          <a:prstGeom prst="rect">
            <a:avLst/>
          </a:prstGeom>
          <a:noFill/>
          <a:ln w="0">
            <a:noFill/>
          </a:ln>
        </p:spPr>
        <p:txBody>
          <a:bodyPr lIns="0" tIns="0" rIns="0" bIns="0" anchor="t">
            <a:noAutofit/>
          </a:bodyPr>
          <a:lstStyle>
            <a:defPPr algn="l">
              <a:defRPr sz="1800" b="0">
                <a:solidFill>
                  <a:srgbClr val="000000"/>
                </a:solidFill>
                <a:latin typeface="Calibri"/>
                <a:ea typeface="Calibri"/>
                <a:cs typeface="Calibri"/>
              </a:defRPr>
            </a:defPPr>
          </a:lstStyle>
          <a:p>
            <a:pPr algn="l">
              <a:defRPr sz="1800" b="0">
                <a:solidFill>
                  <a:srgbClr val="000000"/>
                </a:solidFill>
                <a:latin typeface="Calibri"/>
                <a:ea typeface="Calibri"/>
                <a:cs typeface="Calibri"/>
              </a:defRPr>
            </a:pPr>
            <a:r>
              <a:rPr sz="1800" b="0">
                <a:solidFill>
                  <a:srgbClr val="000000"/>
                </a:solidFill>
                <a:latin typeface="Calibri"/>
                <a:ea typeface="Calibri"/>
                <a:cs typeface="Calibri"/>
              </a:rPr>
              <a:t>Kevin Adrián Quiñonez Rocha</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Orlando Eloy Trujillo</a:t>
            </a:r>
          </a:p>
        </p:txBody>
      </p:sp>
      <p:sp>
        <p:nvSpPr>
          <p:cNvPr id="11" name="np:Datos">
            <a:extLst>
              <a:ext uri="{FF2B5EF4-FFF2-40B4-BE49-F238E27FC236}">
                <a16:creationId xmlns:a16="http://schemas.microsoft.com/office/drawing/2014/main" id="{54AC1C02-2153-4474-8C2A-71C5B7EADC1E}"/>
              </a:ext>
            </a:extLst>
          </p:cNvPr>
          <p:cNvSpPr>
            <a:spLocks noGrp="1"/>
          </p:cNvSpPr>
          <p:nvPr/>
        </p:nvSpPr>
        <p:spPr>
          <a:xfrm>
            <a:off x="7620000" y="5219700"/>
            <a:ext cx="3762375" cy="1219200"/>
          </a:xfrm>
          <a:prstGeom prst="rect">
            <a:avLst/>
          </a:prstGeom>
          <a:noFill/>
          <a:ln w="0">
            <a:noFill/>
          </a:ln>
        </p:spPr>
        <p:txBody>
          <a:bodyPr lIns="0" tIns="0" rIns="0" bIns="0" anchor="t">
            <a:noAutofit/>
          </a:bodyPr>
          <a:lstStyle>
            <a:defPPr algn="l">
              <a:defRPr sz="1800" b="0">
                <a:solidFill>
                  <a:srgbClr val="000000"/>
                </a:solidFill>
                <a:latin typeface="Calibri"/>
                <a:ea typeface="Calibri"/>
                <a:cs typeface="Calibri"/>
              </a:defRPr>
            </a:defPPr>
          </a:lstStyle>
          <a:p>
            <a:pPr algn="l">
              <a:defRPr sz="1800" b="0">
                <a:solidFill>
                  <a:srgbClr val="000000"/>
                </a:solidFill>
                <a:latin typeface="Calibri"/>
                <a:ea typeface="Calibri"/>
                <a:cs typeface="Calibri"/>
              </a:defRPr>
            </a:pPr>
            <a:r>
              <a:rPr sz="1800" b="0">
                <a:solidFill>
                  <a:srgbClr val="000000"/>
                </a:solidFill>
                <a:latin typeface="Calibri"/>
                <a:ea typeface="Calibri"/>
                <a:cs typeface="Calibri"/>
              </a:rPr>
              <a:t>Desarrollo de Software</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Nivel 4</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Ing. Sebastián Landázuri G</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15 de octubre de 2026</a:t>
            </a:r>
          </a:p>
        </p:txBody>
      </p:sp>
    </p:spTree>
    <p:extLst>
      <p:ext uri="{BB962C8B-B14F-4D97-AF65-F5344CB8AC3E}">
        <p14:creationId xmlns:p14="http://schemas.microsoft.com/office/powerpoint/2010/main" val="41731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DE4C2643-6CF8-46AA-AF22-56DCEFAAC0A8}"/>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Propósito de la evaluación</a:t>
            </a:r>
          </a:p>
        </p:txBody>
      </p:sp>
      <p:sp>
        <p:nvSpPr>
          <p:cNvPr id="5" name="np:Contenido">
            <a:extLst>
              <a:ext uri="{FF2B5EF4-FFF2-40B4-BE49-F238E27FC236}">
                <a16:creationId xmlns:a16="http://schemas.microsoft.com/office/drawing/2014/main" id="{6237FFC3-648D-49E1-B236-1430F6148025}"/>
              </a:ext>
            </a:extLst>
          </p:cNvPr>
          <p:cNvSpPr>
            <a:spLocks noGrp="1"/>
          </p:cNvSpPr>
          <p:nvPr/>
        </p:nvSpPr>
        <p:spPr>
          <a:xfrm>
            <a:off x="523875" y="2362200"/>
            <a:ext cx="9906000" cy="3429000"/>
          </a:xfrm>
          <a:prstGeom prst="rect">
            <a:avLst/>
          </a:prstGeom>
          <a:noFill/>
          <a:ln w="0">
            <a:noFill/>
          </a:ln>
        </p:spPr>
        <p:txBody>
          <a:bodyPr lIns="0" tIns="0" rIns="0" bIns="0" anchor="t">
            <a:noAutofit/>
          </a:bodyPr>
          <a:lstStyle>
            <a:defPPr algn="l">
              <a:defRPr sz="2800" b="0">
                <a:solidFill>
                  <a:srgbClr val="000000"/>
                </a:solidFill>
                <a:latin typeface="Calibri"/>
                <a:ea typeface="Calibri"/>
                <a:cs typeface="Calibri"/>
              </a:defRPr>
            </a:defPPr>
          </a:lstStyle>
          <a:p>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Comprobar los recorridos principales de NeonPlay.</a:t>
            </a:r>
          </a:p>
          <a:p>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Medir cuatro atributos con criterios definidos.</a:t>
            </a:r>
          </a:p>
          <a:p>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Verificar una corrección y proponer seguimiento.</a:t>
            </a:r>
          </a:p>
        </p:txBody>
      </p:sp>
      <p:sp>
        <p:nvSpPr>
          <p:cNvPr id="6" name="np:Detalle">
            <a:extLst>
              <a:ext uri="{FF2B5EF4-FFF2-40B4-BE49-F238E27FC236}">
                <a16:creationId xmlns:a16="http://schemas.microsoft.com/office/drawing/2014/main" id="{1F5FF064-0785-4C9C-B79A-1B2DD5EB3EC7}"/>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La evidencia permite valorar el funcionamiento y la autonomía de uso.</a:t>
            </a:r>
          </a:p>
        </p:txBody>
      </p:sp>
    </p:spTree>
    <p:extLst>
      <p:ext uri="{BB962C8B-B14F-4D97-AF65-F5344CB8AC3E}">
        <p14:creationId xmlns:p14="http://schemas.microsoft.com/office/powerpoint/2010/main" val="234165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56F18C29-41D5-4751-B4E8-80B12B51586F}"/>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 y su alcance</a:t>
            </a:r>
          </a:p>
        </p:txBody>
      </p:sp>
      <p:sp>
        <p:nvSpPr>
          <p:cNvPr id="5" name="np:Contenido">
            <a:extLst>
              <a:ext uri="{FF2B5EF4-FFF2-40B4-BE49-F238E27FC236}">
                <a16:creationId xmlns:a16="http://schemas.microsoft.com/office/drawing/2014/main" id="{90D5FBF6-4323-45D6-B29E-99A46CCCF475}"/>
              </a:ext>
            </a:extLst>
          </p:cNvPr>
          <p:cNvSpPr>
            <a:spLocks noGrp="1"/>
          </p:cNvSpPr>
          <p:nvPr/>
        </p:nvSpPr>
        <p:spPr>
          <a:xfrm>
            <a:off x="523875" y="2305050"/>
            <a:ext cx="4381500" cy="34290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Registro y sesión</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Catálogo y detalle</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Carrito</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Compra e historial</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Administración</a:t>
            </a:r>
          </a:p>
        </p:txBody>
      </p:sp>
      <p:pic>
        <p:nvPicPr>
          <p:cNvPr id="6" name="">
            <a:extLst>
              <a:ext uri="{FF2B5EF4-FFF2-40B4-BE49-F238E27FC236}">
                <a16:creationId xmlns:a16="http://schemas.microsoft.com/office/drawing/2014/main" id="{64C99D32-D2AD-4B5D-8DE7-00584FC66110}"/>
              </a:ext>
            </a:extLst>
          </p:cNvPr>
          <p:cNvPicPr>
            <a:picLocks noChangeAspect="1"/>
          </p:cNvPicPr>
          <p:nvPr/>
        </p:nvPicPr>
        <p:blipFill>
          <a:blip r:embed="npRel2"/>
          <a:stretch/>
        </p:blipFill>
        <p:spPr>
          <a:xfrm>
            <a:off x="6048935" y="2295525"/>
            <a:ext cx="3580279" cy="3381375"/>
          </a:xfrm>
          <a:prstGeom prst="rect">
            <a:avLst/>
          </a:prstGeom>
        </p:spPr>
      </p:pic>
      <p:sp>
        <p:nvSpPr>
          <p:cNvPr id="7" name="np:Detalle">
            <a:extLst>
              <a:ext uri="{FF2B5EF4-FFF2-40B4-BE49-F238E27FC236}">
                <a16:creationId xmlns:a16="http://schemas.microsoft.com/office/drawing/2014/main" id="{06B81790-2D71-4C00-8420-29EF512F5472}"/>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Tienda de videojuegos con checkout de demostración.</a:t>
            </a:r>
          </a:p>
        </p:txBody>
      </p:sp>
    </p:spTree>
    <p:extLst>
      <p:ext uri="{BB962C8B-B14F-4D97-AF65-F5344CB8AC3E}">
        <p14:creationId xmlns:p14="http://schemas.microsoft.com/office/powerpoint/2010/main" val="2341651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6706016A-9FB1-42AD-9E0B-41511F1FE64D}"/>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Arquitectura y datos</a:t>
            </a:r>
          </a:p>
        </p:txBody>
      </p:sp>
      <p:graphicFrame>
        <p:nvGraphicFramePr>
          <p:cNvPr id="5" name="">
            <a:extLst>
              <a:ext uri="{FF2B5EF4-FFF2-40B4-BE49-F238E27FC236}">
                <a16:creationId xmlns:a16="http://schemas.microsoft.com/office/drawing/2014/main" id="{3376F6A2-D97C-4EFC-9ACF-EDCE9D773C1C}"/>
              </a:ext>
            </a:extLst>
          </p:cNvPr>
          <p:cNvGraphicFramePr/>
          <p:nvPr/>
        </p:nvGraphicFramePr>
        <p:xfrm>
          <a:off x="523875" y="2286000"/>
          <a:ext cx="9906000" cy="3000375"/>
        </p:xfrm>
        <a:graphic>
          <a:graphicData uri="http://schemas.openxmlformats.org/drawingml/2006/table">
            <a:tbl>
              <a:tblPr/>
              <a:tblGrid>
                <a:gridCol w="2238375"/>
                <a:gridCol w="3667125"/>
                <a:gridCol w="4000500"/>
              </a:tblGrid>
              <a:tr h="750094">
                <a:tc>
                  <a:txBody>
                    <a:bodyPr lIns="57150" tIns="57150" rIns="57150" bIns="57150"/>
                    <a:lstStyle/>
                    <a:p>
                      <a:pPr algn="l"/>
                      <a:r>
                        <a:rPr sz="2325" b="1">
                          <a:solidFill>
                            <a:srgbClr val="000000"/>
                          </a:solidFill>
                          <a:latin typeface="Calibri"/>
                          <a:ea typeface="Calibri"/>
                          <a:cs typeface="Calibri"/>
                        </a:rPr>
                        <a:t>Capa</a:t>
                      </a:r>
                    </a:p>
                  </a:txBody>
                  <a:tcPr marL="91440" marR="91440" marT="45720" marB="45720" anchor="ctr">
                    <a:solidFill>
                      <a:srgbClr val="EBEBEB"/>
                    </a:solidFill>
                  </a:tcPr>
                </a:tc>
                <a:tc>
                  <a:txBody>
                    <a:bodyPr lIns="57150" tIns="57150" rIns="57150" bIns="57150"/>
                    <a:lstStyle/>
                    <a:p>
                      <a:pPr algn="l"/>
                      <a:r>
                        <a:rPr sz="2325" b="1">
                          <a:solidFill>
                            <a:srgbClr val="000000"/>
                          </a:solidFill>
                          <a:latin typeface="Calibri"/>
                          <a:ea typeface="Calibri"/>
                          <a:cs typeface="Calibri"/>
                        </a:rPr>
                        <a:t>Tecnología</a:t>
                      </a:r>
                    </a:p>
                  </a:txBody>
                  <a:tcPr marL="91440" marR="91440" marT="45720" marB="45720" anchor="ctr">
                    <a:solidFill>
                      <a:srgbClr val="EBEBEB"/>
                    </a:solidFill>
                  </a:tcPr>
                </a:tc>
                <a:tc>
                  <a:txBody>
                    <a:bodyPr lIns="57150" tIns="57150" rIns="57150" bIns="57150"/>
                    <a:lstStyle/>
                    <a:p>
                      <a:pPr algn="ctr"/>
                      <a:r>
                        <a:rPr sz="2325" b="1">
                          <a:solidFill>
                            <a:srgbClr val="000000"/>
                          </a:solidFill>
                          <a:latin typeface="Calibri"/>
                          <a:ea typeface="Calibri"/>
                          <a:cs typeface="Calibri"/>
                        </a:rPr>
                        <a:t>Función</a:t>
                      </a:r>
                    </a:p>
                  </a:txBody>
                  <a:tcPr marL="91440" marR="91440" marT="45720" marB="45720" anchor="ctr">
                    <a:solidFill>
                      <a:srgbClr val="EBEBEB"/>
                    </a:solidFill>
                  </a:tcPr>
                </a:tc>
              </a:tr>
              <a:tr h="750094">
                <a:tc>
                  <a:txBody>
                    <a:bodyPr lIns="57150" tIns="57150" rIns="57150" bIns="57150"/>
                    <a:lstStyle/>
                    <a:p>
                      <a:pPr algn="l"/>
                      <a:r>
                        <a:rPr sz="2325" b="0">
                          <a:solidFill>
                            <a:srgbClr val="000000"/>
                          </a:solidFill>
                          <a:latin typeface="Calibri"/>
                          <a:ea typeface="Calibri"/>
                          <a:cs typeface="Calibri"/>
                        </a:rPr>
                        <a:t>Interfaz</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React y TypeScript</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Catálogo y carrito</a:t>
                      </a:r>
                    </a:p>
                  </a:txBody>
                  <a:tcPr marL="91440" marR="91440" marT="45720" marB="45720" anchor="ctr">
                    <a:solidFill>
                      <a:srgbClr val="FFFFFF"/>
                    </a:solidFill>
                  </a:tcPr>
                </a:tc>
              </a:tr>
              <a:tr h="750094">
                <a:tc>
                  <a:txBody>
                    <a:bodyPr lIns="57150" tIns="57150" rIns="57150" bIns="57150"/>
                    <a:lstStyle/>
                    <a:p>
                      <a:pPr algn="l"/>
                      <a:r>
                        <a:rPr sz="2325" b="0">
                          <a:solidFill>
                            <a:srgbClr val="000000"/>
                          </a:solidFill>
                          <a:latin typeface="Calibri"/>
                          <a:ea typeface="Calibri"/>
                          <a:cs typeface="Calibri"/>
                        </a:rPr>
                        <a:t>Servidor</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Express y TypeScript</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Validación y permisos</a:t>
                      </a:r>
                    </a:p>
                  </a:txBody>
                  <a:tcPr marL="91440" marR="91440" marT="45720" marB="45720" anchor="ctr">
                    <a:solidFill>
                      <a:srgbClr val="FFFFFF"/>
                    </a:solidFill>
                  </a:tcPr>
                </a:tc>
              </a:tr>
              <a:tr h="750094">
                <a:tc>
                  <a:txBody>
                    <a:bodyPr lIns="57150" tIns="57150" rIns="57150" bIns="57150"/>
                    <a:lstStyle/>
                    <a:p>
                      <a:pPr algn="l"/>
                      <a:r>
                        <a:rPr sz="2325" b="0">
                          <a:solidFill>
                            <a:srgbClr val="000000"/>
                          </a:solidFill>
                          <a:latin typeface="Calibri"/>
                          <a:ea typeface="Calibri"/>
                          <a:cs typeface="Calibri"/>
                        </a:rPr>
                        <a:t>Persistencia</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Prisma y PostgreSQL</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Pedidos y stock</a:t>
                      </a:r>
                    </a:p>
                  </a:txBody>
                  <a:tcPr marL="91440" marR="91440" marT="45720" marB="45720" anchor="ctr">
                    <a:solidFill>
                      <a:srgbClr val="FFFFFF"/>
                    </a:solidFill>
                  </a:tcPr>
                </a:tc>
              </a:tr>
            </a:tbl>
          </a:graphicData>
        </a:graphic>
      </p:graphicFrame>
      <p:sp>
        <p:nvSpPr>
          <p:cNvPr id="6" name="np:Modelo">
            <a:extLst>
              <a:ext uri="{FF2B5EF4-FFF2-40B4-BE49-F238E27FC236}">
                <a16:creationId xmlns:a16="http://schemas.microsoft.com/office/drawing/2014/main" id="{6EC367C1-A50B-4A63-B050-1C0973F2483D}"/>
              </a:ext>
            </a:extLst>
          </p:cNvPr>
          <p:cNvSpPr>
            <a:spLocks noGrp="1"/>
          </p:cNvSpPr>
          <p:nvPr/>
        </p:nvSpPr>
        <p:spPr>
          <a:xfrm>
            <a:off x="523875" y="5476875"/>
            <a:ext cx="9906000" cy="733425"/>
          </a:xfrm>
          <a:prstGeom prst="rect">
            <a:avLst/>
          </a:prstGeom>
          <a:noFill/>
          <a:ln w="0">
            <a:noFill/>
          </a:ln>
        </p:spPr>
        <p:txBody>
          <a:bodyPr lIns="0" tIns="0" rIns="0" bIns="0" anchor="t">
            <a:noAutofit/>
          </a:bodyPr>
          <a:lstStyle>
            <a:defPPr algn="l">
              <a:defRPr sz="2325" b="0">
                <a:solidFill>
                  <a:srgbClr val="000000"/>
                </a:solidFill>
                <a:latin typeface="Calibri"/>
                <a:ea typeface="Calibri"/>
                <a:cs typeface="Calibri"/>
              </a:defRPr>
            </a:defPPr>
          </a:lstStyle>
          <a:p>
            <a:pPr algn="l">
              <a:defRPr sz="2325" b="0">
                <a:solidFill>
                  <a:srgbClr val="000000"/>
                </a:solidFill>
                <a:latin typeface="Calibri"/>
                <a:ea typeface="Calibri"/>
                <a:cs typeface="Calibri"/>
              </a:defRPr>
            </a:pPr>
            <a:r>
              <a:rPr sz="2325" b="0">
                <a:solidFill>
                  <a:srgbClr val="000000"/>
                </a:solidFill>
                <a:latin typeface="Calibri"/>
                <a:ea typeface="Calibri"/>
                <a:cs typeface="Calibri"/>
              </a:rPr>
              <a:t>OrderItem conserva el precio de compra.</a:t>
            </a:r>
          </a:p>
          <a:p>
            <a:pPr algn="l">
              <a:defRPr sz="2325" b="0">
                <a:solidFill>
                  <a:srgbClr val="000000"/>
                </a:solidFill>
                <a:latin typeface="Calibri"/>
                <a:ea typeface="Calibri"/>
                <a:cs typeface="Calibri"/>
              </a:defRPr>
            </a:pPr>
            <a:r>
              <a:rPr sz="2325" b="0">
                <a:solidFill>
                  <a:srgbClr val="000000"/>
                </a:solidFill>
                <a:latin typeface="Calibri"/>
                <a:ea typeface="Calibri"/>
                <a:cs typeface="Calibri"/>
              </a:rPr>
              <a:t>GamePlatform relaciona juegos y plataformas.</a:t>
            </a:r>
          </a:p>
        </p:txBody>
      </p:sp>
    </p:spTree>
    <p:extLst>
      <p:ext uri="{BB962C8B-B14F-4D97-AF65-F5344CB8AC3E}">
        <p14:creationId xmlns:p14="http://schemas.microsoft.com/office/powerpoint/2010/main" val="2341651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3580194E-5F05-4573-B056-10BEA4FCD688}"/>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Necesidades y riesgos</a:t>
            </a:r>
          </a:p>
        </p:txBody>
      </p:sp>
      <p:graphicFrame>
        <p:nvGraphicFramePr>
          <p:cNvPr id="5" name="">
            <a:extLst>
              <a:ext uri="{FF2B5EF4-FFF2-40B4-BE49-F238E27FC236}">
                <a16:creationId xmlns:a16="http://schemas.microsoft.com/office/drawing/2014/main" id="{0F67E3B8-2767-4579-9545-9B8BEDD7A9D1}"/>
              </a:ext>
            </a:extLst>
          </p:cNvPr>
          <p:cNvGraphicFramePr/>
          <p:nvPr/>
        </p:nvGraphicFramePr>
        <p:xfrm>
          <a:off x="523875" y="2266950"/>
          <a:ext cx="9906000" cy="3486150"/>
        </p:xfrm>
        <a:graphic>
          <a:graphicData uri="http://schemas.openxmlformats.org/drawingml/2006/table">
            <a:tbl>
              <a:tblPr/>
              <a:tblGrid>
                <a:gridCol w="3714750"/>
                <a:gridCol w="3952875"/>
                <a:gridCol w="2238375"/>
              </a:tblGrid>
              <a:tr h="697230">
                <a:tc>
                  <a:txBody>
                    <a:bodyPr lIns="57150" tIns="57150" rIns="57150" bIns="57150"/>
                    <a:lstStyle/>
                    <a:p>
                      <a:pPr algn="l"/>
                      <a:r>
                        <a:rPr sz="2100" b="1">
                          <a:solidFill>
                            <a:srgbClr val="000000"/>
                          </a:solidFill>
                          <a:latin typeface="Calibri"/>
                          <a:ea typeface="Calibri"/>
                          <a:cs typeface="Calibri"/>
                        </a:rPr>
                        <a:t>Necesidad</a:t>
                      </a:r>
                    </a:p>
                  </a:txBody>
                  <a:tcPr marL="91440" marR="91440" marT="45720" marB="45720" anchor="ctr">
                    <a:solidFill>
                      <a:srgbClr val="EBEBEB"/>
                    </a:solidFill>
                  </a:tcPr>
                </a:tc>
                <a:tc>
                  <a:txBody>
                    <a:bodyPr lIns="57150" tIns="57150" rIns="57150" bIns="57150"/>
                    <a:lstStyle/>
                    <a:p>
                      <a:pPr algn="l"/>
                      <a:r>
                        <a:rPr sz="2100" b="1">
                          <a:solidFill>
                            <a:srgbClr val="000000"/>
                          </a:solidFill>
                          <a:latin typeface="Calibri"/>
                          <a:ea typeface="Calibri"/>
                          <a:cs typeface="Calibri"/>
                        </a:rPr>
                        <a:t>Riesgo</a:t>
                      </a:r>
                    </a:p>
                  </a:txBody>
                  <a:tcPr marL="91440" marR="91440" marT="45720" marB="45720" anchor="ctr">
                    <a:solidFill>
                      <a:srgbClr val="EBEBEB"/>
                    </a:solidFill>
                  </a:tcPr>
                </a:tc>
                <a:tc>
                  <a:txBody>
                    <a:bodyPr lIns="57150" tIns="57150" rIns="57150" bIns="57150"/>
                    <a:lstStyle/>
                    <a:p>
                      <a:pPr algn="ctr"/>
                      <a:r>
                        <a:rPr sz="2100" b="1">
                          <a:solidFill>
                            <a:srgbClr val="000000"/>
                          </a:solidFill>
                          <a:latin typeface="Calibri"/>
                          <a:ea typeface="Calibri"/>
                          <a:cs typeface="Calibri"/>
                        </a:rPr>
                        <a:t>Prueba</a:t>
                      </a:r>
                    </a:p>
                  </a:txBody>
                  <a:tcPr marL="91440" marR="91440" marT="45720" marB="45720" anchor="ctr">
                    <a:solidFill>
                      <a:srgbClr val="EBEBEB"/>
                    </a:solidFill>
                  </a:tcPr>
                </a:tc>
              </a:tr>
              <a:tr h="697230">
                <a:tc>
                  <a:txBody>
                    <a:bodyPr lIns="57150" tIns="57150" rIns="57150" bIns="57150"/>
                    <a:lstStyle/>
                    <a:p>
                      <a:pPr algn="l"/>
                      <a:r>
                        <a:rPr sz="2100" b="0">
                          <a:solidFill>
                            <a:srgbClr val="000000"/>
                          </a:solidFill>
                          <a:latin typeface="Calibri"/>
                          <a:ea typeface="Calibri"/>
                          <a:cs typeface="Calibri"/>
                        </a:rPr>
                        <a:t>Compra con total correcto</a:t>
                      </a:r>
                    </a:p>
                  </a:txBody>
                  <a:tcPr marL="91440" marR="91440" marT="45720" marB="45720" anchor="ctr">
                    <a:solidFill>
                      <a:srgbClr val="FFFFFF"/>
                    </a:solidFill>
                  </a:tcPr>
                </a:tc>
                <a:tc>
                  <a:txBody>
                    <a:bodyPr lIns="57150" tIns="57150" rIns="57150" bIns="57150"/>
                    <a:lstStyle/>
                    <a:p>
                      <a:pPr algn="l"/>
                      <a:r>
                        <a:rPr sz="2100" b="0">
                          <a:solidFill>
                            <a:srgbClr val="000000"/>
                          </a:solidFill>
                          <a:latin typeface="Calibri"/>
                          <a:ea typeface="Calibri"/>
                          <a:cs typeface="Calibri"/>
                        </a:rPr>
                        <a:t>Importe o stock incorrectos</a:t>
                      </a:r>
                    </a:p>
                  </a:txBody>
                  <a:tcPr marL="91440" marR="91440" marT="45720" marB="45720" anchor="ctr">
                    <a:solidFill>
                      <a:srgbClr val="FFFFFF"/>
                    </a:solidFill>
                  </a:tcPr>
                </a:tc>
                <a:tc>
                  <a:txBody>
                    <a:bodyPr lIns="57150" tIns="57150" rIns="57150" bIns="57150"/>
                    <a:lstStyle/>
                    <a:p>
                      <a:pPr algn="ctr"/>
                      <a:r>
                        <a:rPr sz="2100" b="0">
                          <a:solidFill>
                            <a:srgbClr val="000000"/>
                          </a:solidFill>
                          <a:latin typeface="Calibri"/>
                          <a:ea typeface="Calibri"/>
                          <a:cs typeface="Calibri"/>
                        </a:rPr>
                        <a:t>CP13 y CP15</a:t>
                      </a:r>
                    </a:p>
                  </a:txBody>
                  <a:tcPr marL="91440" marR="91440" marT="45720" marB="45720" anchor="ctr">
                    <a:solidFill>
                      <a:srgbClr val="FFFFFF"/>
                    </a:solidFill>
                  </a:tcPr>
                </a:tc>
              </a:tr>
              <a:tr h="697230">
                <a:tc>
                  <a:txBody>
                    <a:bodyPr lIns="57150" tIns="57150" rIns="57150" bIns="57150"/>
                    <a:lstStyle/>
                    <a:p>
                      <a:pPr algn="l"/>
                      <a:r>
                        <a:rPr sz="2100" b="0">
                          <a:solidFill>
                            <a:srgbClr val="000000"/>
                          </a:solidFill>
                          <a:latin typeface="Calibri"/>
                          <a:ea typeface="Calibri"/>
                          <a:cs typeface="Calibri"/>
                        </a:rPr>
                        <a:t>Catálogo e historial íntegros</a:t>
                      </a:r>
                    </a:p>
                  </a:txBody>
                  <a:tcPr marL="91440" marR="91440" marT="45720" marB="45720" anchor="ctr">
                    <a:solidFill>
                      <a:srgbClr val="FFFFFF"/>
                    </a:solidFill>
                  </a:tcPr>
                </a:tc>
                <a:tc>
                  <a:txBody>
                    <a:bodyPr lIns="57150" tIns="57150" rIns="57150" bIns="57150"/>
                    <a:lstStyle/>
                    <a:p>
                      <a:pPr algn="l"/>
                      <a:r>
                        <a:rPr sz="2100" b="0">
                          <a:solidFill>
                            <a:srgbClr val="000000"/>
                          </a:solidFill>
                          <a:latin typeface="Calibri"/>
                          <a:ea typeface="Calibri"/>
                          <a:cs typeface="Calibri"/>
                        </a:rPr>
                        <a:t>Pérdida de pedidos</a:t>
                      </a:r>
                    </a:p>
                  </a:txBody>
                  <a:tcPr marL="91440" marR="91440" marT="45720" marB="45720" anchor="ctr">
                    <a:solidFill>
                      <a:srgbClr val="FFFFFF"/>
                    </a:solidFill>
                  </a:tcPr>
                </a:tc>
                <a:tc>
                  <a:txBody>
                    <a:bodyPr lIns="57150" tIns="57150" rIns="57150" bIns="57150"/>
                    <a:lstStyle/>
                    <a:p>
                      <a:pPr algn="ctr"/>
                      <a:r>
                        <a:rPr sz="2100" b="0">
                          <a:solidFill>
                            <a:srgbClr val="000000"/>
                          </a:solidFill>
                          <a:latin typeface="Calibri"/>
                          <a:ea typeface="Calibri"/>
                          <a:cs typeface="Calibri"/>
                        </a:rPr>
                        <a:t>CP19</a:t>
                      </a:r>
                    </a:p>
                  </a:txBody>
                  <a:tcPr marL="91440" marR="91440" marT="45720" marB="45720" anchor="ctr">
                    <a:solidFill>
                      <a:srgbClr val="FFFFFF"/>
                    </a:solidFill>
                  </a:tcPr>
                </a:tc>
              </a:tr>
              <a:tr h="697230">
                <a:tc>
                  <a:txBody>
                    <a:bodyPr lIns="57150" tIns="57150" rIns="57150" bIns="57150"/>
                    <a:lstStyle/>
                    <a:p>
                      <a:pPr algn="l"/>
                      <a:r>
                        <a:rPr sz="2100" b="0">
                          <a:solidFill>
                            <a:srgbClr val="000000"/>
                          </a:solidFill>
                          <a:latin typeface="Calibri"/>
                          <a:ea typeface="Calibri"/>
                          <a:cs typeface="Calibri"/>
                        </a:rPr>
                        <a:t>Administración protegida</a:t>
                      </a:r>
                    </a:p>
                  </a:txBody>
                  <a:tcPr marL="91440" marR="91440" marT="45720" marB="45720" anchor="ctr">
                    <a:solidFill>
                      <a:srgbClr val="FFFFFF"/>
                    </a:solidFill>
                  </a:tcPr>
                </a:tc>
                <a:tc>
                  <a:txBody>
                    <a:bodyPr lIns="57150" tIns="57150" rIns="57150" bIns="57150"/>
                    <a:lstStyle/>
                    <a:p>
                      <a:pPr algn="l"/>
                      <a:r>
                        <a:rPr sz="2100" b="0">
                          <a:solidFill>
                            <a:srgbClr val="000000"/>
                          </a:solidFill>
                          <a:latin typeface="Calibri"/>
                          <a:ea typeface="Calibri"/>
                          <a:cs typeface="Calibri"/>
                        </a:rPr>
                        <a:t>Acceso sin permisos</a:t>
                      </a:r>
                    </a:p>
                  </a:txBody>
                  <a:tcPr marL="91440" marR="91440" marT="45720" marB="45720" anchor="ctr">
                    <a:solidFill>
                      <a:srgbClr val="FFFFFF"/>
                    </a:solidFill>
                  </a:tcPr>
                </a:tc>
                <a:tc>
                  <a:txBody>
                    <a:bodyPr lIns="57150" tIns="57150" rIns="57150" bIns="57150"/>
                    <a:lstStyle/>
                    <a:p>
                      <a:pPr algn="ctr"/>
                      <a:r>
                        <a:rPr sz="2100" b="0">
                          <a:solidFill>
                            <a:srgbClr val="000000"/>
                          </a:solidFill>
                          <a:latin typeface="Calibri"/>
                          <a:ea typeface="Calibri"/>
                          <a:cs typeface="Calibri"/>
                        </a:rPr>
                        <a:t>CP20</a:t>
                      </a:r>
                    </a:p>
                  </a:txBody>
                  <a:tcPr marL="91440" marR="91440" marT="45720" marB="45720" anchor="ctr">
                    <a:solidFill>
                      <a:srgbClr val="FFFFFF"/>
                    </a:solidFill>
                  </a:tcPr>
                </a:tc>
              </a:tr>
              <a:tr h="697230">
                <a:tc>
                  <a:txBody>
                    <a:bodyPr lIns="57150" tIns="57150" rIns="57150" bIns="57150"/>
                    <a:lstStyle/>
                    <a:p>
                      <a:pPr algn="l"/>
                      <a:r>
                        <a:rPr sz="2100" b="0">
                          <a:solidFill>
                            <a:srgbClr val="000000"/>
                          </a:solidFill>
                          <a:latin typeface="Calibri"/>
                          <a:ea typeface="Calibri"/>
                          <a:cs typeface="Calibri"/>
                        </a:rPr>
                        <a:t>Trabajo reproducible</a:t>
                      </a:r>
                    </a:p>
                  </a:txBody>
                  <a:tcPr marL="91440" marR="91440" marT="45720" marB="45720" anchor="ctr">
                    <a:solidFill>
                      <a:srgbClr val="FFFFFF"/>
                    </a:solidFill>
                  </a:tcPr>
                </a:tc>
                <a:tc>
                  <a:txBody>
                    <a:bodyPr lIns="57150" tIns="57150" rIns="57150" bIns="57150"/>
                    <a:lstStyle/>
                    <a:p>
                      <a:pPr algn="l"/>
                      <a:r>
                        <a:rPr sz="2100" b="0">
                          <a:solidFill>
                            <a:srgbClr val="000000"/>
                          </a:solidFill>
                          <a:latin typeface="Calibri"/>
                          <a:ea typeface="Calibri"/>
                          <a:cs typeface="Calibri"/>
                        </a:rPr>
                        <a:t>Bloqueo al compilar</a:t>
                      </a:r>
                    </a:p>
                  </a:txBody>
                  <a:tcPr marL="91440" marR="91440" marT="45720" marB="45720" anchor="ctr">
                    <a:solidFill>
                      <a:srgbClr val="FFFFFF"/>
                    </a:solidFill>
                  </a:tcPr>
                </a:tc>
                <a:tc>
                  <a:txBody>
                    <a:bodyPr lIns="57150" tIns="57150" rIns="57150" bIns="57150"/>
                    <a:lstStyle/>
                    <a:p>
                      <a:pPr algn="ctr"/>
                      <a:r>
                        <a:rPr sz="2100" b="0">
                          <a:solidFill>
                            <a:srgbClr val="000000"/>
                          </a:solidFill>
                          <a:latin typeface="Calibri"/>
                          <a:ea typeface="Calibri"/>
                          <a:cs typeface="Calibri"/>
                        </a:rPr>
                        <a:t>D01</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32ADD226-55B2-45C4-96D6-5195E9202FC7}"/>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Seis riesgos orientaron la selección de los casos.</a:t>
            </a:r>
          </a:p>
        </p:txBody>
      </p:sp>
    </p:spTree>
    <p:extLst>
      <p:ext uri="{BB962C8B-B14F-4D97-AF65-F5344CB8AC3E}">
        <p14:creationId xmlns:p14="http://schemas.microsoft.com/office/powerpoint/2010/main" val="2341651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CA399398-60A8-4496-B6EE-02F79E396D5D}"/>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Referencias técnicas</a:t>
            </a:r>
          </a:p>
        </p:txBody>
      </p:sp>
      <p:graphicFrame>
        <p:nvGraphicFramePr>
          <p:cNvPr id="5" name="">
            <a:extLst>
              <a:ext uri="{FF2B5EF4-FFF2-40B4-BE49-F238E27FC236}">
                <a16:creationId xmlns:a16="http://schemas.microsoft.com/office/drawing/2014/main" id="{B090437B-77FB-4112-8C6F-E6B9B7A57ADC}"/>
              </a:ext>
            </a:extLst>
          </p:cNvPr>
          <p:cNvGraphicFramePr/>
          <p:nvPr/>
        </p:nvGraphicFramePr>
        <p:xfrm>
          <a:off x="523875" y="2266950"/>
          <a:ext cx="9906000" cy="3524250"/>
        </p:xfrm>
        <a:graphic>
          <a:graphicData uri="http://schemas.openxmlformats.org/drawingml/2006/table">
            <a:tbl>
              <a:tblPr/>
              <a:tblGrid>
                <a:gridCol w="4095750"/>
                <a:gridCol w="5810250"/>
              </a:tblGrid>
              <a:tr h="704850">
                <a:tc>
                  <a:txBody>
                    <a:bodyPr lIns="57150" tIns="57150" rIns="57150" bIns="57150"/>
                    <a:lstStyle/>
                    <a:p>
                      <a:pPr algn="l"/>
                      <a:r>
                        <a:rPr sz="2250" b="1">
                          <a:solidFill>
                            <a:srgbClr val="000000"/>
                          </a:solidFill>
                          <a:latin typeface="Calibri"/>
                          <a:ea typeface="Calibri"/>
                          <a:cs typeface="Calibri"/>
                        </a:rPr>
                        <a:t>Referencia</a:t>
                      </a:r>
                    </a:p>
                  </a:txBody>
                  <a:tcPr marL="91440" marR="91440" marT="45720" marB="45720" anchor="ctr">
                    <a:solidFill>
                      <a:srgbClr val="EBEBEB"/>
                    </a:solidFill>
                  </a:tcPr>
                </a:tc>
                <a:tc>
                  <a:txBody>
                    <a:bodyPr lIns="57150" tIns="57150" rIns="57150" bIns="57150"/>
                    <a:lstStyle/>
                    <a:p>
                      <a:pPr algn="l"/>
                      <a:r>
                        <a:rPr sz="2250" b="1">
                          <a:solidFill>
                            <a:srgbClr val="000000"/>
                          </a:solidFill>
                          <a:latin typeface="Calibri"/>
                          <a:ea typeface="Calibri"/>
                          <a:cs typeface="Calibri"/>
                        </a:rPr>
                        <a:t>Aplicación</a:t>
                      </a:r>
                    </a:p>
                  </a:txBody>
                  <a:tcPr marL="91440" marR="91440" marT="45720" marB="45720" anchor="ctr">
                    <a:solidFill>
                      <a:srgbClr val="EBEBEB"/>
                    </a:solidFill>
                  </a:tcPr>
                </a:tc>
              </a:tr>
              <a:tr h="704850">
                <a:tc>
                  <a:txBody>
                    <a:bodyPr lIns="57150" tIns="57150" rIns="57150" bIns="57150"/>
                    <a:lstStyle/>
                    <a:p>
                      <a:pPr algn="l"/>
                      <a:r>
                        <a:rPr sz="2250" b="0">
                          <a:solidFill>
                            <a:srgbClr val="000000"/>
                          </a:solidFill>
                          <a:latin typeface="Calibri"/>
                          <a:ea typeface="Calibri"/>
                          <a:cs typeface="Calibri"/>
                        </a:rPr>
                        <a:t>ISO/IEC 25010:2023</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Selección de atributos del producto</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ISO/IEC 25023:2016</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Referencia de medición cuantitativa</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SWEBOK V4.0a</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Calidad, pruebas y configuración</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ISTQB CTFL 4.0.1</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Diseño de casos y gestión de hallazgos</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2C412D09-75A6-4A59-AF48-460FAFE2C9E5}"/>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Los criterios numéricos corresponden a esta evaluación local.</a:t>
            </a:r>
          </a:p>
        </p:txBody>
      </p:sp>
    </p:spTree>
    <p:extLst>
      <p:ext uri="{BB962C8B-B14F-4D97-AF65-F5344CB8AC3E}">
        <p14:creationId xmlns:p14="http://schemas.microsoft.com/office/powerpoint/2010/main" val="2341651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BE25B44B-6A89-4F0E-8CB6-3EEE6D1342D1}"/>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Criterios de aceptación</a:t>
            </a:r>
          </a:p>
        </p:txBody>
      </p:sp>
      <p:graphicFrame>
        <p:nvGraphicFramePr>
          <p:cNvPr id="5" name="">
            <a:extLst>
              <a:ext uri="{FF2B5EF4-FFF2-40B4-BE49-F238E27FC236}">
                <a16:creationId xmlns:a16="http://schemas.microsoft.com/office/drawing/2014/main" id="{14A10DDA-470A-4C2A-A2A9-3D626FC552F0}"/>
              </a:ext>
            </a:extLst>
          </p:cNvPr>
          <p:cNvGraphicFramePr/>
          <p:nvPr/>
        </p:nvGraphicFramePr>
        <p:xfrm>
          <a:off x="523875" y="2238375"/>
          <a:ext cx="9906000" cy="3714750"/>
        </p:xfrm>
        <a:graphic>
          <a:graphicData uri="http://schemas.openxmlformats.org/drawingml/2006/table">
            <a:tbl>
              <a:tblPr/>
              <a:tblGrid>
                <a:gridCol w="3952875"/>
                <a:gridCol w="5953125"/>
              </a:tblGrid>
              <a:tr h="742950">
                <a:tc>
                  <a:txBody>
                    <a:bodyPr lIns="57150" tIns="57150" rIns="57150" bIns="57150"/>
                    <a:lstStyle/>
                    <a:p>
                      <a:pPr algn="l"/>
                      <a:r>
                        <a:rPr sz="2325" b="1">
                          <a:solidFill>
                            <a:srgbClr val="000000"/>
                          </a:solidFill>
                          <a:latin typeface="Calibri"/>
                          <a:ea typeface="Calibri"/>
                          <a:cs typeface="Calibri"/>
                        </a:rPr>
                        <a:t>Atributo</a:t>
                      </a:r>
                    </a:p>
                  </a:txBody>
                  <a:tcPr marL="91440" marR="91440" marT="45720" marB="45720" anchor="ctr">
                    <a:solidFill>
                      <a:srgbClr val="EBEBEB"/>
                    </a:solidFill>
                  </a:tcPr>
                </a:tc>
                <a:tc>
                  <a:txBody>
                    <a:bodyPr lIns="57150" tIns="57150" rIns="57150" bIns="57150"/>
                    <a:lstStyle/>
                    <a:p>
                      <a:pPr algn="l"/>
                      <a:r>
                        <a:rPr sz="2325" b="1">
                          <a:solidFill>
                            <a:srgbClr val="000000"/>
                          </a:solidFill>
                          <a:latin typeface="Calibri"/>
                          <a:ea typeface="Calibri"/>
                          <a:cs typeface="Calibri"/>
                        </a:rPr>
                        <a:t>Criterio</a:t>
                      </a:r>
                    </a:p>
                  </a:txBody>
                  <a:tcPr marL="91440" marR="91440" marT="45720" marB="45720" anchor="ctr">
                    <a:solidFill>
                      <a:srgbClr val="EBEBEB"/>
                    </a:solidFill>
                  </a:tcPr>
                </a:tc>
              </a:tr>
              <a:tr h="742950">
                <a:tc>
                  <a:txBody>
                    <a:bodyPr lIns="57150" tIns="57150" rIns="57150" bIns="57150"/>
                    <a:lstStyle/>
                    <a:p>
                      <a:pPr algn="l"/>
                      <a:r>
                        <a:rPr sz="2325" b="0">
                          <a:solidFill>
                            <a:srgbClr val="000000"/>
                          </a:solidFill>
                          <a:latin typeface="Calibri"/>
                          <a:ea typeface="Calibri"/>
                          <a:cs typeface="Calibri"/>
                        </a:rPr>
                        <a:t>Adecuación funcional</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 95% de casos y cinco flujos</a:t>
                      </a:r>
                    </a:p>
                  </a:txBody>
                  <a:tcPr marL="91440" marR="91440" marT="45720" marB="45720" anchor="ctr">
                    <a:solidFill>
                      <a:srgbClr val="FFFFFF"/>
                    </a:solidFill>
                  </a:tcPr>
                </a:tc>
              </a:tr>
              <a:tr h="742950">
                <a:tc>
                  <a:txBody>
                    <a:bodyPr lIns="57150" tIns="57150" rIns="57150" bIns="57150"/>
                    <a:lstStyle/>
                    <a:p>
                      <a:pPr algn="l"/>
                      <a:r>
                        <a:rPr sz="2325" b="0">
                          <a:solidFill>
                            <a:srgbClr val="000000"/>
                          </a:solidFill>
                          <a:latin typeface="Calibri"/>
                          <a:ea typeface="Calibri"/>
                          <a:cs typeface="Calibri"/>
                        </a:rPr>
                        <a:t>Eficiencia de desempeño</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Mediana ≤ 300 ms y p95 ≤ 500 ms</a:t>
                      </a:r>
                    </a:p>
                  </a:txBody>
                  <a:tcPr marL="91440" marR="91440" marT="45720" marB="45720" anchor="ctr">
                    <a:solidFill>
                      <a:srgbClr val="FFFFFF"/>
                    </a:solidFill>
                  </a:tcPr>
                </a:tc>
              </a:tr>
              <a:tr h="742950">
                <a:tc>
                  <a:txBody>
                    <a:bodyPr lIns="57150" tIns="57150" rIns="57150" bIns="57150"/>
                    <a:lstStyle/>
                    <a:p>
                      <a:pPr algn="l"/>
                      <a:r>
                        <a:rPr sz="2325" b="0">
                          <a:solidFill>
                            <a:srgbClr val="000000"/>
                          </a:solidFill>
                          <a:latin typeface="Calibri"/>
                          <a:ea typeface="Calibri"/>
                          <a:cs typeface="Calibri"/>
                        </a:rPr>
                        <a:t>Capacidad de interacción</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 80% de tareas sin ayuda</a:t>
                      </a:r>
                    </a:p>
                  </a:txBody>
                  <a:tcPr marL="91440" marR="91440" marT="45720" marB="45720" anchor="ctr">
                    <a:solidFill>
                      <a:srgbClr val="FFFFFF"/>
                    </a:solidFill>
                  </a:tcPr>
                </a:tc>
              </a:tr>
              <a:tr h="742950">
                <a:tc>
                  <a:txBody>
                    <a:bodyPr lIns="57150" tIns="57150" rIns="57150" bIns="57150"/>
                    <a:lstStyle/>
                    <a:p>
                      <a:pPr algn="l"/>
                      <a:r>
                        <a:rPr sz="2325" b="0">
                          <a:solidFill>
                            <a:srgbClr val="000000"/>
                          </a:solidFill>
                          <a:latin typeface="Calibri"/>
                          <a:ea typeface="Calibri"/>
                          <a:cs typeface="Calibri"/>
                        </a:rPr>
                        <a:t>Fiabilidad</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30 respuestas correctas de 30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34165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60E4E9E9-271E-4B08-9BBC-A60E282C6FFC}"/>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Baseline y entorno</a:t>
            </a:r>
          </a:p>
        </p:txBody>
      </p:sp>
      <p:sp>
        <p:nvSpPr>
          <p:cNvPr id="5" name="np:Contenido">
            <a:extLst>
              <a:ext uri="{FF2B5EF4-FFF2-40B4-BE49-F238E27FC236}">
                <a16:creationId xmlns:a16="http://schemas.microsoft.com/office/drawing/2014/main" id="{D53C4D18-CBC4-48A1-8A31-E11E700D156A}"/>
              </a:ext>
            </a:extLst>
          </p:cNvPr>
          <p:cNvSpPr>
            <a:spLocks noGrp="1"/>
          </p:cNvSpPr>
          <p:nvPr/>
        </p:nvSpPr>
        <p:spPr>
          <a:xfrm>
            <a:off x="523875" y="2266950"/>
            <a:ext cx="9906000" cy="3429000"/>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Tag baseline-calidad-v1</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Commit afac785</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Windows 11 y Node.js 22.23.3</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Instancia local en 127.0.0.1:4011</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Datos ficticios en un esquema separado</a:t>
            </a:r>
          </a:p>
        </p:txBody>
      </p:sp>
    </p:spTree>
    <p:extLst>
      <p:ext uri="{BB962C8B-B14F-4D97-AF65-F5344CB8AC3E}">
        <p14:creationId xmlns:p14="http://schemas.microsoft.com/office/powerpoint/2010/main" val="2341651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294F8151-8B72-4D3B-9A40-A1E7F00C9F1D}"/>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Pruebas funcionales</a:t>
            </a:r>
          </a:p>
        </p:txBody>
      </p:sp>
      <p:graphicFrame>
        <p:nvGraphicFramePr>
          <p:cNvPr id="5" name="">
            <a:extLst>
              <a:ext uri="{FF2B5EF4-FFF2-40B4-BE49-F238E27FC236}">
                <a16:creationId xmlns:a16="http://schemas.microsoft.com/office/drawing/2014/main" id="{E69EA4F2-3D98-4F4D-B509-5B3F283054F9}"/>
              </a:ext>
            </a:extLst>
          </p:cNvPr>
          <p:cNvGraphicFramePr/>
          <p:nvPr/>
        </p:nvGraphicFramePr>
        <p:xfrm>
          <a:off x="523875" y="2238375"/>
          <a:ext cx="9906000" cy="3495675"/>
        </p:xfrm>
        <a:graphic>
          <a:graphicData uri="http://schemas.openxmlformats.org/drawingml/2006/table">
            <a:tbl>
              <a:tblPr/>
              <a:tblGrid>
                <a:gridCol w="5000625"/>
                <a:gridCol w="3095625"/>
                <a:gridCol w="1809750"/>
              </a:tblGrid>
              <a:tr h="582613">
                <a:tc>
                  <a:txBody>
                    <a:bodyPr lIns="57150" tIns="57150" rIns="57150" bIns="57150"/>
                    <a:lstStyle/>
                    <a:p>
                      <a:pPr algn="l"/>
                      <a:r>
                        <a:rPr sz="2325" b="1">
                          <a:solidFill>
                            <a:srgbClr val="000000"/>
                          </a:solidFill>
                          <a:latin typeface="Calibri"/>
                          <a:ea typeface="Calibri"/>
                          <a:cs typeface="Calibri"/>
                        </a:rPr>
                        <a:t>Flujo</a:t>
                      </a:r>
                    </a:p>
                  </a:txBody>
                  <a:tcPr marL="91440" marR="91440" marT="45720" marB="45720" anchor="ctr">
                    <a:solidFill>
                      <a:srgbClr val="EBEBEB"/>
                    </a:solidFill>
                  </a:tcPr>
                </a:tc>
                <a:tc>
                  <a:txBody>
                    <a:bodyPr lIns="57150" tIns="57150" rIns="57150" bIns="57150"/>
                    <a:lstStyle/>
                    <a:p>
                      <a:pPr algn="l"/>
                      <a:r>
                        <a:rPr sz="2325" b="1">
                          <a:solidFill>
                            <a:srgbClr val="000000"/>
                          </a:solidFill>
                          <a:latin typeface="Calibri"/>
                          <a:ea typeface="Calibri"/>
                          <a:cs typeface="Calibri"/>
                        </a:rPr>
                        <a:t>Casos</a:t>
                      </a:r>
                    </a:p>
                  </a:txBody>
                  <a:tcPr marL="91440" marR="91440" marT="45720" marB="45720" anchor="ctr">
                    <a:solidFill>
                      <a:srgbClr val="EBEBEB"/>
                    </a:solidFill>
                  </a:tcPr>
                </a:tc>
                <a:tc>
                  <a:txBody>
                    <a:bodyPr lIns="57150" tIns="57150" rIns="57150" bIns="57150"/>
                    <a:lstStyle/>
                    <a:p>
                      <a:pPr algn="ctr"/>
                      <a:r>
                        <a:rPr sz="2325" b="1">
                          <a:solidFill>
                            <a:srgbClr val="000000"/>
                          </a:solidFill>
                          <a:latin typeface="Calibri"/>
                          <a:ea typeface="Calibri"/>
                          <a:cs typeface="Calibri"/>
                        </a:rPr>
                        <a:t>Pass</a:t>
                      </a:r>
                    </a:p>
                  </a:txBody>
                  <a:tcPr marL="91440" marR="91440" marT="45720" marB="45720" anchor="ctr">
                    <a:solidFill>
                      <a:srgbClr val="EBEBEB"/>
                    </a:solidFill>
                  </a:tcPr>
                </a:tc>
              </a:tr>
              <a:tr h="582613">
                <a:tc>
                  <a:txBody>
                    <a:bodyPr lIns="57150" tIns="57150" rIns="57150" bIns="57150"/>
                    <a:lstStyle/>
                    <a:p>
                      <a:pPr algn="l"/>
                      <a:r>
                        <a:rPr sz="2325" b="0">
                          <a:solidFill>
                            <a:srgbClr val="000000"/>
                          </a:solidFill>
                          <a:latin typeface="Calibri"/>
                          <a:ea typeface="Calibri"/>
                          <a:cs typeface="Calibri"/>
                        </a:rPr>
                        <a:t>Registro y sesión</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CP01 a CP06</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6 / 6</a:t>
                      </a:r>
                    </a:p>
                  </a:txBody>
                  <a:tcPr marL="91440" marR="91440" marT="45720" marB="45720" anchor="ctr">
                    <a:solidFill>
                      <a:srgbClr val="FFFFFF"/>
                    </a:solidFill>
                  </a:tcPr>
                </a:tc>
              </a:tr>
              <a:tr h="582613">
                <a:tc>
                  <a:txBody>
                    <a:bodyPr lIns="57150" tIns="57150" rIns="57150" bIns="57150"/>
                    <a:lstStyle/>
                    <a:p>
                      <a:pPr algn="l"/>
                      <a:r>
                        <a:rPr sz="2325" b="0">
                          <a:solidFill>
                            <a:srgbClr val="000000"/>
                          </a:solidFill>
                          <a:latin typeface="Calibri"/>
                          <a:ea typeface="Calibri"/>
                          <a:cs typeface="Calibri"/>
                        </a:rPr>
                        <a:t>Catálogo y detalle</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CP07 a CP11</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5 / 5</a:t>
                      </a:r>
                    </a:p>
                  </a:txBody>
                  <a:tcPr marL="91440" marR="91440" marT="45720" marB="45720" anchor="ctr">
                    <a:solidFill>
                      <a:srgbClr val="FFFFFF"/>
                    </a:solidFill>
                  </a:tcPr>
                </a:tc>
              </a:tr>
              <a:tr h="582613">
                <a:tc>
                  <a:txBody>
                    <a:bodyPr lIns="57150" tIns="57150" rIns="57150" bIns="57150"/>
                    <a:lstStyle/>
                    <a:p>
                      <a:pPr algn="l"/>
                      <a:r>
                        <a:rPr sz="2325" b="0">
                          <a:solidFill>
                            <a:srgbClr val="000000"/>
                          </a:solidFill>
                          <a:latin typeface="Calibri"/>
                          <a:ea typeface="Calibri"/>
                          <a:cs typeface="Calibri"/>
                        </a:rPr>
                        <a:t>Carrito</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CP12 a CP14</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3 / 3</a:t>
                      </a:r>
                    </a:p>
                  </a:txBody>
                  <a:tcPr marL="91440" marR="91440" marT="45720" marB="45720" anchor="ctr">
                    <a:solidFill>
                      <a:srgbClr val="FFFFFF"/>
                    </a:solidFill>
                  </a:tcPr>
                </a:tc>
              </a:tr>
              <a:tr h="582613">
                <a:tc>
                  <a:txBody>
                    <a:bodyPr lIns="57150" tIns="57150" rIns="57150" bIns="57150"/>
                    <a:lstStyle/>
                    <a:p>
                      <a:pPr algn="l"/>
                      <a:r>
                        <a:rPr sz="2325" b="0">
                          <a:solidFill>
                            <a:srgbClr val="000000"/>
                          </a:solidFill>
                          <a:latin typeface="Calibri"/>
                          <a:ea typeface="Calibri"/>
                          <a:cs typeface="Calibri"/>
                        </a:rPr>
                        <a:t>Compra e historial</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CP15 y CP16</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2 / 2</a:t>
                      </a:r>
                    </a:p>
                  </a:txBody>
                  <a:tcPr marL="91440" marR="91440" marT="45720" marB="45720" anchor="ctr">
                    <a:solidFill>
                      <a:srgbClr val="FFFFFF"/>
                    </a:solidFill>
                  </a:tcPr>
                </a:tc>
              </a:tr>
              <a:tr h="582613">
                <a:tc>
                  <a:txBody>
                    <a:bodyPr lIns="57150" tIns="57150" rIns="57150" bIns="57150"/>
                    <a:lstStyle/>
                    <a:p>
                      <a:pPr algn="l"/>
                      <a:r>
                        <a:rPr sz="2325" b="0">
                          <a:solidFill>
                            <a:srgbClr val="000000"/>
                          </a:solidFill>
                          <a:latin typeface="Calibri"/>
                          <a:ea typeface="Calibri"/>
                          <a:cs typeface="Calibri"/>
                        </a:rPr>
                        <a:t>Administración</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CP17 a CP20</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4 / 4</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FF94D80C-73A2-4424-AF40-8759A648A54B}"/>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20 casos aprobados. Cobertura de los cinco flujos seleccionados.</a:t>
            </a:r>
          </a:p>
        </p:txBody>
      </p:sp>
    </p:spTree>
    <p:extLst>
      <p:ext uri="{BB962C8B-B14F-4D97-AF65-F5344CB8AC3E}">
        <p14:creationId xmlns:p14="http://schemas.microsoft.com/office/powerpoint/2010/main" val="234165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CF87C75E-C298-453F-B303-326653EF1F3A}"/>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Diseño de los casos</a:t>
            </a:r>
          </a:p>
        </p:txBody>
      </p:sp>
      <p:graphicFrame>
        <p:nvGraphicFramePr>
          <p:cNvPr id="5" name="">
            <a:extLst>
              <a:ext uri="{FF2B5EF4-FFF2-40B4-BE49-F238E27FC236}">
                <a16:creationId xmlns:a16="http://schemas.microsoft.com/office/drawing/2014/main" id="{489DDC86-C937-4D52-9C67-3FA307A0059A}"/>
              </a:ext>
            </a:extLst>
          </p:cNvPr>
          <p:cNvGraphicFramePr/>
          <p:nvPr/>
        </p:nvGraphicFramePr>
        <p:xfrm>
          <a:off x="523875" y="2266950"/>
          <a:ext cx="9906000" cy="3524250"/>
        </p:xfrm>
        <a:graphic>
          <a:graphicData uri="http://schemas.openxmlformats.org/drawingml/2006/table">
            <a:tbl>
              <a:tblPr/>
              <a:tblGrid>
                <a:gridCol w="3667125"/>
                <a:gridCol w="1476375"/>
                <a:gridCol w="4762500"/>
              </a:tblGrid>
              <a:tr h="704850">
                <a:tc>
                  <a:txBody>
                    <a:bodyPr lIns="57150" tIns="57150" rIns="57150" bIns="57150"/>
                    <a:lstStyle/>
                    <a:p>
                      <a:pPr algn="l"/>
                      <a:r>
                        <a:rPr sz="2325" b="1">
                          <a:solidFill>
                            <a:srgbClr val="000000"/>
                          </a:solidFill>
                          <a:latin typeface="Calibri"/>
                          <a:ea typeface="Calibri"/>
                          <a:cs typeface="Calibri"/>
                        </a:rPr>
                        <a:t>Técnica</a:t>
                      </a:r>
                    </a:p>
                  </a:txBody>
                  <a:tcPr marL="91440" marR="91440" marT="45720" marB="45720" anchor="ctr">
                    <a:solidFill>
                      <a:srgbClr val="EBEBEB"/>
                    </a:solidFill>
                  </a:tcPr>
                </a:tc>
                <a:tc>
                  <a:txBody>
                    <a:bodyPr lIns="57150" tIns="57150" rIns="57150" bIns="57150"/>
                    <a:lstStyle/>
                    <a:p>
                      <a:pPr algn="l"/>
                      <a:r>
                        <a:rPr sz="2325" b="1">
                          <a:solidFill>
                            <a:srgbClr val="000000"/>
                          </a:solidFill>
                          <a:latin typeface="Calibri"/>
                          <a:ea typeface="Calibri"/>
                          <a:cs typeface="Calibri"/>
                        </a:rPr>
                        <a:t>Caso</a:t>
                      </a:r>
                    </a:p>
                  </a:txBody>
                  <a:tcPr marL="91440" marR="91440" marT="45720" marB="45720" anchor="ctr">
                    <a:solidFill>
                      <a:srgbClr val="EBEBEB"/>
                    </a:solidFill>
                  </a:tcPr>
                </a:tc>
                <a:tc>
                  <a:txBody>
                    <a:bodyPr lIns="57150" tIns="57150" rIns="57150" bIns="57150"/>
                    <a:lstStyle/>
                    <a:p>
                      <a:pPr algn="ctr"/>
                      <a:r>
                        <a:rPr sz="2325" b="1">
                          <a:solidFill>
                            <a:srgbClr val="000000"/>
                          </a:solidFill>
                          <a:latin typeface="Calibri"/>
                          <a:ea typeface="Calibri"/>
                          <a:cs typeface="Calibri"/>
                        </a:rPr>
                        <a:t>Comprobación</a:t>
                      </a:r>
                    </a:p>
                  </a:txBody>
                  <a:tcPr marL="91440" marR="91440" marT="45720" marB="45720" anchor="ctr">
                    <a:solidFill>
                      <a:srgbClr val="EBEBEB"/>
                    </a:solidFill>
                  </a:tcPr>
                </a:tc>
              </a:tr>
              <a:tr h="704850">
                <a:tc>
                  <a:txBody>
                    <a:bodyPr lIns="57150" tIns="57150" rIns="57150" bIns="57150"/>
                    <a:lstStyle/>
                    <a:p>
                      <a:pPr algn="l"/>
                      <a:r>
                        <a:rPr sz="2325" b="0">
                          <a:solidFill>
                            <a:srgbClr val="000000"/>
                          </a:solidFill>
                          <a:latin typeface="Calibri"/>
                          <a:ea typeface="Calibri"/>
                          <a:cs typeface="Calibri"/>
                        </a:rPr>
                        <a:t>Partición inválida</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CP02</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Correo sin @</a:t>
                      </a:r>
                    </a:p>
                  </a:txBody>
                  <a:tcPr marL="91440" marR="91440" marT="45720" marB="45720" anchor="ctr">
                    <a:solidFill>
                      <a:srgbClr val="FFFFFF"/>
                    </a:solidFill>
                  </a:tcPr>
                </a:tc>
              </a:tr>
              <a:tr h="704850">
                <a:tc>
                  <a:txBody>
                    <a:bodyPr lIns="57150" tIns="57150" rIns="57150" bIns="57150"/>
                    <a:lstStyle/>
                    <a:p>
                      <a:pPr algn="l"/>
                      <a:r>
                        <a:rPr sz="2325" b="0">
                          <a:solidFill>
                            <a:srgbClr val="000000"/>
                          </a:solidFill>
                          <a:latin typeface="Calibri"/>
                          <a:ea typeface="Calibri"/>
                          <a:cs typeface="Calibri"/>
                        </a:rPr>
                        <a:t>Valor límite</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CP13</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Máximo según stock 2</a:t>
                      </a:r>
                    </a:p>
                  </a:txBody>
                  <a:tcPr marL="91440" marR="91440" marT="45720" marB="45720" anchor="ctr">
                    <a:solidFill>
                      <a:srgbClr val="FFFFFF"/>
                    </a:solidFill>
                  </a:tcPr>
                </a:tc>
              </a:tr>
              <a:tr h="704850">
                <a:tc>
                  <a:txBody>
                    <a:bodyPr lIns="57150" tIns="57150" rIns="57150" bIns="57150"/>
                    <a:lstStyle/>
                    <a:p>
                      <a:pPr algn="l"/>
                      <a:r>
                        <a:rPr sz="2325" b="0">
                          <a:solidFill>
                            <a:srgbClr val="000000"/>
                          </a:solidFill>
                          <a:latin typeface="Calibri"/>
                          <a:ea typeface="Calibri"/>
                          <a:cs typeface="Calibri"/>
                        </a:rPr>
                        <a:t>Transición de estado</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CP05</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Cerrar sesión</a:t>
                      </a:r>
                    </a:p>
                  </a:txBody>
                  <a:tcPr marL="91440" marR="91440" marT="45720" marB="45720" anchor="ctr">
                    <a:solidFill>
                      <a:srgbClr val="FFFFFF"/>
                    </a:solidFill>
                  </a:tcPr>
                </a:tc>
              </a:tr>
              <a:tr h="704850">
                <a:tc>
                  <a:txBody>
                    <a:bodyPr lIns="57150" tIns="57150" rIns="57150" bIns="57150"/>
                    <a:lstStyle/>
                    <a:p>
                      <a:pPr algn="l"/>
                      <a:r>
                        <a:rPr sz="2325" b="0">
                          <a:solidFill>
                            <a:srgbClr val="000000"/>
                          </a:solidFill>
                          <a:latin typeface="Calibri"/>
                          <a:ea typeface="Calibri"/>
                          <a:cs typeface="Calibri"/>
                        </a:rPr>
                        <a:t>Decisión por relación</a:t>
                      </a:r>
                    </a:p>
                  </a:txBody>
                  <a:tcPr marL="91440" marR="91440" marT="45720" marB="45720" anchor="ctr">
                    <a:solidFill>
                      <a:srgbClr val="FFFFFF"/>
                    </a:solidFill>
                  </a:tcPr>
                </a:tc>
                <a:tc>
                  <a:txBody>
                    <a:bodyPr lIns="57150" tIns="57150" rIns="57150" bIns="57150"/>
                    <a:lstStyle/>
                    <a:p>
                      <a:pPr algn="l"/>
                      <a:r>
                        <a:rPr sz="2325" b="0">
                          <a:solidFill>
                            <a:srgbClr val="000000"/>
                          </a:solidFill>
                          <a:latin typeface="Calibri"/>
                          <a:ea typeface="Calibri"/>
                          <a:cs typeface="Calibri"/>
                        </a:rPr>
                        <a:t>CP19</a:t>
                      </a:r>
                    </a:p>
                  </a:txBody>
                  <a:tcPr marL="91440" marR="91440" marT="45720" marB="45720" anchor="ctr">
                    <a:solidFill>
                      <a:srgbClr val="FFFFFF"/>
                    </a:solidFill>
                  </a:tcPr>
                </a:tc>
                <a:tc>
                  <a:txBody>
                    <a:bodyPr lIns="57150" tIns="57150" rIns="57150" bIns="57150"/>
                    <a:lstStyle/>
                    <a:p>
                      <a:pPr algn="ctr"/>
                      <a:r>
                        <a:rPr sz="2325" b="0">
                          <a:solidFill>
                            <a:srgbClr val="000000"/>
                          </a:solidFill>
                          <a:latin typeface="Calibri"/>
                          <a:ea typeface="Calibri"/>
                          <a:cs typeface="Calibri"/>
                        </a:rPr>
                        <a:t>Archivar con pedido</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BFEAC0A7-AFEE-4E97-BE83-456A7A59C812}"/>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Las entradas se relacionan con un resultado observable.</a:t>
            </a:r>
          </a:p>
        </p:txBody>
      </p:sp>
    </p:spTree>
    <p:extLst>
      <p:ext uri="{BB962C8B-B14F-4D97-AF65-F5344CB8AC3E}">
        <p14:creationId xmlns:p14="http://schemas.microsoft.com/office/powerpoint/2010/main" val="234165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36573EDC-DFF6-4162-9B16-DB7A03718CB3}"/>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Compra y control del stock</a:t>
            </a:r>
          </a:p>
        </p:txBody>
      </p:sp>
      <p:sp>
        <p:nvSpPr>
          <p:cNvPr id="5" name="np:Contenido">
            <a:extLst>
              <a:ext uri="{FF2B5EF4-FFF2-40B4-BE49-F238E27FC236}">
                <a16:creationId xmlns:a16="http://schemas.microsoft.com/office/drawing/2014/main" id="{E8D2CF5E-BE18-4B5F-83CB-00E1012119F2}"/>
              </a:ext>
            </a:extLst>
          </p:cNvPr>
          <p:cNvSpPr>
            <a:spLocks noGrp="1"/>
          </p:cNvSpPr>
          <p:nvPr/>
        </p:nvSpPr>
        <p:spPr>
          <a:xfrm>
            <a:off x="523875" y="2438400"/>
            <a:ext cx="4429125" cy="34290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Pedido por USD 39,99</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Precio de la línea conservado</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Stock de Nexus: 2 a 1</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Agotado: rechazo HTTP 409</a:t>
            </a:r>
          </a:p>
        </p:txBody>
      </p:sp>
      <p:pic>
        <p:nvPicPr>
          <p:cNvPr id="6" name="">
            <a:extLst>
              <a:ext uri="{FF2B5EF4-FFF2-40B4-BE49-F238E27FC236}">
                <a16:creationId xmlns:a16="http://schemas.microsoft.com/office/drawing/2014/main" id="{652C883D-AB75-4D86-904A-53D4B737E6F2}"/>
              </a:ext>
            </a:extLst>
          </p:cNvPr>
          <p:cNvPicPr>
            <a:picLocks noChangeAspect="1"/>
          </p:cNvPicPr>
          <p:nvPr/>
        </p:nvPicPr>
        <p:blipFill>
          <a:blip r:embed="npRel2"/>
          <a:stretch/>
        </p:blipFill>
        <p:spPr>
          <a:xfrm>
            <a:off x="5404485" y="2295525"/>
            <a:ext cx="4869180" cy="3381375"/>
          </a:xfrm>
          <a:prstGeom prst="rect">
            <a:avLst/>
          </a:prstGeom>
        </p:spPr>
      </p:pic>
      <p:sp>
        <p:nvSpPr>
          <p:cNvPr id="7" name="np:Detalle">
            <a:extLst>
              <a:ext uri="{FF2B5EF4-FFF2-40B4-BE49-F238E27FC236}">
                <a16:creationId xmlns:a16="http://schemas.microsoft.com/office/drawing/2014/main" id="{5316F291-53B1-4264-8D7E-9771F0E94029}"/>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CP15 y CP16 comprobaron la integridad del pedido.</a:t>
            </a:r>
          </a:p>
        </p:txBody>
      </p:sp>
    </p:spTree>
    <p:extLst>
      <p:ext uri="{BB962C8B-B14F-4D97-AF65-F5344CB8AC3E}">
        <p14:creationId xmlns:p14="http://schemas.microsoft.com/office/powerpoint/2010/main" val="2341651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B7469C5A-7F6F-4B9E-B207-F1BEB49E2398}"/>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CRUD y permisos</a:t>
            </a:r>
          </a:p>
        </p:txBody>
      </p:sp>
      <p:sp>
        <p:nvSpPr>
          <p:cNvPr id="5" name="np:Contenido">
            <a:extLst>
              <a:ext uri="{FF2B5EF4-FFF2-40B4-BE49-F238E27FC236}">
                <a16:creationId xmlns:a16="http://schemas.microsoft.com/office/drawing/2014/main" id="{98810A34-F96C-48E9-AA3C-2A1E222392AE}"/>
              </a:ext>
            </a:extLst>
          </p:cNvPr>
          <p:cNvSpPr>
            <a:spLocks noGrp="1"/>
          </p:cNvSpPr>
          <p:nvPr/>
        </p:nvSpPr>
        <p:spPr>
          <a:xfrm>
            <a:off x="523875" y="2390775"/>
            <a:ext cx="4429125" cy="34290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Crear, consultar y actualizar</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Precio actualizado a USD 31,99</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Eliminar con confirmación</a:t>
            </a:r>
          </a:p>
          <a:p>
            <a:pPr algn="l">
              <a:spcBef>
                <a:spcPts val="0"/>
              </a:spcBef>
              <a:spcAft>
                <a:spcPts val="18"/>
              </a:spcAft>
              <a:defRPr sz="2625" b="0">
                <a:solidFill>
                  <a:srgbClr val="000000"/>
                </a:solidFill>
                <a:latin typeface="Calibri"/>
                <a:ea typeface="Calibri"/>
                <a:cs typeface="Calibri"/>
              </a:defRPr>
            </a:pPr>
            <a:r>
              <a:rPr sz="2625" b="0">
                <a:solidFill>
                  <a:srgbClr val="000000"/>
                </a:solidFill>
                <a:latin typeface="Calibri"/>
                <a:ea typeface="Calibri"/>
                <a:cs typeface="Calibri"/>
              </a:rPr>
              <a:t>Archivar cuando existe un pedido</a:t>
            </a:r>
          </a:p>
        </p:txBody>
      </p:sp>
      <p:pic>
        <p:nvPicPr>
          <p:cNvPr id="6" name="">
            <a:extLst>
              <a:ext uri="{FF2B5EF4-FFF2-40B4-BE49-F238E27FC236}">
                <a16:creationId xmlns:a16="http://schemas.microsoft.com/office/drawing/2014/main" id="{F2C33EE6-756A-4CE9-AEFD-CE24CE0E6BDA}"/>
              </a:ext>
            </a:extLst>
          </p:cNvPr>
          <p:cNvPicPr>
            <a:picLocks noChangeAspect="1"/>
          </p:cNvPicPr>
          <p:nvPr/>
        </p:nvPicPr>
        <p:blipFill>
          <a:blip r:embed="npRel2"/>
          <a:stretch/>
        </p:blipFill>
        <p:spPr>
          <a:xfrm>
            <a:off x="5979190" y="2295525"/>
            <a:ext cx="3719771" cy="3381375"/>
          </a:xfrm>
          <a:prstGeom prst="rect">
            <a:avLst/>
          </a:prstGeom>
        </p:spPr>
      </p:pic>
      <p:sp>
        <p:nvSpPr>
          <p:cNvPr id="7" name="np:Detalle">
            <a:extLst>
              <a:ext uri="{FF2B5EF4-FFF2-40B4-BE49-F238E27FC236}">
                <a16:creationId xmlns:a16="http://schemas.microsoft.com/office/drawing/2014/main" id="{A4B1EBB6-2E18-4176-BBC2-8D726DC8B577}"/>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La API denegó acceso con HTTP 403 y 401 según la sesión.</a:t>
            </a:r>
          </a:p>
        </p:txBody>
      </p:sp>
    </p:spTree>
    <p:extLst>
      <p:ext uri="{BB962C8B-B14F-4D97-AF65-F5344CB8AC3E}">
        <p14:creationId xmlns:p14="http://schemas.microsoft.com/office/powerpoint/2010/main" val="2341651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19EA6A25-3F27-4D8A-BF3D-4AF2BED2F9DE}"/>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Resultados de calidad</a:t>
            </a:r>
          </a:p>
        </p:txBody>
      </p:sp>
      <p:graphicFrame>
        <p:nvGraphicFramePr>
          <p:cNvPr id="5" name="">
            <a:extLst>
              <a:ext uri="{FF2B5EF4-FFF2-40B4-BE49-F238E27FC236}">
                <a16:creationId xmlns:a16="http://schemas.microsoft.com/office/drawing/2014/main" id="{E9BB3B8C-12F5-44D0-8A57-6DC6B0E618C9}"/>
              </a:ext>
            </a:extLst>
          </p:cNvPr>
          <p:cNvGraphicFramePr/>
          <p:nvPr/>
        </p:nvGraphicFramePr>
        <p:xfrm>
          <a:off x="523875" y="2266950"/>
          <a:ext cx="9906000" cy="3524250"/>
        </p:xfrm>
        <a:graphic>
          <a:graphicData uri="http://schemas.openxmlformats.org/drawingml/2006/table">
            <a:tbl>
              <a:tblPr/>
              <a:tblGrid>
                <a:gridCol w="3667125"/>
                <a:gridCol w="3190875"/>
                <a:gridCol w="3048000"/>
              </a:tblGrid>
              <a:tr h="704850">
                <a:tc>
                  <a:txBody>
                    <a:bodyPr lIns="57150" tIns="57150" rIns="57150" bIns="57150"/>
                    <a:lstStyle/>
                    <a:p>
                      <a:pPr algn="l"/>
                      <a:r>
                        <a:rPr sz="2250" b="1">
                          <a:solidFill>
                            <a:srgbClr val="000000"/>
                          </a:solidFill>
                          <a:latin typeface="Calibri"/>
                          <a:ea typeface="Calibri"/>
                          <a:cs typeface="Calibri"/>
                        </a:rPr>
                        <a:t>Atributo</a:t>
                      </a:r>
                    </a:p>
                  </a:txBody>
                  <a:tcPr marL="91440" marR="91440" marT="45720" marB="45720" anchor="ctr">
                    <a:solidFill>
                      <a:srgbClr val="EBEBEB"/>
                    </a:solidFill>
                  </a:tcPr>
                </a:tc>
                <a:tc>
                  <a:txBody>
                    <a:bodyPr lIns="57150" tIns="57150" rIns="57150" bIns="57150"/>
                    <a:lstStyle/>
                    <a:p>
                      <a:pPr algn="l"/>
                      <a:r>
                        <a:rPr sz="2250" b="1">
                          <a:solidFill>
                            <a:srgbClr val="000000"/>
                          </a:solidFill>
                          <a:latin typeface="Calibri"/>
                          <a:ea typeface="Calibri"/>
                          <a:cs typeface="Calibri"/>
                        </a:rPr>
                        <a:t>Resultado</a:t>
                      </a:r>
                    </a:p>
                  </a:txBody>
                  <a:tcPr marL="91440" marR="91440" marT="45720" marB="45720" anchor="ctr">
                    <a:solidFill>
                      <a:srgbClr val="EBEBEB"/>
                    </a:solidFill>
                  </a:tcPr>
                </a:tc>
                <a:tc>
                  <a:txBody>
                    <a:bodyPr lIns="57150" tIns="57150" rIns="57150" bIns="57150"/>
                    <a:lstStyle/>
                    <a:p>
                      <a:pPr algn="ctr"/>
                      <a:r>
                        <a:rPr sz="2250" b="1">
                          <a:solidFill>
                            <a:srgbClr val="000000"/>
                          </a:solidFill>
                          <a:latin typeface="Calibri"/>
                          <a:ea typeface="Calibri"/>
                          <a:cs typeface="Calibri"/>
                        </a:rPr>
                        <a:t>Conclusión</a:t>
                      </a:r>
                    </a:p>
                  </a:txBody>
                  <a:tcPr marL="91440" marR="91440" marT="45720" marB="45720" anchor="ctr">
                    <a:solidFill>
                      <a:srgbClr val="EBEBEB"/>
                    </a:solidFill>
                  </a:tcPr>
                </a:tc>
              </a:tr>
              <a:tr h="704850">
                <a:tc>
                  <a:txBody>
                    <a:bodyPr lIns="57150" tIns="57150" rIns="57150" bIns="57150"/>
                    <a:lstStyle/>
                    <a:p>
                      <a:pPr algn="l"/>
                      <a:r>
                        <a:rPr sz="2250" b="0">
                          <a:solidFill>
                            <a:srgbClr val="000000"/>
                          </a:solidFill>
                          <a:latin typeface="Calibri"/>
                          <a:ea typeface="Calibri"/>
                          <a:cs typeface="Calibri"/>
                        </a:rPr>
                        <a:t>Adecuación funcional</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20 / 20 = 100%</a:t>
                      </a:r>
                    </a:p>
                  </a:txBody>
                  <a:tcPr marL="91440" marR="91440" marT="45720" marB="45720" anchor="ctr">
                    <a:solidFill>
                      <a:srgbClr val="FFFFFF"/>
                    </a:solidFill>
                  </a:tcPr>
                </a:tc>
                <a:tc>
                  <a:txBody>
                    <a:bodyPr lIns="57150" tIns="57150" rIns="57150" bIns="57150"/>
                    <a:lstStyle/>
                    <a:p>
                      <a:pPr algn="ctr"/>
                      <a:r>
                        <a:rPr sz="2250" b="0">
                          <a:solidFill>
                            <a:srgbClr val="000000"/>
                          </a:solidFill>
                          <a:latin typeface="Calibri"/>
                          <a:ea typeface="Calibri"/>
                          <a:cs typeface="Calibri"/>
                        </a:rPr>
                        <a:t>Cumple alcance</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Desempeño</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Mediana 3,60 ms</a:t>
                      </a:r>
                    </a:p>
                  </a:txBody>
                  <a:tcPr marL="91440" marR="91440" marT="45720" marB="45720" anchor="ctr">
                    <a:solidFill>
                      <a:srgbClr val="FFFFFF"/>
                    </a:solidFill>
                  </a:tcPr>
                </a:tc>
                <a:tc>
                  <a:txBody>
                    <a:bodyPr lIns="57150" tIns="57150" rIns="57150" bIns="57150"/>
                    <a:lstStyle/>
                    <a:p>
                      <a:pPr algn="ctr"/>
                      <a:r>
                        <a:rPr sz="2250" b="0">
                          <a:solidFill>
                            <a:srgbClr val="000000"/>
                          </a:solidFill>
                          <a:latin typeface="Calibri"/>
                          <a:ea typeface="Calibri"/>
                          <a:cs typeface="Calibri"/>
                        </a:rPr>
                        <a:t>Cumple en local</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Interacción</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3 / 5 = 60%</a:t>
                      </a:r>
                    </a:p>
                  </a:txBody>
                  <a:tcPr marL="91440" marR="91440" marT="45720" marB="45720" anchor="ctr">
                    <a:solidFill>
                      <a:srgbClr val="FFFFFF"/>
                    </a:solidFill>
                  </a:tcPr>
                </a:tc>
                <a:tc>
                  <a:txBody>
                    <a:bodyPr lIns="57150" tIns="57150" rIns="57150" bIns="57150"/>
                    <a:lstStyle/>
                    <a:p>
                      <a:pPr algn="ctr"/>
                      <a:r>
                        <a:rPr sz="2250" b="0">
                          <a:solidFill>
                            <a:srgbClr val="000000"/>
                          </a:solidFill>
                          <a:latin typeface="Calibri"/>
                          <a:ea typeface="Calibri"/>
                          <a:cs typeface="Calibri"/>
                        </a:rPr>
                        <a:t>No cumple 80%</a:t>
                      </a:r>
                    </a:p>
                  </a:txBody>
                  <a:tcPr marL="91440" marR="91440" marT="45720" marB="45720" anchor="ctr">
                    <a:solidFill>
                      <a:srgbClr val="FFFFFF"/>
                    </a:solidFill>
                  </a:tcPr>
                </a:tc>
              </a:tr>
              <a:tr h="704850">
                <a:tc>
                  <a:txBody>
                    <a:bodyPr lIns="57150" tIns="57150" rIns="57150" bIns="57150"/>
                    <a:lstStyle/>
                    <a:p>
                      <a:pPr algn="l"/>
                      <a:r>
                        <a:rPr sz="2250" b="0">
                          <a:solidFill>
                            <a:srgbClr val="000000"/>
                          </a:solidFill>
                          <a:latin typeface="Calibri"/>
                          <a:ea typeface="Calibri"/>
                          <a:cs typeface="Calibri"/>
                        </a:rPr>
                        <a:t>Fiabilidad</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30 / 30 correctas</a:t>
                      </a:r>
                    </a:p>
                  </a:txBody>
                  <a:tcPr marL="91440" marR="91440" marT="45720" marB="45720" anchor="ctr">
                    <a:solidFill>
                      <a:srgbClr val="FFFFFF"/>
                    </a:solidFill>
                  </a:tcPr>
                </a:tc>
                <a:tc>
                  <a:txBody>
                    <a:bodyPr lIns="57150" tIns="57150" rIns="57150" bIns="57150"/>
                    <a:lstStyle/>
                    <a:p>
                      <a:pPr algn="ctr"/>
                      <a:r>
                        <a:rPr sz="2250" b="0">
                          <a:solidFill>
                            <a:srgbClr val="000000"/>
                          </a:solidFill>
                          <a:latin typeface="Calibri"/>
                          <a:ea typeface="Calibri"/>
                          <a:cs typeface="Calibri"/>
                        </a:rPr>
                        <a:t>Cumple muestra</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722E7B23-A896-46CC-BC84-703683ED080F}"/>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Las tasas utilizan × 100 para expresarse como porcentajes.</a:t>
            </a:r>
          </a:p>
        </p:txBody>
      </p:sp>
    </p:spTree>
    <p:extLst>
      <p:ext uri="{BB962C8B-B14F-4D97-AF65-F5344CB8AC3E}">
        <p14:creationId xmlns:p14="http://schemas.microsoft.com/office/powerpoint/2010/main" val="2341651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2DC76321-8957-4B15-982C-6119205BEEFE}"/>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Desempeño del catálogo</a:t>
            </a:r>
          </a:p>
        </p:txBody>
      </p:sp>
      <p:graphicFrame>
        <p:nvGraphicFramePr>
          <p:cNvPr id="5" name="Chart">
            <a:extLst>
              <a:ext uri="{FF2B5EF4-FFF2-40B4-BE49-F238E27FC236}">
                <a16:creationId xmlns:a16="http://schemas.microsoft.com/office/drawing/2014/main" id="{A197964D-57D8-467E-B97F-88F22988DD59}"/>
              </a:ext>
            </a:extLst>
          </p:cNvPr>
          <p:cNvGraphicFramePr/>
          <p:nvPr/>
        </p:nvGraphicFramePr>
        <p:xfrm>
          <a:off x="523875" y="2276475"/>
          <a:ext cx="5810250" cy="3429000"/>
        </p:xfrm>
        <a:graphic>
          <a:graphicData uri="http://schemas.openxmlformats.org/drawingml/2006/chart">
            <c:chart xmlns:c="http://schemas.openxmlformats.org/drawingml/2006/chart" r:id="npRel2"/>
          </a:graphicData>
        </a:graphic>
      </p:graphicFrame>
      <p:sp>
        <p:nvSpPr>
          <p:cNvPr id="6" name="np:Contenido">
            <a:extLst>
              <a:ext uri="{FF2B5EF4-FFF2-40B4-BE49-F238E27FC236}">
                <a16:creationId xmlns:a16="http://schemas.microsoft.com/office/drawing/2014/main" id="{68CBDDD1-6649-4F0D-ADEF-038D4D12FB7D}"/>
              </a:ext>
            </a:extLst>
          </p:cNvPr>
          <p:cNvSpPr>
            <a:spLocks noGrp="1"/>
          </p:cNvSpPr>
          <p:nvPr/>
        </p:nvSpPr>
        <p:spPr>
          <a:xfrm>
            <a:off x="6667500" y="2409825"/>
            <a:ext cx="3762375" cy="3429000"/>
          </a:xfrm>
          <a:prstGeom prst="rect">
            <a:avLst/>
          </a:prstGeom>
          <a:noFill/>
          <a:ln w="0">
            <a:noFill/>
          </a:ln>
        </p:spPr>
        <p:txBody>
          <a:bodyPr lIns="0" tIns="0" rIns="0" bIns="0" anchor="t">
            <a:noAutofit/>
          </a:bodyPr>
          <a:lstStyle>
            <a:defPPr algn="l">
              <a:defRPr sz="2475" b="0">
                <a:solidFill>
                  <a:srgbClr val="000000"/>
                </a:solidFill>
                <a:latin typeface="Calibri"/>
                <a:ea typeface="Calibri"/>
                <a:cs typeface="Calibri"/>
              </a:defRPr>
            </a:defPPr>
          </a:lstStyle>
          <a:p>
            <a:pPr algn="l">
              <a:spcBef>
                <a:spcPts val="0"/>
              </a:spcBef>
              <a:spcAft>
                <a:spcPts val="18"/>
              </a:spcAft>
              <a:defRPr sz="2475" b="0">
                <a:solidFill>
                  <a:srgbClr val="000000"/>
                </a:solidFill>
                <a:latin typeface="Calibri"/>
                <a:ea typeface="Calibri"/>
                <a:cs typeface="Calibri"/>
              </a:defRPr>
            </a:pPr>
            <a:r>
              <a:rPr sz="2475" b="0">
                <a:solidFill>
                  <a:srgbClr val="000000"/>
                </a:solidFill>
                <a:latin typeface="Calibri"/>
                <a:ea typeface="Calibri"/>
                <a:cs typeface="Calibri"/>
              </a:rPr>
              <a:t>5 consultas de calentamiento</a:t>
            </a:r>
          </a:p>
          <a:p>
            <a:pPr algn="l">
              <a:spcBef>
                <a:spcPts val="0"/>
              </a:spcBef>
              <a:spcAft>
                <a:spcPts val="18"/>
              </a:spcAft>
              <a:defRPr sz="2475" b="0">
                <a:solidFill>
                  <a:srgbClr val="000000"/>
                </a:solidFill>
                <a:latin typeface="Calibri"/>
                <a:ea typeface="Calibri"/>
                <a:cs typeface="Calibri"/>
              </a:defRPr>
            </a:pPr>
            <a:r>
              <a:rPr sz="2475" b="0">
                <a:solidFill>
                  <a:srgbClr val="000000"/>
                </a:solidFill>
                <a:latin typeface="Calibri"/>
                <a:ea typeface="Calibri"/>
                <a:cs typeface="Calibri"/>
              </a:rPr>
              <a:t>30 muestras secuenciales</a:t>
            </a:r>
          </a:p>
          <a:p>
            <a:pPr algn="l">
              <a:spcBef>
                <a:spcPts val="0"/>
              </a:spcBef>
              <a:spcAft>
                <a:spcPts val="18"/>
              </a:spcAft>
              <a:defRPr sz="2475" b="0">
                <a:solidFill>
                  <a:srgbClr val="000000"/>
                </a:solidFill>
                <a:latin typeface="Calibri"/>
                <a:ea typeface="Calibri"/>
                <a:cs typeface="Calibri"/>
              </a:defRPr>
            </a:pPr>
            <a:r>
              <a:rPr sz="2475" b="0">
                <a:solidFill>
                  <a:srgbClr val="000000"/>
                </a:solidFill>
                <a:latin typeface="Calibri"/>
                <a:ea typeface="Calibri"/>
                <a:cs typeface="Calibri"/>
              </a:rPr>
              <a:t>30 respuestas correctas</a:t>
            </a:r>
          </a:p>
        </p:txBody>
      </p:sp>
      <p:sp>
        <p:nvSpPr>
          <p:cNvPr id="7" name="np:Detalle">
            <a:extLst>
              <a:ext uri="{FF2B5EF4-FFF2-40B4-BE49-F238E27FC236}">
                <a16:creationId xmlns:a16="http://schemas.microsoft.com/office/drawing/2014/main" id="{7C4B06E9-AF10-48F7-BAA7-46AFF8E4B56D}"/>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Medición local sin usuarios concurrentes.</a:t>
            </a:r>
          </a:p>
        </p:txBody>
      </p:sp>
    </p:spTree>
    <p:extLst>
      <p:ext uri="{BB962C8B-B14F-4D97-AF65-F5344CB8AC3E}">
        <p14:creationId xmlns:p14="http://schemas.microsoft.com/office/powerpoint/2010/main" val="2341651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D16F347A-68CE-4F45-8D3E-43F6FD0AECAA}"/>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Autonomía del participante</a:t>
            </a:r>
          </a:p>
        </p:txBody>
      </p:sp>
      <p:graphicFrame>
        <p:nvGraphicFramePr>
          <p:cNvPr id="5" name="">
            <a:extLst>
              <a:ext uri="{FF2B5EF4-FFF2-40B4-BE49-F238E27FC236}">
                <a16:creationId xmlns:a16="http://schemas.microsoft.com/office/drawing/2014/main" id="{E01F10A6-8FA9-4ADB-AD4B-8686A4AB0183}"/>
              </a:ext>
            </a:extLst>
          </p:cNvPr>
          <p:cNvGraphicFramePr/>
          <p:nvPr/>
        </p:nvGraphicFramePr>
        <p:xfrm>
          <a:off x="523875" y="2238375"/>
          <a:ext cx="9906000" cy="3505200"/>
        </p:xfrm>
        <a:graphic>
          <a:graphicData uri="http://schemas.openxmlformats.org/drawingml/2006/table">
            <a:tbl>
              <a:tblPr/>
              <a:tblGrid>
                <a:gridCol w="6762750"/>
                <a:gridCol w="3143250"/>
              </a:tblGrid>
              <a:tr h="584200">
                <a:tc>
                  <a:txBody>
                    <a:bodyPr lIns="57150" tIns="57150" rIns="57150" bIns="57150"/>
                    <a:lstStyle/>
                    <a:p>
                      <a:pPr algn="l"/>
                      <a:r>
                        <a:rPr sz="2250" b="1">
                          <a:solidFill>
                            <a:srgbClr val="000000"/>
                          </a:solidFill>
                          <a:latin typeface="Calibri"/>
                          <a:ea typeface="Calibri"/>
                          <a:cs typeface="Calibri"/>
                        </a:rPr>
                        <a:t>Tarea de P01</a:t>
                      </a:r>
                    </a:p>
                  </a:txBody>
                  <a:tcPr marL="91440" marR="91440" marT="45720" marB="45720" anchor="ctr">
                    <a:solidFill>
                      <a:srgbClr val="EBEBEB"/>
                    </a:solidFill>
                  </a:tcPr>
                </a:tc>
                <a:tc>
                  <a:txBody>
                    <a:bodyPr lIns="57150" tIns="57150" rIns="57150" bIns="57150"/>
                    <a:lstStyle/>
                    <a:p>
                      <a:pPr algn="l"/>
                      <a:r>
                        <a:rPr sz="2250" b="1">
                          <a:solidFill>
                            <a:srgbClr val="000000"/>
                          </a:solidFill>
                          <a:latin typeface="Calibri"/>
                          <a:ea typeface="Calibri"/>
                          <a:cs typeface="Calibri"/>
                        </a:rPr>
                        <a:t>Sin ayuda</a:t>
                      </a:r>
                    </a:p>
                  </a:txBody>
                  <a:tcPr marL="91440" marR="91440" marT="45720" marB="45720" anchor="ctr">
                    <a:solidFill>
                      <a:srgbClr val="EBEBEB"/>
                    </a:solidFill>
                  </a:tcPr>
                </a:tc>
              </a:tr>
              <a:tr h="584200">
                <a:tc>
                  <a:txBody>
                    <a:bodyPr lIns="57150" tIns="57150" rIns="57150" bIns="57150"/>
                    <a:lstStyle/>
                    <a:p>
                      <a:pPr algn="l"/>
                      <a:r>
                        <a:rPr sz="2250" b="0">
                          <a:solidFill>
                            <a:srgbClr val="000000"/>
                          </a:solidFill>
                          <a:latin typeface="Calibri"/>
                          <a:ea typeface="Calibri"/>
                          <a:cs typeface="Calibri"/>
                        </a:rPr>
                        <a:t>Buscar un videojuego</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Sí</a:t>
                      </a:r>
                    </a:p>
                  </a:txBody>
                  <a:tcPr marL="91440" marR="91440" marT="45720" marB="45720" anchor="ctr">
                    <a:solidFill>
                      <a:srgbClr val="FFFFFF"/>
                    </a:solidFill>
                  </a:tcPr>
                </a:tc>
              </a:tr>
              <a:tr h="584200">
                <a:tc>
                  <a:txBody>
                    <a:bodyPr lIns="57150" tIns="57150" rIns="57150" bIns="57150"/>
                    <a:lstStyle/>
                    <a:p>
                      <a:pPr algn="l"/>
                      <a:r>
                        <a:rPr sz="2250" b="0">
                          <a:solidFill>
                            <a:srgbClr val="000000"/>
                          </a:solidFill>
                          <a:latin typeface="Calibri"/>
                          <a:ea typeface="Calibri"/>
                          <a:cs typeface="Calibri"/>
                        </a:rPr>
                        <a:t>Filtrar por plataforma</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Sí</a:t>
                      </a:r>
                    </a:p>
                  </a:txBody>
                  <a:tcPr marL="91440" marR="91440" marT="45720" marB="45720" anchor="ctr">
                    <a:solidFill>
                      <a:srgbClr val="FFFFFF"/>
                    </a:solidFill>
                  </a:tcPr>
                </a:tc>
              </a:tr>
              <a:tr h="584200">
                <a:tc>
                  <a:txBody>
                    <a:bodyPr lIns="57150" tIns="57150" rIns="57150" bIns="57150"/>
                    <a:lstStyle/>
                    <a:p>
                      <a:pPr algn="l"/>
                      <a:r>
                        <a:rPr sz="2250" b="0">
                          <a:solidFill>
                            <a:srgbClr val="000000"/>
                          </a:solidFill>
                          <a:latin typeface="Calibri"/>
                          <a:ea typeface="Calibri"/>
                          <a:cs typeface="Calibri"/>
                        </a:rPr>
                        <a:t>Agregar y cambiar cantidad</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Sí</a:t>
                      </a:r>
                    </a:p>
                  </a:txBody>
                  <a:tcPr marL="91440" marR="91440" marT="45720" marB="45720" anchor="ctr">
                    <a:solidFill>
                      <a:srgbClr val="FFFFFF"/>
                    </a:solidFill>
                  </a:tcPr>
                </a:tc>
              </a:tr>
              <a:tr h="584200">
                <a:tc>
                  <a:txBody>
                    <a:bodyPr lIns="57150" tIns="57150" rIns="57150" bIns="57150"/>
                    <a:lstStyle/>
                    <a:p>
                      <a:pPr algn="l"/>
                      <a:r>
                        <a:rPr sz="2250" b="0">
                          <a:solidFill>
                            <a:srgbClr val="000000"/>
                          </a:solidFill>
                          <a:latin typeface="Calibri"/>
                          <a:ea typeface="Calibri"/>
                          <a:cs typeface="Calibri"/>
                        </a:rPr>
                        <a:t>Comprar en demostración</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Necesitó ayuda</a:t>
                      </a:r>
                    </a:p>
                  </a:txBody>
                  <a:tcPr marL="91440" marR="91440" marT="45720" marB="45720" anchor="ctr">
                    <a:solidFill>
                      <a:srgbClr val="FFFFFF"/>
                    </a:solidFill>
                  </a:tcPr>
                </a:tc>
              </a:tr>
              <a:tr h="584200">
                <a:tc>
                  <a:txBody>
                    <a:bodyPr lIns="57150" tIns="57150" rIns="57150" bIns="57150"/>
                    <a:lstStyle/>
                    <a:p>
                      <a:pPr algn="l"/>
                      <a:r>
                        <a:rPr sz="2250" b="0">
                          <a:solidFill>
                            <a:srgbClr val="000000"/>
                          </a:solidFill>
                          <a:latin typeface="Calibri"/>
                          <a:ea typeface="Calibri"/>
                          <a:cs typeface="Calibri"/>
                        </a:rPr>
                        <a:t>Encontrar el pedido</a:t>
                      </a:r>
                    </a:p>
                  </a:txBody>
                  <a:tcPr marL="91440" marR="91440" marT="45720" marB="45720" anchor="ctr">
                    <a:solidFill>
                      <a:srgbClr val="FFFFFF"/>
                    </a:solidFill>
                  </a:tcPr>
                </a:tc>
                <a:tc>
                  <a:txBody>
                    <a:bodyPr lIns="57150" tIns="57150" rIns="57150" bIns="57150"/>
                    <a:lstStyle/>
                    <a:p>
                      <a:pPr algn="l"/>
                      <a:r>
                        <a:rPr sz="2250" b="0">
                          <a:solidFill>
                            <a:srgbClr val="000000"/>
                          </a:solidFill>
                          <a:latin typeface="Calibri"/>
                          <a:ea typeface="Calibri"/>
                          <a:cs typeface="Calibri"/>
                        </a:rPr>
                        <a:t>Necesitó ayuda</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DED2F5AC-C1E7-4F2D-AEBF-B9347DF56952}"/>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3 / 5 × 100 = 60%. Meta: 80%. Autorreporte de una persona.</a:t>
            </a:r>
          </a:p>
        </p:txBody>
      </p:sp>
    </p:spTree>
    <p:extLst>
      <p:ext uri="{BB962C8B-B14F-4D97-AF65-F5344CB8AC3E}">
        <p14:creationId xmlns:p14="http://schemas.microsoft.com/office/powerpoint/2010/main" val="2341651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6D6C7359-D358-47CC-A545-DF36E6371EF8}"/>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D01 y su corrección</a:t>
            </a:r>
          </a:p>
        </p:txBody>
      </p:sp>
      <p:sp>
        <p:nvSpPr>
          <p:cNvPr id="5" name="np:Contenido">
            <a:extLst>
              <a:ext uri="{FF2B5EF4-FFF2-40B4-BE49-F238E27FC236}">
                <a16:creationId xmlns:a16="http://schemas.microsoft.com/office/drawing/2014/main" id="{FE08B4C4-1F5C-49E2-B2B5-D1CF3DCF3DBE}"/>
              </a:ext>
            </a:extLst>
          </p:cNvPr>
          <p:cNvSpPr>
            <a:spLocks noGrp="1"/>
          </p:cNvSpPr>
          <p:nvPr/>
        </p:nvSpPr>
        <p:spPr>
          <a:xfrm>
            <a:off x="523875" y="2352675"/>
            <a:ext cx="9906000" cy="3429000"/>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Prisma regeneraba el motor con la API abierta.</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Windows devolvía EPERM y detenía el build.</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La corrección reutiliza el cliente vigente.</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El build final terminó con código 0.</a:t>
            </a:r>
          </a:p>
        </p:txBody>
      </p:sp>
      <p:sp>
        <p:nvSpPr>
          <p:cNvPr id="6" name="np:Detalle">
            <a:extLst>
              <a:ext uri="{FF2B5EF4-FFF2-40B4-BE49-F238E27FC236}">
                <a16:creationId xmlns:a16="http://schemas.microsoft.com/office/drawing/2014/main" id="{346DF930-71EF-43DA-A68D-8544F0553A92}"/>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Severidad media. Verificación con la API abierta.</a:t>
            </a:r>
          </a:p>
        </p:txBody>
      </p:sp>
    </p:spTree>
    <p:extLst>
      <p:ext uri="{BB962C8B-B14F-4D97-AF65-F5344CB8AC3E}">
        <p14:creationId xmlns:p14="http://schemas.microsoft.com/office/powerpoint/2010/main" val="2341651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BF2BEE06-FB91-4A8E-A9DE-F2D45F4E8459}"/>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Verificación de la mejora</a:t>
            </a:r>
          </a:p>
        </p:txBody>
      </p:sp>
      <p:graphicFrame>
        <p:nvGraphicFramePr>
          <p:cNvPr id="5" name="">
            <a:extLst>
              <a:ext uri="{FF2B5EF4-FFF2-40B4-BE49-F238E27FC236}">
                <a16:creationId xmlns:a16="http://schemas.microsoft.com/office/drawing/2014/main" id="{958A3A63-890B-45D8-B239-96292E1B204F}"/>
              </a:ext>
            </a:extLst>
          </p:cNvPr>
          <p:cNvGraphicFramePr/>
          <p:nvPr/>
        </p:nvGraphicFramePr>
        <p:xfrm>
          <a:off x="523875" y="2286000"/>
          <a:ext cx="9906000" cy="2543175"/>
        </p:xfrm>
        <a:graphic>
          <a:graphicData uri="http://schemas.openxmlformats.org/drawingml/2006/table">
            <a:tbl>
              <a:tblPr/>
              <a:tblGrid>
                <a:gridCol w="2381250"/>
                <a:gridCol w="5429250"/>
                <a:gridCol w="2095500"/>
              </a:tblGrid>
              <a:tr h="635794">
                <a:tc>
                  <a:txBody>
                    <a:bodyPr lIns="57150" tIns="57150" rIns="57150" bIns="57150"/>
                    <a:lstStyle/>
                    <a:p>
                      <a:pPr algn="l"/>
                      <a:r>
                        <a:rPr sz="2400" b="1">
                          <a:solidFill>
                            <a:srgbClr val="000000"/>
                          </a:solidFill>
                          <a:latin typeface="Calibri"/>
                          <a:ea typeface="Calibri"/>
                          <a:cs typeface="Calibri"/>
                        </a:rPr>
                        <a:t>Caso crítico</a:t>
                      </a:r>
                    </a:p>
                  </a:txBody>
                  <a:tcPr marL="91440" marR="91440" marT="45720" marB="45720" anchor="ctr">
                    <a:solidFill>
                      <a:srgbClr val="EBEBEB"/>
                    </a:solidFill>
                  </a:tcPr>
                </a:tc>
                <a:tc>
                  <a:txBody>
                    <a:bodyPr lIns="57150" tIns="57150" rIns="57150" bIns="57150"/>
                    <a:lstStyle/>
                    <a:p>
                      <a:pPr algn="l"/>
                      <a:r>
                        <a:rPr sz="2400" b="1">
                          <a:solidFill>
                            <a:srgbClr val="000000"/>
                          </a:solidFill>
                          <a:latin typeface="Calibri"/>
                          <a:ea typeface="Calibri"/>
                          <a:cs typeface="Calibri"/>
                        </a:rPr>
                        <a:t>Comprobación</a:t>
                      </a:r>
                    </a:p>
                  </a:txBody>
                  <a:tcPr marL="91440" marR="91440" marT="45720" marB="45720" anchor="ctr">
                    <a:solidFill>
                      <a:srgbClr val="EBEBEB"/>
                    </a:solidFill>
                  </a:tcPr>
                </a:tc>
                <a:tc>
                  <a:txBody>
                    <a:bodyPr lIns="57150" tIns="57150" rIns="57150" bIns="57150"/>
                    <a:lstStyle/>
                    <a:p>
                      <a:pPr algn="ctr"/>
                      <a:r>
                        <a:rPr sz="2400" b="1">
                          <a:solidFill>
                            <a:srgbClr val="000000"/>
                          </a:solidFill>
                          <a:latin typeface="Calibri"/>
                          <a:ea typeface="Calibri"/>
                          <a:cs typeface="Calibri"/>
                        </a:rPr>
                        <a:t>Resultado</a:t>
                      </a:r>
                    </a:p>
                  </a:txBody>
                  <a:tcPr marL="91440" marR="91440" marT="45720" marB="45720" anchor="ctr">
                    <a:solidFill>
                      <a:srgbClr val="EBEBEB"/>
                    </a:solidFill>
                  </a:tcPr>
                </a:tc>
              </a:tr>
              <a:tr h="635794">
                <a:tc>
                  <a:txBody>
                    <a:bodyPr lIns="57150" tIns="57150" rIns="57150" bIns="57150"/>
                    <a:lstStyle/>
                    <a:p>
                      <a:pPr algn="l"/>
                      <a:r>
                        <a:rPr sz="2400" b="0">
                          <a:solidFill>
                            <a:srgbClr val="000000"/>
                          </a:solidFill>
                          <a:latin typeface="Calibri"/>
                          <a:ea typeface="Calibri"/>
                          <a:cs typeface="Calibri"/>
                        </a:rPr>
                        <a:t>CP05</a:t>
                      </a:r>
                    </a:p>
                  </a:txBody>
                  <a:tcPr marL="91440" marR="91440" marT="45720" marB="45720" anchor="ctr">
                    <a:solidFill>
                      <a:srgbClr val="FFFFFF"/>
                    </a:solidFill>
                  </a:tcPr>
                </a:tc>
                <a:tc>
                  <a:txBody>
                    <a:bodyPr lIns="57150" tIns="57150" rIns="57150" bIns="57150"/>
                    <a:lstStyle/>
                    <a:p>
                      <a:pPr algn="l"/>
                      <a:r>
                        <a:rPr sz="2400" b="0">
                          <a:solidFill>
                            <a:srgbClr val="000000"/>
                          </a:solidFill>
                          <a:latin typeface="Calibri"/>
                          <a:ea typeface="Calibri"/>
                          <a:cs typeface="Calibri"/>
                        </a:rPr>
                        <a:t>Inicio y cierre de sesión</a:t>
                      </a:r>
                    </a:p>
                  </a:txBody>
                  <a:tcPr marL="91440" marR="91440" marT="45720" marB="45720" anchor="ctr">
                    <a:solidFill>
                      <a:srgbClr val="FFFFFF"/>
                    </a:solidFill>
                  </a:tcPr>
                </a:tc>
                <a:tc>
                  <a:txBody>
                    <a:bodyPr lIns="57150" tIns="57150" rIns="57150" bIns="57150"/>
                    <a:lstStyle/>
                    <a:p>
                      <a:pPr algn="ctr"/>
                      <a:r>
                        <a:rPr sz="2400" b="0">
                          <a:solidFill>
                            <a:srgbClr val="000000"/>
                          </a:solidFill>
                          <a:latin typeface="Calibri"/>
                          <a:ea typeface="Calibri"/>
                          <a:cs typeface="Calibri"/>
                        </a:rPr>
                        <a:t>Pass</a:t>
                      </a:r>
                    </a:p>
                  </a:txBody>
                  <a:tcPr marL="91440" marR="91440" marT="45720" marB="45720" anchor="ctr">
                    <a:solidFill>
                      <a:srgbClr val="FFFFFF"/>
                    </a:solidFill>
                  </a:tcPr>
                </a:tc>
              </a:tr>
              <a:tr h="635794">
                <a:tc>
                  <a:txBody>
                    <a:bodyPr lIns="57150" tIns="57150" rIns="57150" bIns="57150"/>
                    <a:lstStyle/>
                    <a:p>
                      <a:pPr algn="l"/>
                      <a:r>
                        <a:rPr sz="2400" b="0">
                          <a:solidFill>
                            <a:srgbClr val="000000"/>
                          </a:solidFill>
                          <a:latin typeface="Calibri"/>
                          <a:ea typeface="Calibri"/>
                          <a:cs typeface="Calibri"/>
                        </a:rPr>
                        <a:t>CP15</a:t>
                      </a:r>
                    </a:p>
                  </a:txBody>
                  <a:tcPr marL="91440" marR="91440" marT="45720" marB="45720" anchor="ctr">
                    <a:solidFill>
                      <a:srgbClr val="FFFFFF"/>
                    </a:solidFill>
                  </a:tcPr>
                </a:tc>
                <a:tc>
                  <a:txBody>
                    <a:bodyPr lIns="57150" tIns="57150" rIns="57150" bIns="57150"/>
                    <a:lstStyle/>
                    <a:p>
                      <a:pPr algn="l"/>
                      <a:r>
                        <a:rPr sz="2400" b="0">
                          <a:solidFill>
                            <a:srgbClr val="000000"/>
                          </a:solidFill>
                          <a:latin typeface="Calibri"/>
                          <a:ea typeface="Calibri"/>
                          <a:cs typeface="Calibri"/>
                        </a:rPr>
                        <a:t>Pedido, precio y stock</a:t>
                      </a:r>
                    </a:p>
                  </a:txBody>
                  <a:tcPr marL="91440" marR="91440" marT="45720" marB="45720" anchor="ctr">
                    <a:solidFill>
                      <a:srgbClr val="FFFFFF"/>
                    </a:solidFill>
                  </a:tcPr>
                </a:tc>
                <a:tc>
                  <a:txBody>
                    <a:bodyPr lIns="57150" tIns="57150" rIns="57150" bIns="57150"/>
                    <a:lstStyle/>
                    <a:p>
                      <a:pPr algn="ctr"/>
                      <a:r>
                        <a:rPr sz="2400" b="0">
                          <a:solidFill>
                            <a:srgbClr val="000000"/>
                          </a:solidFill>
                          <a:latin typeface="Calibri"/>
                          <a:ea typeface="Calibri"/>
                          <a:cs typeface="Calibri"/>
                        </a:rPr>
                        <a:t>Pass</a:t>
                      </a:r>
                    </a:p>
                  </a:txBody>
                  <a:tcPr marL="91440" marR="91440" marT="45720" marB="45720" anchor="ctr">
                    <a:solidFill>
                      <a:srgbClr val="FFFFFF"/>
                    </a:solidFill>
                  </a:tcPr>
                </a:tc>
              </a:tr>
              <a:tr h="635794">
                <a:tc>
                  <a:txBody>
                    <a:bodyPr lIns="57150" tIns="57150" rIns="57150" bIns="57150"/>
                    <a:lstStyle/>
                    <a:p>
                      <a:pPr algn="l"/>
                      <a:r>
                        <a:rPr sz="2400" b="0">
                          <a:solidFill>
                            <a:srgbClr val="000000"/>
                          </a:solidFill>
                          <a:latin typeface="Calibri"/>
                          <a:ea typeface="Calibri"/>
                          <a:cs typeface="Calibri"/>
                        </a:rPr>
                        <a:t>CP17</a:t>
                      </a:r>
                    </a:p>
                  </a:txBody>
                  <a:tcPr marL="91440" marR="91440" marT="45720" marB="45720" anchor="ctr">
                    <a:solidFill>
                      <a:srgbClr val="FFFFFF"/>
                    </a:solidFill>
                  </a:tcPr>
                </a:tc>
                <a:tc>
                  <a:txBody>
                    <a:bodyPr lIns="57150" tIns="57150" rIns="57150" bIns="57150"/>
                    <a:lstStyle/>
                    <a:p>
                      <a:pPr algn="l"/>
                      <a:r>
                        <a:rPr sz="2400" b="0">
                          <a:solidFill>
                            <a:srgbClr val="000000"/>
                          </a:solidFill>
                          <a:latin typeface="Calibri"/>
                          <a:ea typeface="Calibri"/>
                          <a:cs typeface="Calibri"/>
                        </a:rPr>
                        <a:t>CRUD completo de juego</a:t>
                      </a:r>
                    </a:p>
                  </a:txBody>
                  <a:tcPr marL="91440" marR="91440" marT="45720" marB="45720" anchor="ctr">
                    <a:solidFill>
                      <a:srgbClr val="FFFFFF"/>
                    </a:solidFill>
                  </a:tcPr>
                </a:tc>
                <a:tc>
                  <a:txBody>
                    <a:bodyPr lIns="57150" tIns="57150" rIns="57150" bIns="57150"/>
                    <a:lstStyle/>
                    <a:p>
                      <a:pPr algn="ctr"/>
                      <a:r>
                        <a:rPr sz="2400" b="0">
                          <a:solidFill>
                            <a:srgbClr val="000000"/>
                          </a:solidFill>
                          <a:latin typeface="Calibri"/>
                          <a:ea typeface="Calibri"/>
                          <a:cs typeface="Calibri"/>
                        </a:rPr>
                        <a:t>Pass</a:t>
                      </a:r>
                    </a:p>
                  </a:txBody>
                  <a:tcPr marL="91440" marR="91440" marT="45720" marB="45720" anchor="ctr">
                    <a:solidFill>
                      <a:srgbClr val="FFFFFF"/>
                    </a:solidFill>
                  </a:tcPr>
                </a:tc>
              </a:tr>
            </a:tbl>
          </a:graphicData>
        </a:graphic>
      </p:graphicFrame>
      <p:sp>
        <p:nvSpPr>
          <p:cNvPr id="6" name="np:Suite">
            <a:extLst>
              <a:ext uri="{FF2B5EF4-FFF2-40B4-BE49-F238E27FC236}">
                <a16:creationId xmlns:a16="http://schemas.microsoft.com/office/drawing/2014/main" id="{D79FDDAD-8AF0-46C9-9212-0BC36C450742}"/>
              </a:ext>
            </a:extLst>
          </p:cNvPr>
          <p:cNvSpPr>
            <a:spLocks noGrp="1"/>
          </p:cNvSpPr>
          <p:nvPr/>
        </p:nvSpPr>
        <p:spPr>
          <a:xfrm>
            <a:off x="523875" y="5124450"/>
            <a:ext cx="9906000" cy="9144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algn="l">
              <a:defRPr sz="2625" b="0">
                <a:solidFill>
                  <a:srgbClr val="000000"/>
                </a:solidFill>
                <a:latin typeface="Calibri"/>
                <a:ea typeface="Calibri"/>
                <a:cs typeface="Calibri"/>
              </a:defRPr>
            </a:pPr>
            <a:r>
              <a:rPr sz="2625" b="0">
                <a:solidFill>
                  <a:srgbClr val="000000"/>
                </a:solidFill>
                <a:latin typeface="Calibri"/>
                <a:ea typeface="Calibri"/>
                <a:cs typeface="Calibri"/>
              </a:rPr>
              <a:t>20 resultados finales de regresión Pass</a:t>
            </a:r>
          </a:p>
          <a:p>
            <a:pPr algn="l">
              <a:defRPr sz="2625" b="0">
                <a:solidFill>
                  <a:srgbClr val="000000"/>
                </a:solidFill>
                <a:latin typeface="Calibri"/>
                <a:ea typeface="Calibri"/>
                <a:cs typeface="Calibri"/>
              </a:defRPr>
            </a:pPr>
            <a:r>
              <a:rPr sz="2625" b="0">
                <a:solidFill>
                  <a:srgbClr val="000000"/>
                </a:solidFill>
                <a:latin typeface="Calibri"/>
                <a:ea typeface="Calibri"/>
                <a:cs typeface="Calibri"/>
              </a:rPr>
              <a:t>26 pruebas complementarias Pass</a:t>
            </a:r>
          </a:p>
        </p:txBody>
      </p:sp>
    </p:spTree>
    <p:extLst>
      <p:ext uri="{BB962C8B-B14F-4D97-AF65-F5344CB8AC3E}">
        <p14:creationId xmlns:p14="http://schemas.microsoft.com/office/powerpoint/2010/main" val="2341651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7F0E7125-6362-4144-A3D5-1D09F1567A65}"/>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Plan de mejora</a:t>
            </a:r>
          </a:p>
        </p:txBody>
      </p:sp>
      <p:graphicFrame>
        <p:nvGraphicFramePr>
          <p:cNvPr id="5" name="">
            <a:extLst>
              <a:ext uri="{FF2B5EF4-FFF2-40B4-BE49-F238E27FC236}">
                <a16:creationId xmlns:a16="http://schemas.microsoft.com/office/drawing/2014/main" id="{CDB8EE9B-4426-490B-99E3-A7AFC69CE66C}"/>
              </a:ext>
            </a:extLst>
          </p:cNvPr>
          <p:cNvGraphicFramePr/>
          <p:nvPr/>
        </p:nvGraphicFramePr>
        <p:xfrm>
          <a:off x="523875" y="2266950"/>
          <a:ext cx="9906000" cy="3524250"/>
        </p:xfrm>
        <a:graphic>
          <a:graphicData uri="http://schemas.openxmlformats.org/drawingml/2006/table">
            <a:tbl>
              <a:tblPr/>
              <a:tblGrid>
                <a:gridCol w="2190750"/>
                <a:gridCol w="5143500"/>
                <a:gridCol w="2571750"/>
              </a:tblGrid>
              <a:tr h="1174750">
                <a:tc>
                  <a:txBody>
                    <a:bodyPr lIns="57150" tIns="57150" rIns="57150" bIns="57150"/>
                    <a:lstStyle/>
                    <a:p>
                      <a:pPr algn="l"/>
                      <a:r>
                        <a:rPr sz="2175" b="1">
                          <a:solidFill>
                            <a:srgbClr val="000000"/>
                          </a:solidFill>
                          <a:latin typeface="Calibri"/>
                          <a:ea typeface="Calibri"/>
                          <a:cs typeface="Calibri"/>
                        </a:rPr>
                        <a:t>Asunto</a:t>
                      </a:r>
                    </a:p>
                  </a:txBody>
                  <a:tcPr marL="91440" marR="91440" marT="45720" marB="45720" anchor="ctr">
                    <a:solidFill>
                      <a:srgbClr val="EBEBEB"/>
                    </a:solidFill>
                  </a:tcPr>
                </a:tc>
                <a:tc>
                  <a:txBody>
                    <a:bodyPr lIns="57150" tIns="57150" rIns="57150" bIns="57150"/>
                    <a:lstStyle/>
                    <a:p>
                      <a:pPr algn="l"/>
                      <a:r>
                        <a:rPr sz="2175" b="1">
                          <a:solidFill>
                            <a:srgbClr val="000000"/>
                          </a:solidFill>
                          <a:latin typeface="Calibri"/>
                          <a:ea typeface="Calibri"/>
                          <a:cs typeface="Calibri"/>
                        </a:rPr>
                        <a:t>Acción y cierre</a:t>
                      </a:r>
                    </a:p>
                  </a:txBody>
                  <a:tcPr marL="91440" marR="91440" marT="45720" marB="45720" anchor="ctr">
                    <a:solidFill>
                      <a:srgbClr val="EBEBEB"/>
                    </a:solidFill>
                  </a:tcPr>
                </a:tc>
                <a:tc>
                  <a:txBody>
                    <a:bodyPr lIns="57150" tIns="57150" rIns="57150" bIns="57150"/>
                    <a:lstStyle/>
                    <a:p>
                      <a:pPr algn="ctr"/>
                      <a:r>
                        <a:rPr sz="2175" b="1">
                          <a:solidFill>
                            <a:srgbClr val="000000"/>
                          </a:solidFill>
                          <a:latin typeface="Calibri"/>
                          <a:ea typeface="Calibri"/>
                          <a:cs typeface="Calibri"/>
                        </a:rPr>
                        <a:t>Seguimiento sugerido</a:t>
                      </a:r>
                    </a:p>
                  </a:txBody>
                  <a:tcPr marL="91440" marR="91440" marT="45720" marB="45720" anchor="ctr">
                    <a:solidFill>
                      <a:srgbClr val="EBEBEB"/>
                    </a:solidFill>
                  </a:tcPr>
                </a:tc>
              </a:tr>
              <a:tr h="1174750">
                <a:tc>
                  <a:txBody>
                    <a:bodyPr lIns="57150" tIns="57150" rIns="57150" bIns="57150"/>
                    <a:lstStyle/>
                    <a:p>
                      <a:pPr algn="l"/>
                      <a:r>
                        <a:rPr sz="2175" b="0">
                          <a:solidFill>
                            <a:srgbClr val="000000"/>
                          </a:solidFill>
                          <a:latin typeface="Calibri"/>
                          <a:ea typeface="Calibri"/>
                          <a:cs typeface="Calibri"/>
                        </a:rPr>
                        <a:t>D01</a:t>
                      </a:r>
                    </a:p>
                    <a:p>
                      <a:pPr algn="l"/>
                      <a:r>
                        <a:rPr sz="2175" b="0">
                          <a:solidFill>
                            <a:srgbClr val="000000"/>
                          </a:solidFill>
                          <a:latin typeface="Calibri"/>
                          <a:ea typeface="Calibri"/>
                          <a:cs typeface="Calibri"/>
                        </a:rPr>
                        <a:t>Compilación</a:t>
                      </a:r>
                    </a:p>
                  </a:txBody>
                  <a:tcPr marL="91440" marR="91440" marT="45720" marB="45720" anchor="ctr">
                    <a:solidFill>
                      <a:srgbClr val="FFFFFF"/>
                    </a:solidFill>
                  </a:tcPr>
                </a:tc>
                <a:tc>
                  <a:txBody>
                    <a:bodyPr lIns="57150" tIns="57150" rIns="57150" bIns="57150"/>
                    <a:lstStyle/>
                    <a:p>
                      <a:pPr algn="l"/>
                      <a:r>
                        <a:rPr sz="2175" b="0">
                          <a:solidFill>
                            <a:srgbClr val="000000"/>
                          </a:solidFill>
                          <a:latin typeface="Calibri"/>
                          <a:ea typeface="Calibri"/>
                          <a:cs typeface="Calibri"/>
                        </a:rPr>
                        <a:t>Cliente vigente reutilizado.</a:t>
                      </a:r>
                    </a:p>
                    <a:p>
                      <a:pPr algn="l"/>
                      <a:r>
                        <a:rPr sz="2175" b="0">
                          <a:solidFill>
                            <a:srgbClr val="000000"/>
                          </a:solidFill>
                          <a:latin typeface="Calibri"/>
                          <a:ea typeface="Calibri"/>
                          <a:cs typeface="Calibri"/>
                        </a:rPr>
                        <a:t>Build y regresión correctos.</a:t>
                      </a:r>
                    </a:p>
                    <a:p>
                      <a:pPr algn="l"/>
                      <a:r>
                        <a:rPr sz="2175" b="0">
                          <a:solidFill>
                            <a:srgbClr val="000000"/>
                          </a:solidFill>
                          <a:latin typeface="Calibri"/>
                          <a:ea typeface="Calibri"/>
                          <a:cs typeface="Calibri"/>
                        </a:rPr>
                        <a:t>Cerrado.</a:t>
                      </a:r>
                    </a:p>
                  </a:txBody>
                  <a:tcPr marL="91440" marR="91440" marT="45720" marB="45720" anchor="ctr">
                    <a:solidFill>
                      <a:srgbClr val="FFFFFF"/>
                    </a:solidFill>
                  </a:tcPr>
                </a:tc>
                <a:tc>
                  <a:txBody>
                    <a:bodyPr lIns="57150" tIns="57150" rIns="57150" bIns="57150"/>
                    <a:lstStyle/>
                    <a:p>
                      <a:pPr algn="ctr"/>
                      <a:r>
                        <a:rPr sz="2175" b="0">
                          <a:solidFill>
                            <a:srgbClr val="000000"/>
                          </a:solidFill>
                          <a:latin typeface="Calibri"/>
                          <a:ea typeface="Calibri"/>
                          <a:cs typeface="Calibri"/>
                        </a:rPr>
                        <a:t>Orlando Trujillo</a:t>
                      </a:r>
                    </a:p>
                    <a:p>
                      <a:pPr algn="ctr"/>
                      <a:r>
                        <a:rPr sz="2175" b="0">
                          <a:solidFill>
                            <a:srgbClr val="000000"/>
                          </a:solidFill>
                          <a:latin typeface="Calibri"/>
                          <a:ea typeface="Calibri"/>
                          <a:cs typeface="Calibri"/>
                        </a:rPr>
                        <a:t>Servidor</a:t>
                      </a:r>
                    </a:p>
                  </a:txBody>
                  <a:tcPr marL="91440" marR="91440" marT="45720" marB="45720" anchor="ctr">
                    <a:solidFill>
                      <a:srgbClr val="FFFFFF"/>
                    </a:solidFill>
                  </a:tcPr>
                </a:tc>
              </a:tr>
              <a:tr h="1174750">
                <a:tc>
                  <a:txBody>
                    <a:bodyPr lIns="57150" tIns="57150" rIns="57150" bIns="57150"/>
                    <a:lstStyle/>
                    <a:p>
                      <a:pPr algn="l"/>
                      <a:r>
                        <a:rPr sz="2175" b="0">
                          <a:solidFill>
                            <a:srgbClr val="000000"/>
                          </a:solidFill>
                          <a:latin typeface="Calibri"/>
                          <a:ea typeface="Calibri"/>
                          <a:cs typeface="Calibri"/>
                        </a:rPr>
                        <a:t>O01</a:t>
                      </a:r>
                    </a:p>
                    <a:p>
                      <a:pPr algn="l"/>
                      <a:r>
                        <a:rPr sz="2175" b="0">
                          <a:solidFill>
                            <a:srgbClr val="000000"/>
                          </a:solidFill>
                          <a:latin typeface="Calibri"/>
                          <a:ea typeface="Calibri"/>
                          <a:cs typeface="Calibri"/>
                        </a:rPr>
                        <a:t>Interacción</a:t>
                      </a:r>
                    </a:p>
                  </a:txBody>
                  <a:tcPr marL="91440" marR="91440" marT="45720" marB="45720" anchor="ctr">
                    <a:solidFill>
                      <a:srgbClr val="FFFFFF"/>
                    </a:solidFill>
                  </a:tcPr>
                </a:tc>
                <a:tc>
                  <a:txBody>
                    <a:bodyPr lIns="57150" tIns="57150" rIns="57150" bIns="57150"/>
                    <a:lstStyle/>
                    <a:p>
                      <a:pPr algn="l"/>
                      <a:r>
                        <a:rPr sz="2175" b="0">
                          <a:solidFill>
                            <a:srgbClr val="000000"/>
                          </a:solidFill>
                          <a:latin typeface="Calibri"/>
                          <a:ea typeface="Calibri"/>
                          <a:cs typeface="Calibri"/>
                        </a:rPr>
                        <a:t>Observar compra e historial.</a:t>
                      </a:r>
                    </a:p>
                    <a:p>
                      <a:pPr algn="l"/>
                      <a:r>
                        <a:rPr sz="2175" b="0">
                          <a:solidFill>
                            <a:srgbClr val="000000"/>
                          </a:solidFill>
                          <a:latin typeface="Calibri"/>
                          <a:ea typeface="Calibri"/>
                          <a:cs typeface="Calibri"/>
                        </a:rPr>
                        <a:t>Repetir piloto con meta ≥ 80%.</a:t>
                      </a:r>
                    </a:p>
                    <a:p>
                      <a:pPr algn="l"/>
                      <a:r>
                        <a:rPr sz="2175" b="0">
                          <a:solidFill>
                            <a:srgbClr val="000000"/>
                          </a:solidFill>
                          <a:latin typeface="Calibri"/>
                          <a:ea typeface="Calibri"/>
                          <a:cs typeface="Calibri"/>
                        </a:rPr>
                        <a:t>Pendiente.</a:t>
                      </a:r>
                    </a:p>
                  </a:txBody>
                  <a:tcPr marL="91440" marR="91440" marT="45720" marB="45720" anchor="ctr">
                    <a:solidFill>
                      <a:srgbClr val="FFFFFF"/>
                    </a:solidFill>
                  </a:tcPr>
                </a:tc>
                <a:tc>
                  <a:txBody>
                    <a:bodyPr lIns="57150" tIns="57150" rIns="57150" bIns="57150"/>
                    <a:lstStyle/>
                    <a:p>
                      <a:pPr algn="ctr"/>
                      <a:r>
                        <a:rPr sz="2175" b="0">
                          <a:solidFill>
                            <a:srgbClr val="000000"/>
                          </a:solidFill>
                          <a:latin typeface="Calibri"/>
                          <a:ea typeface="Calibri"/>
                          <a:cs typeface="Calibri"/>
                        </a:rPr>
                        <a:t>Kevin Quiñonez</a:t>
                      </a:r>
                    </a:p>
                    <a:p>
                      <a:pPr algn="ctr"/>
                      <a:r>
                        <a:rPr sz="2175" b="0">
                          <a:solidFill>
                            <a:srgbClr val="000000"/>
                          </a:solidFill>
                          <a:latin typeface="Calibri"/>
                          <a:ea typeface="Calibri"/>
                          <a:cs typeface="Calibri"/>
                        </a:rPr>
                        <a:t>Interfaz</a:t>
                      </a:r>
                    </a:p>
                  </a:txBody>
                  <a:tcPr marL="91440" marR="91440" marT="45720" marB="45720" anchor="ctr">
                    <a:solidFill>
                      <a:srgbClr val="FFFFFF"/>
                    </a:solidFill>
                  </a:tcPr>
                </a:tc>
              </a:tr>
            </a:tbl>
          </a:graphicData>
        </a:graphic>
      </p:graphicFrame>
      <p:sp>
        <p:nvSpPr>
          <p:cNvPr id="6" name="np:Detalle">
            <a:extLst>
              <a:ext uri="{FF2B5EF4-FFF2-40B4-BE49-F238E27FC236}">
                <a16:creationId xmlns:a16="http://schemas.microsoft.com/office/drawing/2014/main" id="{A96C27DA-BB24-440A-BBE4-E913C0DD12FB}"/>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Los responsables son una propuesta para el seguimiento.</a:t>
            </a:r>
          </a:p>
        </p:txBody>
      </p:sp>
    </p:spTree>
    <p:extLst>
      <p:ext uri="{BB962C8B-B14F-4D97-AF65-F5344CB8AC3E}">
        <p14:creationId xmlns:p14="http://schemas.microsoft.com/office/powerpoint/2010/main" val="2341651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55908DBC-CC98-4553-8630-E0787C9E2D49}"/>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Conclusiones</a:t>
            </a:r>
          </a:p>
        </p:txBody>
      </p:sp>
      <p:sp>
        <p:nvSpPr>
          <p:cNvPr id="5" name="np:Contenido">
            <a:extLst>
              <a:ext uri="{FF2B5EF4-FFF2-40B4-BE49-F238E27FC236}">
                <a16:creationId xmlns:a16="http://schemas.microsoft.com/office/drawing/2014/main" id="{8E7EEABC-A87D-47F8-A6E5-559FA284BD6E}"/>
              </a:ext>
            </a:extLst>
          </p:cNvPr>
          <p:cNvSpPr>
            <a:spLocks noGrp="1"/>
          </p:cNvSpPr>
          <p:nvPr/>
        </p:nvSpPr>
        <p:spPr>
          <a:xfrm>
            <a:off x="523875" y="2343150"/>
            <a:ext cx="9906000" cy="3429000"/>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Los cinco flujos funcionaron en los casos comprobados.</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D01 quedó cerrado con una corrección verificada.</a:t>
            </a:r>
          </a:p>
          <a:p>
            <a:pPr algn="l">
              <a:spcBef>
                <a:spcPts val="0"/>
              </a:spcBef>
              <a:spcAft>
                <a:spcPts val="18"/>
              </a:spcAft>
              <a:defRPr sz="2700" b="0">
                <a:solidFill>
                  <a:srgbClr val="000000"/>
                </a:solidFill>
                <a:latin typeface="Calibri"/>
                <a:ea typeface="Calibri"/>
                <a:cs typeface="Calibri"/>
              </a:defRPr>
            </a:pPr>
            <a:r>
              <a:rPr sz="2700" b="0">
                <a:solidFill>
                  <a:srgbClr val="000000"/>
                </a:solidFill>
                <a:latin typeface="Calibri"/>
                <a:ea typeface="Calibri"/>
                <a:cs typeface="Calibri"/>
              </a:rPr>
              <a:t>Se debe investigar la ayuda requerida en compra e historial.</a:t>
            </a:r>
          </a:p>
        </p:txBody>
      </p:sp>
      <p:sp>
        <p:nvSpPr>
          <p:cNvPr id="6" name="np:Detalle">
            <a:extLst>
              <a:ext uri="{FF2B5EF4-FFF2-40B4-BE49-F238E27FC236}">
                <a16:creationId xmlns:a16="http://schemas.microsoft.com/office/drawing/2014/main" id="{CB5EF591-0F8B-4A2F-89DF-ADD25FA2A036}"/>
              </a:ext>
            </a:extLst>
          </p:cNvPr>
          <p:cNvSpPr>
            <a:spLocks noGrp="1"/>
          </p:cNvSpPr>
          <p:nvPr/>
        </p:nvSpPr>
        <p:spPr>
          <a:xfrm>
            <a:off x="523875" y="5819775"/>
            <a:ext cx="9906000" cy="3810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Los resultados corresponden al alcance y al entorno local evaluados.</a:t>
            </a:r>
          </a:p>
        </p:txBody>
      </p:sp>
    </p:spTree>
    <p:extLst>
      <p:ext uri="{BB962C8B-B14F-4D97-AF65-F5344CB8AC3E}">
        <p14:creationId xmlns:p14="http://schemas.microsoft.com/office/powerpoint/2010/main" val="2341651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p:Preguntas">
            <a:extLst>
              <a:ext uri="{FF2B5EF4-FFF2-40B4-BE49-F238E27FC236}">
                <a16:creationId xmlns:a16="http://schemas.microsoft.com/office/drawing/2014/main" id="{5116E38D-B03C-4B7B-83ED-588281CBBE1A}"/>
              </a:ext>
            </a:extLst>
          </p:cNvPr>
          <p:cNvSpPr>
            <a:spLocks noGrp="1"/>
          </p:cNvSpPr>
          <p:nvPr/>
        </p:nvSpPr>
        <p:spPr>
          <a:xfrm>
            <a:off x="714375" y="1524000"/>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Preguntas</a:t>
            </a:r>
          </a:p>
        </p:txBody>
      </p:sp>
    </p:spTree>
    <p:extLst>
      <p:ext uri="{BB962C8B-B14F-4D97-AF65-F5344CB8AC3E}">
        <p14:creationId xmlns:p14="http://schemas.microsoft.com/office/powerpoint/2010/main" val="17419194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0</Words>
  <Application>Microsoft Office PowerPoint</Application>
  <PresentationFormat>Panorámica</PresentationFormat>
  <Paragraphs>0</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2026-10-11T00:28:25.0290000Z</dcterms:created>
  <dcterms:modified xsi:type="dcterms:W3CDTF">2026-10-11T00:28:25.0290000Z</dcterms:modified>
</coreProperties>
</file>