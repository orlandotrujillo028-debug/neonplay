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ba2caf3930f4035" /><Relationship Type="http://schemas.openxmlformats.org/officeDocument/2006/relationships/extended-properties" Target="/docProps/app.xml" Id="R2cd40fa08b644950" /><Relationship Type="http://schemas.openxmlformats.org/officeDocument/2006/relationships/officeDocument" Target="/ppt/presentation.xml" Id="R408c3289ec1a4745" /></Relationships>
</file>

<file path=ppt/presentation.xml><?xml version="1.0" encoding="utf-8"?>
<p:presentation xmlns:p="http://schemas.openxmlformats.org/presentationml/2006/main">
  <p:sldMasterIdLst>
    <p:sldMasterId xmlns:r="http://schemas.openxmlformats.org/officeDocument/2006/relationships" id="2147483648" r:id="R19d75965eecc4549"/>
  </p:sldMasterIdLst>
  <p:notesMasterIdLst>
    <p:notesMasterId xmlns:r="http://schemas.openxmlformats.org/officeDocument/2006/relationships" r:id="R9807050cdb354b60"/>
  </p:notesMasterIdLst>
  <p:sldIdLst>
    <p:sldId xmlns:r="http://schemas.openxmlformats.org/officeDocument/2006/relationships" id="256" r:id="R48c8dcd913784f2c"/>
    <p:sldId xmlns:r="http://schemas.openxmlformats.org/officeDocument/2006/relationships" id="257" r:id="R8c6f0e562c644dae"/>
    <p:sldId xmlns:r="http://schemas.openxmlformats.org/officeDocument/2006/relationships" id="258" r:id="R71d6e559fa264cb0"/>
    <p:sldId xmlns:r="http://schemas.openxmlformats.org/officeDocument/2006/relationships" id="259" r:id="R7fe335248cbf44af"/>
    <p:sldId xmlns:r="http://schemas.openxmlformats.org/officeDocument/2006/relationships" id="260" r:id="R30387e8e189d4527"/>
    <p:sldId xmlns:r="http://schemas.openxmlformats.org/officeDocument/2006/relationships" id="261" r:id="Radee340dc4aa45a4"/>
    <p:sldId xmlns:r="http://schemas.openxmlformats.org/officeDocument/2006/relationships" id="262" r:id="R13ee2bcc9ae64e29"/>
    <p:sldId xmlns:r="http://schemas.openxmlformats.org/officeDocument/2006/relationships" id="263" r:id="R492093f31264444d"/>
    <p:sldId xmlns:r="http://schemas.openxmlformats.org/officeDocument/2006/relationships" id="264" r:id="Rff36d3f9be3f4a0c"/>
    <p:sldId xmlns:r="http://schemas.openxmlformats.org/officeDocument/2006/relationships" id="265" r:id="R511491b128bf42b7"/>
    <p:sldId xmlns:r="http://schemas.openxmlformats.org/officeDocument/2006/relationships" id="266" r:id="R0024e8875f7b4294"/>
    <p:sldId xmlns:r="http://schemas.openxmlformats.org/officeDocument/2006/relationships" id="267" r:id="Re3c7b3cd00064fe0"/>
    <p:sldId xmlns:r="http://schemas.openxmlformats.org/officeDocument/2006/relationships" id="268" r:id="Rc40a9e1cc46846a4"/>
    <p:sldId xmlns:r="http://schemas.openxmlformats.org/officeDocument/2006/relationships" id="269" r:id="Ra08b88ef2d8a49be"/>
    <p:sldId xmlns:r="http://schemas.openxmlformats.org/officeDocument/2006/relationships" id="270" r:id="R22fe58f13f05439c"/>
    <p:sldId xmlns:r="http://schemas.openxmlformats.org/officeDocument/2006/relationships" id="271" r:id="Rf3afd660bd1542e6"/>
    <p:sldId xmlns:r="http://schemas.openxmlformats.org/officeDocument/2006/relationships" id="272" r:id="R9704b86e50914d9a"/>
    <p:sldId xmlns:r="http://schemas.openxmlformats.org/officeDocument/2006/relationships" id="273" r:id="R427da6f2d48e4261"/>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b0f3e52c43404fb7" /><Relationship Type="http://schemas.openxmlformats.org/officeDocument/2006/relationships/slideMaster" Target="/ppt/slideMasters/slideMaster1.xml" Id="R19d75965eecc4549" /><Relationship Type="http://schemas.openxmlformats.org/officeDocument/2006/relationships/notesMaster" Target="/ppt/notesMasters/notesMaster1.xml" Id="R9807050cdb354b60" /><Relationship Type="http://schemas.openxmlformats.org/officeDocument/2006/relationships/presProps" Target="/ppt/presProps.xml" Id="R9f36af16c2874dd2" /><Relationship Type="http://schemas.openxmlformats.org/officeDocument/2006/relationships/viewProps" Target="/ppt/viewProps.xml" Id="Rfbb8ae69243a49f3" /><Relationship Type="http://schemas.openxmlformats.org/officeDocument/2006/relationships/tableStyles" Target="/ppt/tableStyles.xml" Id="R514756daaeca4636" /><Relationship Type="http://schemas.openxmlformats.org/officeDocument/2006/relationships/slide" Target="/ppt/slides/slide1.xml" Id="R48c8dcd913784f2c" /><Relationship Type="http://schemas.openxmlformats.org/officeDocument/2006/relationships/slide" Target="/ppt/slides/slide2.xml" Id="R8c6f0e562c644dae" /><Relationship Type="http://schemas.openxmlformats.org/officeDocument/2006/relationships/slide" Target="/ppt/slides/slide3.xml" Id="R71d6e559fa264cb0" /><Relationship Type="http://schemas.openxmlformats.org/officeDocument/2006/relationships/slide" Target="/ppt/slides/slide4.xml" Id="R7fe335248cbf44af" /><Relationship Type="http://schemas.openxmlformats.org/officeDocument/2006/relationships/slide" Target="/ppt/slides/slide5.xml" Id="R30387e8e189d4527" /><Relationship Type="http://schemas.openxmlformats.org/officeDocument/2006/relationships/slide" Target="/ppt/slides/slide6.xml" Id="Radee340dc4aa45a4" /><Relationship Type="http://schemas.openxmlformats.org/officeDocument/2006/relationships/slide" Target="/ppt/slides/slide7.xml" Id="R13ee2bcc9ae64e29" /><Relationship Type="http://schemas.openxmlformats.org/officeDocument/2006/relationships/slide" Target="/ppt/slides/slide8.xml" Id="R492093f31264444d" /><Relationship Type="http://schemas.openxmlformats.org/officeDocument/2006/relationships/slide" Target="/ppt/slides/slide9.xml" Id="Rff36d3f9be3f4a0c" /><Relationship Type="http://schemas.openxmlformats.org/officeDocument/2006/relationships/slide" Target="/ppt/slides/slide10.xml" Id="R511491b128bf42b7" /><Relationship Type="http://schemas.openxmlformats.org/officeDocument/2006/relationships/slide" Target="/ppt/slides/slide11.xml" Id="R0024e8875f7b4294" /><Relationship Type="http://schemas.openxmlformats.org/officeDocument/2006/relationships/slide" Target="/ppt/slides/slide12.xml" Id="Re3c7b3cd00064fe0" /><Relationship Type="http://schemas.openxmlformats.org/officeDocument/2006/relationships/slide" Target="/ppt/slides/slide13.xml" Id="Rc40a9e1cc46846a4" /><Relationship Type="http://schemas.openxmlformats.org/officeDocument/2006/relationships/slide" Target="/ppt/slides/slide14.xml" Id="Ra08b88ef2d8a49be" /><Relationship Type="http://schemas.openxmlformats.org/officeDocument/2006/relationships/slide" Target="/ppt/slides/slide15.xml" Id="R22fe58f13f05439c" /><Relationship Type="http://schemas.openxmlformats.org/officeDocument/2006/relationships/slide" Target="/ppt/slides/slide16.xml" Id="Rf3afd660bd1542e6" /><Relationship Type="http://schemas.openxmlformats.org/officeDocument/2006/relationships/slide" Target="/ppt/slides/slide17.xml" Id="R9704b86e50914d9a" /><Relationship Type="http://schemas.openxmlformats.org/officeDocument/2006/relationships/slide" Target="/ppt/slides/slide18.xml" Id="R427da6f2d48e426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1229ad715094fc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bc5cc4e27f747a8" /><Relationship Type="http://schemas.openxmlformats.org/officeDocument/2006/relationships/notesMaster" Target="/ppt/notesMasters/notesMaster1.xml" Id="Rd1e678a1157e4e32" /></Relationships>
</file>

<file path=ppt/notesSlides/_rels/notesSlide2.xml.rels>&#65279;<?xml version="1.0" encoding="utf-8"?><Relationships xmlns="http://schemas.openxmlformats.org/package/2006/relationships"><Relationship Type="http://schemas.openxmlformats.org/officeDocument/2006/relationships/slide" Target="/ppt/slides/slide2.xml" Id="Rf7a17cfd1bd24520" /><Relationship Type="http://schemas.openxmlformats.org/officeDocument/2006/relationships/notesMaster" Target="/ppt/notesMasters/notesMaster1.xml" Id="R491f87bbf1244a58" /></Relationships>
</file>

<file path=ppt/notesSlides/_rels/notesSlide3.xml.rels>&#65279;<?xml version="1.0" encoding="utf-8"?><Relationships xmlns="http://schemas.openxmlformats.org/package/2006/relationships"><Relationship Type="http://schemas.openxmlformats.org/officeDocument/2006/relationships/slide" Target="/ppt/slides/slide3.xml" Id="R6bc7b197935343be" /><Relationship Type="http://schemas.openxmlformats.org/officeDocument/2006/relationships/notesMaster" Target="/ppt/notesMasters/notesMaster1.xml" Id="R33e39ac45ba74fdd" /></Relationships>
</file>

<file path=ppt/notesSlides/_rels/notesSlide4.xml.rels>&#65279;<?xml version="1.0" encoding="utf-8"?><Relationships xmlns="http://schemas.openxmlformats.org/package/2006/relationships"><Relationship Type="http://schemas.openxmlformats.org/officeDocument/2006/relationships/slide" Target="/ppt/slides/slide4.xml" Id="Rcd5c2fbdf9874dc1" /><Relationship Type="http://schemas.openxmlformats.org/officeDocument/2006/relationships/notesMaster" Target="/ppt/notesMasters/notesMaster1.xml" Id="Rd204ee5338b84720" /></Relationships>
</file>

<file path=ppt/notesSlides/_rels/notesSlide5.xml.rels>&#65279;<?xml version="1.0" encoding="utf-8"?><Relationships xmlns="http://schemas.openxmlformats.org/package/2006/relationships"><Relationship Type="http://schemas.openxmlformats.org/officeDocument/2006/relationships/slide" Target="/ppt/slides/slide5.xml" Id="Ra3a39f38b9cc459d" /><Relationship Type="http://schemas.openxmlformats.org/officeDocument/2006/relationships/notesMaster" Target="/ppt/notesMasters/notesMaster1.xml" Id="R0eb479c4f00d4fa2" /></Relationships>
</file>

<file path=ppt/notesSlides/_rels/notesSlide6.xml.rels>&#65279;<?xml version="1.0" encoding="utf-8"?><Relationships xmlns="http://schemas.openxmlformats.org/package/2006/relationships"><Relationship Type="http://schemas.openxmlformats.org/officeDocument/2006/relationships/slide" Target="/ppt/slides/slide6.xml" Id="Re92f6f247c614bf0" /><Relationship Type="http://schemas.openxmlformats.org/officeDocument/2006/relationships/notesMaster" Target="/ppt/notesMasters/notesMaster1.xml" Id="R7afa5d8732ca4e33" /></Relationships>
</file>

<file path=ppt/notesSlides/_rels/notesSlide7.xml.rels>&#65279;<?xml version="1.0" encoding="utf-8"?><Relationships xmlns="http://schemas.openxmlformats.org/package/2006/relationships"><Relationship Type="http://schemas.openxmlformats.org/officeDocument/2006/relationships/slide" Target="/ppt/slides/slide7.xml" Id="R6cb399dbec494da6" /><Relationship Type="http://schemas.openxmlformats.org/officeDocument/2006/relationships/notesMaster" Target="/ppt/notesMasters/notesMaster1.xml" Id="Rfdc0366146464511" /></Relationships>
</file>

<file path=ppt/notesSlides/_rels/notesSlide8.xml.rels>&#65279;<?xml version="1.0" encoding="utf-8"?><Relationships xmlns="http://schemas.openxmlformats.org/package/2006/relationships"><Relationship Type="http://schemas.openxmlformats.org/officeDocument/2006/relationships/slide" Target="/ppt/slides/slide8.xml" Id="Rd3e91c8e3a0148b7" /><Relationship Type="http://schemas.openxmlformats.org/officeDocument/2006/relationships/notesMaster" Target="/ppt/notesMasters/notesMaster1.xml" Id="Rd70f917a86694782" /></Relationships>
</file>

<file path=ppt/notesSlides/_rels/notesSlide9.xml.rels>&#65279;<?xml version="1.0" encoding="utf-8"?><Relationships xmlns="http://schemas.openxmlformats.org/package/2006/relationships"><Relationship Type="http://schemas.openxmlformats.org/officeDocument/2006/relationships/slide" Target="/ppt/slides/slide9.xml" Id="R28c88dfe53184a3f" /><Relationship Type="http://schemas.openxmlformats.org/officeDocument/2006/relationships/notesMaster" Target="/ppt/notesMasters/notesMaster1.xml" Id="Rb913ae857f1942d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e315e2981e74dd2" /><Relationship Type="http://schemas.openxmlformats.org/officeDocument/2006/relationships/notesMaster" Target="/ppt/notesMasters/notesMaster1.xml" Id="Re63e46936c30404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ad5cc15b2424a6f" /><Relationship Type="http://schemas.openxmlformats.org/officeDocument/2006/relationships/notesMaster" Target="/ppt/notesMasters/notesMaster1.xml" Id="R03c21a65c4d94b1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e1f53f642364815" /><Relationship Type="http://schemas.openxmlformats.org/officeDocument/2006/relationships/notesMaster" Target="/ppt/notesMasters/notesMaster1.xml" Id="R3a3b5d1b7cce41a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bf325be93bd4baf" /><Relationship Type="http://schemas.openxmlformats.org/officeDocument/2006/relationships/notesMaster" Target="/ppt/notesMasters/notesMaster1.xml" Id="R9bd959c303854b2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59fddf00cb9491a" /><Relationship Type="http://schemas.openxmlformats.org/officeDocument/2006/relationships/notesMaster" Target="/ppt/notesMasters/notesMaster1.xml" Id="Rbaea55daa92142b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4f6ee494de44123" /><Relationship Type="http://schemas.openxmlformats.org/officeDocument/2006/relationships/notesMaster" Target="/ppt/notesMasters/notesMaster1.xml" Id="Re5d3e2d5ed70408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7bc2d40ca6a4a7c" /><Relationship Type="http://schemas.openxmlformats.org/officeDocument/2006/relationships/notesMaster" Target="/ppt/notesMasters/notesMaster1.xml" Id="R45d43fb4401a47a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5fdfa8cc9464fba" /><Relationship Type="http://schemas.openxmlformats.org/officeDocument/2006/relationships/notesMaster" Target="/ppt/notesMasters/notesMaster1.xml" Id="Rec839bb9c132402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3fad9874f7b4df8" /><Relationship Type="http://schemas.openxmlformats.org/officeDocument/2006/relationships/notesMaster" Target="/ppt/notesMasters/notesMaster1.xml" Id="Rf170c81126f6449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60 segundos.</a:t>
            </a:r>
          </a:p>
          <a:p xmlns:a="http://schemas.openxmlformats.org/drawingml/2006/main">
            <a:r>
              <a:t/>
            </a:r>
          </a:p>
          <a:p xmlns:a="http://schemas.openxmlformats.org/drawingml/2006/main">
            <a:r>
              <a:t>Presentar el trabajo y a los integrantes. NeonPlay es un ecommerce de videojuegos con checkout de demostración. La evaluación conecta las tres unidades de la asignatura: contexto y criterios, pruebas y configuración, métricas y mejora. Adelantar el resultado: veinte casos funcionales pasaron, pero el piloto de interacción alcanzó solo 60% sin ayuda. La conclusión distingue funcionamiento de autonomía de uso.</a:t>
            </a:r>
          </a:p>
          <a:p xmlns:a="http://schemas.openxmlformats.org/drawingml/2006/main">
            <a:r>
              <a:t/>
            </a:r>
          </a:p>
          <a:p xmlns:a="http://schemas.openxmlformats.org/drawingml/2006/main">
            <a:r>
              <a:t>Fuentes: Plantilla institucional ITQ proporcionada por el solicitante. Datos académicos facilitados por el equipo.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60 segundos.</a:t>
            </a:r>
          </a:p>
          <a:p xmlns:a="http://schemas.openxmlformats.org/drawingml/2006/main">
            <a:r>
              <a:t/>
            </a:r>
          </a:p>
          <a:p xmlns:a="http://schemas.openxmlformats.org/drawingml/2006/main">
            <a:r>
              <a:t>Explicar el recorrido cliente y la función administrativa. La interfaz usa React y la API trabaja con PostgreSQL. La captura muestra la búsqueda de Nexus. Se seleccionaron cinco flujos completos por su impacto en compra e integridad del catálogo. El solicitante autorizó NeonPlay para la actividad; no se atribuye al repositorio una antigüedad de semestre que no esté demostrada. Esta versión no cobra pagos reales ni entrega claves digitales.</a:t>
            </a:r>
          </a:p>
          <a:p xmlns:a="http://schemas.openxmlformats.org/drawingml/2006/main">
            <a:r>
              <a:t/>
            </a:r>
          </a:p>
          <a:p xmlns:a="http://schemas.openxmlformats.org/drawingml/2006/main">
            <a:r>
              <a:t>Fuentes: Captura baseline/CP07.png; README y código de NeonPlay.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60 segundos.</a:t>
            </a:r>
          </a:p>
          <a:p xmlns:a="http://schemas.openxmlformats.org/drawingml/2006/main">
            <a:r>
              <a:t/>
            </a:r>
          </a:p>
          <a:p xmlns:a="http://schemas.openxmlformats.org/drawingml/2006/main">
            <a:r>
              <a:t>Explicar que el navegador envía solicitudes a la API y que el servidor valida permisos y disponibilidad. User tiene sesiones y pedidos; Game pertenece a Category; Game y Platform se relacionan mediante GamePlatform. Cada Order tiene líneas OrderItem que guardan precio, nombre y plataforma al comprar. El stock se descuenta dentro de la transacción del pedido. Los juegos con pedidos se archivan para preservar el historial.</a:t>
            </a:r>
          </a:p>
          <a:p xmlns:a="http://schemas.openxmlformats.org/drawingml/2006/main">
            <a:r>
              <a:t/>
            </a:r>
          </a:p>
          <a:p xmlns:a="http://schemas.openxmlformats.org/drawingml/2006/main">
            <a:r>
              <a:t>Fuentes: server/prisma/schema.prisma; server/src/routes/orders.ts; docs/ARQUITECTURA.md.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75 segundos.</a:t>
            </a:r>
          </a:p>
          <a:p xmlns:a="http://schemas.openxmlformats.org/drawingml/2006/main">
            <a:r>
              <a:t/>
            </a:r>
          </a:p>
          <a:p xmlns:a="http://schemas.openxmlformats.org/drawingml/2006/main">
            <a:r>
              <a:t>Relacionar las normas con la evaluación: ISO 25010 aporta el modelo del producto y la selección de cuatro atributos; ISO 25023 ayuda a vincular medidas y resultados. SWEBOK orienta calidad, pruebas, mantenimiento y configuración. ISTQB aporta particiones, valores límite, decisiones y estados. Las fichas públicas ISO y las fuentes primarias se verificaron el 10/10/2026. Los umbrales numéricos son decisiones propias para este entorno; no se afirma certificación ni acceso al texto completo de ISO.</a:t>
            </a:r>
          </a:p>
          <a:p xmlns:a="http://schemas.openxmlformats.org/drawingml/2006/main">
            <a:r>
              <a:t/>
            </a:r>
          </a:p>
          <a:p xmlns:a="http://schemas.openxmlformats.org/drawingml/2006/main">
            <a:r>
              <a:t>Fuentes: https://www.iso.org/standard/78176.html</a:t>
            </a:r>
          </a:p>
          <a:p xmlns:a="http://schemas.openxmlformats.org/drawingml/2006/main">
            <a:r>
              <a:t>https://www.iso.org/standard/35747.html</a:t>
            </a:r>
          </a:p>
          <a:p xmlns:a="http://schemas.openxmlformats.org/drawingml/2006/main">
            <a:r>
              <a:t>https://www.computer.org/education/bodies-of-knowledge/software-engineering/v4</a:t>
            </a:r>
          </a:p>
          <a:p xmlns:a="http://schemas.openxmlformats.org/drawingml/2006/main">
            <a:r>
              <a:t>https://istqb.org/wp-content/uploads/2024/11/ISTQB_CTFL_Syllabus_v4.0.1.pdf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60 segundos.</a:t>
            </a:r>
          </a:p>
          <a:p xmlns:a="http://schemas.openxmlformats.org/drawingml/2006/main">
            <a:r>
              <a:t/>
            </a:r>
          </a:p>
          <a:p xmlns:a="http://schemas.openxmlformats.org/drawingml/2006/main">
            <a:r>
              <a:t>Identificar la baseline completa afac785407c041abc13f9b8651e70293aae488d4 y la mejora f6c1a4c1db8af32cbd3311ec4c6fe2d20d9caa14. Se usó Windows 11, Node 22.23.3, Prisma 6.19.0 y Chrome 154.0.8037.98, con pantalla 1440 por 1000. El esquema de evaluación se separó de public y las cuentas fueron ficticias. El build inicial falló por el hook de Prisma, por lo que se compiló directamente con TypeScript y el build del cliente para probar el mismo código de negocio. El repositorio es privado y el docente necesita acceso.</a:t>
            </a:r>
          </a:p>
          <a:p xmlns:a="http://schemas.openxmlformats.org/drawingml/2006/main">
            <a:r>
              <a:t/>
            </a:r>
          </a:p>
          <a:p xmlns:a="http://schemas.openxmlformats.org/drawingml/2006/main">
            <a:r>
              <a:t>Fuentes: https://github.com/orlandotrujillo028-debug/NeonPlay</a:t>
            </a:r>
          </a:p>
          <a:p xmlns:a="http://schemas.openxmlformats.org/drawingml/2006/main">
            <a:r>
              <a:t>quality/evidence/environment.json; baseline-build.txt.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75 segundos.</a:t>
            </a:r>
          </a:p>
          <a:p xmlns:a="http://schemas.openxmlformats.org/drawingml/2006/main">
            <a:r>
              <a:t/>
            </a:r>
          </a:p>
          <a:p xmlns:a="http://schemas.openxmlformats.org/drawingml/2006/main">
            <a:r>
              <a:t>Explicar que los veinte casos superan el mínimo de quince y cubren escenarios válidos, inválidos y límites. Cada caso tiene precondiciones, datos, pasos, resultado esperado, obtenido, estado y evidencia. Playwright opera la interfaz y las comprobaciones HTTP verifican reglas del servidor. Los conteos de esta tabla corresponden a la baseline aceptada. La preparación del ejecutor y el intento inicial están conservados y separados; no se contabilizan sus selectores incorrectos como fallos del producto.</a:t>
            </a:r>
          </a:p>
          <a:p xmlns:a="http://schemas.openxmlformats.org/drawingml/2006/main">
            <a:r>
              <a:t/>
            </a:r>
          </a:p>
          <a:p xmlns:a="http://schemas.openxmlformats.org/drawingml/2006/main">
            <a:r>
              <a:t>Fuentes: matrices/casos_baseline.csv; quality/evidence/baseline/results.json; quality/evidence/instrumentacion-01/results.json.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60 segundos.</a:t>
            </a:r>
          </a:p>
          <a:p xmlns:a="http://schemas.openxmlformats.org/drawingml/2006/main">
            <a:r>
              <a:t/>
            </a:r>
          </a:p>
          <a:p xmlns:a="http://schemas.openxmlformats.org/drawingml/2006/main">
            <a:r>
              <a:t>Usar estos cuatro ejemplos para justificar el diseño, no limitarse a decir que se hicieron pruebas. CP02 divide correos válidos e inválidos; CP13 prueba la frontera del stock; CP05 verifica la transición de sesión autenticada a cerrada; CP19 distingue productos con y sin pedidos. La comprobación administrativa CP20 distingue roles cliente y anónimo. Los casos se diseñaron antes de registrar sus resultados.</a:t>
            </a:r>
          </a:p>
          <a:p xmlns:a="http://schemas.openxmlformats.org/drawingml/2006/main">
            <a:r>
              <a:t/>
            </a:r>
          </a:p>
          <a:p xmlns:a="http://schemas.openxmlformats.org/drawingml/2006/main">
            <a:r>
              <a:t>Fuentes: https://istqb.org/wp-content/uploads/2024/11/ISTQB_CTFL_Syllabus_v4.0.1.pdf</a:t>
            </a:r>
          </a:p>
          <a:p xmlns:a="http://schemas.openxmlformats.org/drawingml/2006/main">
            <a:r>
              <a:t>matrices/casos_baseline.csv.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60 segundos.</a:t>
            </a:r>
          </a:p>
          <a:p xmlns:a="http://schemas.openxmlformats.org/drawingml/2006/main">
            <a:r>
              <a:t/>
            </a:r>
          </a:p>
          <a:p xmlns:a="http://schemas.openxmlformats.org/drawingml/2006/main">
            <a:r>
              <a:t>La cantidad y el precio se verifican en el carrito. Con stock dos, intentar aumentar de dos a tres conserva dos unidades y el total 79,98. La recarga mantiene el carrito y la eliminación muestra un estado vacío. El cliente limita cantidades para orientar al usuario, pero el servidor vuelve a validar disponibilidad cuando se compra. Esta separación evita confiar únicamente en la interfaz.</a:t>
            </a:r>
          </a:p>
          <a:p xmlns:a="http://schemas.openxmlformats.org/drawingml/2006/main">
            <a:r>
              <a:t/>
            </a:r>
          </a:p>
          <a:p xmlns:a="http://schemas.openxmlformats.org/drawingml/2006/main">
            <a:r>
              <a:t>Fuentes: CP12, CP13 y CP14; captura baseline/CP13.png.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75 segundos.</a:t>
            </a:r>
          </a:p>
          <a:p xmlns:a="http://schemas.openxmlformats.org/drawingml/2006/main">
            <a:r>
              <a:t/>
            </a:r>
          </a:p>
          <a:p xmlns:a="http://schemas.openxmlformats.org/drawingml/2006/main">
            <a:r>
              <a:t>Presentar la compra como una operación de integridad. CP15 añadió una unidad de Nexus, confirmó la compra y revisó el pedido. Se comprobó total 39,99, precio conservado en OrderItem y stock final uno. CP16 intentó comprar un juego agotado: el botón estaba deshabilitado y el servidor rechazó un pedido directo con 409 sin crear otro pedido. La prueba automática confirma el flujo; el piloto humano mide otra cuestión, la necesidad de ayuda.</a:t>
            </a:r>
          </a:p>
          <a:p xmlns:a="http://schemas.openxmlformats.org/drawingml/2006/main">
            <a:r>
              <a:t/>
            </a:r>
          </a:p>
          <a:p xmlns:a="http://schemas.openxmlformats.org/drawingml/2006/main">
            <a:r>
              <a:t>Fuentes: CP15 y CP16; captura baseline/CP15.png; server/src/routes/orders.ts.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75 segundos.</a:t>
            </a:r>
          </a:p>
          <a:p xmlns:a="http://schemas.openxmlformats.org/drawingml/2006/main">
            <a:r>
              <a:t/>
            </a:r>
          </a:p>
          <a:p xmlns:a="http://schemas.openxmlformats.org/drawingml/2006/main">
            <a:r>
              <a:t>Describir el CRUD con el juego ficticio Juego QA. Se creó con categoría y PC, se consultó, se cambió el precio a 31,99 y se eliminó tras confirmar. CP18 comprobó precio cero y stock negativo. Para Nexus con pedido, la eliminación lo archivó y mantuvo el precio histórico; restaurarlo lo devolvió al catálogo. CP20 denegó operaciones al cliente con 403 y sin sesión con 401.</a:t>
            </a:r>
          </a:p>
          <a:p xmlns:a="http://schemas.openxmlformats.org/drawingml/2006/main">
            <a:r>
              <a:t/>
            </a:r>
          </a:p>
          <a:p xmlns:a="http://schemas.openxmlformats.org/drawingml/2006/main">
            <a:r>
              <a:t>Fuentes: CP17 a CP20; baseline/crud-actualizado.png; baseline/archivado.png; server/src/routes/admin.ts.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75 segundos.</a:t>
            </a:r>
          </a:p>
          <a:p xmlns:a="http://schemas.openxmlformats.org/drawingml/2006/main">
            <a:r>
              <a:t/>
            </a:r>
          </a:p>
          <a:p xmlns:a="http://schemas.openxmlformats.org/drawingml/2006/main">
            <a:r>
              <a:t>Comparar cada atributo con su criterio. La adecuación funcional exige 95% de aprobación, cinco flujos y cero críticos abiertos. El desempeño exige mediana 300 ms y p95 500 ms como máximos en local. La interacción exige 80% sin ayuda y obtuvo 60%. La fiabilidad requiere treinta respuestas correctas y las obtuvo. La consigna imprime por diez en sus tasas; se usa por cien y se declara la corrección para expresar porcentajes de cero a cien.</a:t>
            </a:r>
          </a:p>
          <a:p xmlns:a="http://schemas.openxmlformats.org/drawingml/2006/main">
            <a:r>
              <a:t/>
            </a:r>
          </a:p>
          <a:p xmlns:a="http://schemas.openxmlformats.org/drawingml/2006/main">
            <a:r>
              <a:t>Fuentes: matrices/metricas.csv; fichas ISO https://www.iso.org/standard/78176.html y https://www.iso.org/standard/35747.html.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60 segundos.</a:t>
            </a:r>
          </a:p>
          <a:p xmlns:a="http://schemas.openxmlformats.org/drawingml/2006/main">
            <a:r>
              <a:t/>
            </a:r>
          </a:p>
          <a:p xmlns:a="http://schemas.openxmlformats.org/drawingml/2006/main">
            <a:r>
              <a:t>Explicar el método: GET del catálogo ordenado por precio, cinco calentamientos y treinta repeticiones separadas 250 ms. Se incluye recepción y validación del JSON. El p95 usa rango más próximo, posición ceil de 0,95 por treinta. Los ocho juegos y el orden se comprobaron en cada respuesta. El gráfico muestra datos medidos, no una comparación con Internet ni usuarios simultáneos. La fiabilidad de treinta respuestas no demuestra disponibilidad continua.</a:t>
            </a:r>
          </a:p>
          <a:p xmlns:a="http://schemas.openxmlformats.org/drawingml/2006/main">
            <a:r>
              <a:t/>
            </a:r>
          </a:p>
          <a:p xmlns:a="http://schemas.openxmlformats.org/drawingml/2006/main">
            <a:r>
              <a:t>Fuentes: quality/evidence/performance.json; matrices/rendimiento.csv.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75 segundos.</a:t>
            </a:r>
          </a:p>
          <a:p xmlns:a="http://schemas.openxmlformats.org/drawingml/2006/main">
            <a:r>
              <a:t/>
            </a:r>
          </a:p>
          <a:p xmlns:a="http://schemas.openxmlformats.org/drawingml/2006/main">
            <a:r>
              <a:t>P01 confirmó por escrito haber intentado las cinco tareas. Las tres primeras se completaron sin ayuda; las dos últimas necesitaron ayuda. La tasa correcta es tres dividido por cinco por cien: sesenta por ciento. No se confirmaron los resultados finales de las tareas con ayuda, tiempos ni causas de dificultad. No se convierte una sola persona familiarizada con el proyecto en un estudio representativo. La observación O01 permanece abierta para investigar checkout e historial con participantes nuevos.</a:t>
            </a:r>
          </a:p>
          <a:p xmlns:a="http://schemas.openxmlformats.org/drawingml/2006/main">
            <a:r>
              <a:t/>
            </a:r>
          </a:p>
          <a:p xmlns:a="http://schemas.openxmlformats.org/drawingml/2006/main">
            <a:r>
              <a:t>Fuentes: Respuestas escritas del participante durante la evaluación; matrices/interaccion.csv.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75 segundos.</a:t>
            </a:r>
          </a:p>
          <a:p xmlns:a="http://schemas.openxmlformats.org/drawingml/2006/main">
            <a:r>
              <a:t/>
            </a:r>
          </a:p>
          <a:p xmlns:a="http://schemas.openxmlformats.org/drawingml/2006/main">
            <a:r>
              <a:t>Este es el defecto comprobado de la baseline. Ejecutar build con la API abierta intentaba reemplazar query_engine-windows.dll.node y Windows devolvía EPERM. La severidad es media porque la compilación directa ofrecía una alternativa. La mejora compara el esquema significativo, la versión y la presencia del motor y comprueba el constructor. Si ya corresponde, reutiliza el cliente; si realmente falta o cambia, lo genera y explica cómo proceder. D01 se cerró con evidencia de build cero y regresión.</a:t>
            </a:r>
          </a:p>
          <a:p xmlns:a="http://schemas.openxmlformats.org/drawingml/2006/main">
            <a:r>
              <a:t/>
            </a:r>
          </a:p>
          <a:p xmlns:a="http://schemas.openxmlformats.org/drawingml/2006/main">
            <a:r>
              <a:t>Fuentes: quality/evidence/baseline-build.txt; quality/evidence/improvement-build.txt; commit f6c1a4c1db8af32cbd3311ec4c6fe2d20d9caa14.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60 segundos.</a:t>
            </a:r>
          </a:p>
          <a:p xmlns:a="http://schemas.openxmlformats.org/drawingml/2006/main">
            <a:r>
              <a:t/>
            </a:r>
          </a:p>
          <a:p xmlns:a="http://schemas.openxmlformats.org/drawingml/2006/main">
            <a:r>
              <a:t>Los tres casos críticos exigidos se repitieron después del commit de mejora y pasaron. Además, se ejecutaron los veinte casos; CP09 necesitó un ajuste del ejecutor para esperar la actualización de URL, su repetición pasó y ambos resultados se conservaron. La suite de Vitest añadió veinte pruebas de API y seis de carrito y fechas. No se mezclan esas veintiséis con la tasa de casos funcionales. El cambio afectó scripts, no las reglas del negocio.</a:t>
            </a:r>
          </a:p>
          <a:p xmlns:a="http://schemas.openxmlformats.org/drawingml/2006/main">
            <a:r>
              <a:t/>
            </a:r>
          </a:p>
          <a:p xmlns:a="http://schemas.openxmlformats.org/drawingml/2006/main">
            <a:r>
              <a:t>Fuentes: matrices/regresion.csv; regression/results.json; regression-retry/results.json; unit-integration.txt.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60 segundos.</a:t>
            </a:r>
          </a:p>
          <a:p xmlns:a="http://schemas.openxmlformats.org/drawingml/2006/main">
            <a:r>
              <a:t/>
            </a:r>
          </a:p>
          <a:p xmlns:a="http://schemas.openxmlformats.org/drawingml/2006/main">
            <a:r>
              <a:t>Cerrar respondiendo los objetivos. Se definió contexto, riesgos y criterios; se aplicaron casos y mediciones; se corrigió un problema y se verificó la regresión. El resultado favorable de negocio no elimina la dificultad de interacción. Se proponen responsables, no se inventa una distribución real de trabajo: Orlando para seguimiento de backend y Kevin para la investigación de interfaz. Antes de producción se necesita otro protocolo de carga y seguridad. La entrega actual es académica y local.</a:t>
            </a:r>
          </a:p>
          <a:p xmlns:a="http://schemas.openxmlformats.org/drawingml/2006/main">
            <a:r>
              <a:t/>
            </a:r>
          </a:p>
          <a:p xmlns:a="http://schemas.openxmlformats.org/drawingml/2006/main">
            <a:r>
              <a:t>Fuentes: Informe, secciones de conclusiones y plan de mejora; matrices/defectos_y_observaciones.csv.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15 segundos.</a:t>
            </a:r>
          </a:p>
          <a:p xmlns:a="http://schemas.openxmlformats.org/drawingml/2006/main">
            <a:r>
              <a:t/>
            </a:r>
          </a:p>
          <a:p xmlns:a="http://schemas.openxmlformats.org/drawingml/2006/main">
            <a:r>
              <a:t>Indicar que los enlaces completos están en las notas y en la bibliografía del informe. Se consultaron fuentes primarias y fichas públicas ISO. El criterio de aceptación y la matriz son una adaptación propia a NeonPlay.</a:t>
            </a:r>
          </a:p>
          <a:p xmlns:a="http://schemas.openxmlformats.org/drawingml/2006/main">
            <a:r>
              <a:t/>
            </a:r>
          </a:p>
          <a:p xmlns:a="http://schemas.openxmlformats.org/drawingml/2006/main">
            <a:r>
              <a:t>Fuentes: https://www.iso.org/standard/78176.html</a:t>
            </a:r>
          </a:p>
          <a:p xmlns:a="http://schemas.openxmlformats.org/drawingml/2006/main">
            <a:r>
              <a:t>https://www.iso.org/standard/35747.html</a:t>
            </a:r>
          </a:p>
          <a:p xmlns:a="http://schemas.openxmlformats.org/drawingml/2006/main">
            <a:r>
              <a:t>https://www.computer.org/education/bodies-of-knowledge/software-engineering/v4</a:t>
            </a:r>
          </a:p>
          <a:p xmlns:a="http://schemas.openxmlformats.org/drawingml/2006/main">
            <a:r>
              <a:t>https://istqb.org/wp-content/uploads/2024/11/ISTQB_CTFL_Syllabus_v4.0.1.pdf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120 segundos.</a:t>
            </a:r>
          </a:p>
          <a:p xmlns:a="http://schemas.openxmlformats.org/drawingml/2006/main">
            <a:r>
              <a:t/>
            </a:r>
          </a:p>
          <a:p xmlns:a="http://schemas.openxmlformats.org/drawingml/2006/main">
            <a:r>
              <a:t>Reservar hasta dos minutos para preguntas. Posibles respuestas: 100% de casos no demuestra ausencia de todo defecto; el rendimiento es local; el piloto depende de autorreporte; las cuentas son ficticias; OrderItem conserva el precio; D01 se cierra por build cero y regresión. El acceso al repositorio es privado.</a:t>
            </a:r>
          </a:p>
          <a:p xmlns:a="http://schemas.openxmlformats.org/drawingml/2006/main">
            <a:r>
              <a:t/>
            </a:r>
          </a:p>
          <a:p xmlns:a="http://schemas.openxmlformats.org/drawingml/2006/main">
            <a:r>
              <a:t>Fuentes: Informe de evaluación y evidencias de NeonPlay. Imagen institucional conservada de la plantilla aportada.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f75750d64504f2c" /><Relationship Type="http://schemas.openxmlformats.org/officeDocument/2006/relationships/image" Target="/ppt/media/image.png" Id="Rfe23f713a7d647d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262fc6cbf944436" /><Relationship Type="http://schemas.openxmlformats.org/officeDocument/2006/relationships/image" Target="/ppt/media/image2.png" Id="Rca6d9da285b249f7" /><Relationship Type="http://schemas.openxmlformats.org/officeDocument/2006/relationships/image" Target="/ppt/media/image.svg" Id="R96c7b8035d4e4e7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ce85869d125451d" /><Relationship Type="http://schemas.openxmlformats.org/officeDocument/2006/relationships/image" Target="/ppt/media/image.jpeg" Id="R4373a6fdc39f49dd" /></Relationships>
</file>

<file path=ppt/slideLayouts/slideLayout1.xml><?xml version="1.0" encoding="utf-8"?>
<p:sldLayout xmlns:p="http://schemas.openxmlformats.org/presentationml/2006/main" preserve="1" userDrawn="1">
  <p:cSld name="Diapositiva de título">
    <p:spTree>
      <p:nvGrpSpPr>
        <p:cNvPr id="1" name=""/>
        <p:cNvGrpSpPr/>
        <p:nvPr/>
      </p:nvGrpSpPr>
      <p:grpSpPr>
        <a:xfrm xmlns:a="http://schemas.openxmlformats.org/drawingml/2006/main"/>
      </p:grpSpPr>
      <p:pic>
        <p:nvPicPr>
          <p:cNvPr id="14" name="Imagen 13">
            <a:extLst xmlns:a="http://schemas.openxmlformats.org/drawingml/2006/main">
              <a:ext uri="{FF2B5EF4-FFF2-40B4-BE49-F238E27FC236}">
                <a16:creationId xmlns:a16="http://schemas.microsoft.com/office/drawing/2014/main" id="{B9371A85-CE56-4DFC-90B8-88EC821E2963}"/>
              </a:ext>
            </a:extLst>
          </p:cNvPr>
          <p:cNvPicPr>
            <a:picLocks xmlns:a="http://schemas.openxmlformats.org/drawingml/2006/main" noChangeAspect="1"/>
          </p:cNvPicPr>
          <p:nvPr/>
        </p:nvPicPr>
        <p:blipFill>
          <a:blip xmlns:r="http://schemas.openxmlformats.org/officeDocument/2006/relationships" xmlns:a="http://schemas.openxmlformats.org/drawingml/2006/main" r:embed="Rfe23f713a7d647de"/>
          <a:stretch xmlns:a="http://schemas.openxmlformats.org/drawingml/2006/main">
            <a:fillRect l="0" t="0" r="0" b="0"/>
          </a:stretch>
        </p:blipFill>
        <p:spPr>
          <a:xfrm xmlns:a="http://schemas.openxmlformats.org/drawingml/2006/main">
            <a:off x="0" y="15240"/>
            <a:ext cx="12192000" cy="6827520"/>
          </a:xfrm>
          <a:prstGeom xmlns:a="http://schemas.openxmlformats.org/drawingml/2006/main" prst="rect">
            <a:avLst/>
          </a:prstGeom>
        </p:spPr>
      </p:pic>
    </p:spTree>
  </p:cSld>
</p:sldLayout>
</file>

<file path=ppt/slideLayouts/slideLayout2.xml><?xml version="1.0" encoding="utf-8"?>
<p:sldLayout xmlns:p="http://schemas.openxmlformats.org/presentationml/2006/main" preserve="1" userDrawn="1">
  <p:cSld name="Título y objetos">
    <p:spTree>
      <p:nvGrpSpPr>
        <p:cNvPr id="1" name=""/>
        <p:cNvGrpSpPr/>
        <p:nvPr/>
      </p:nvGrpSpPr>
      <p:grpSpPr>
        <a:xfrm xmlns:a="http://schemas.openxmlformats.org/drawingml/2006/main"/>
      </p:grpSpPr>
      <p:pic>
        <p:nvPicPr>
          <p:cNvPr id="11" name="Gráfico 10">
            <a:extLst xmlns:a="http://schemas.openxmlformats.org/drawingml/2006/main">
              <a:ext uri="{FF2B5EF4-FFF2-40B4-BE49-F238E27FC236}">
                <a16:creationId xmlns:a16="http://schemas.microsoft.com/office/drawing/2014/main" id="{B74DE442-6633-4741-8CAC-6003897DEAC7}"/>
              </a:ext>
            </a:extLst>
          </p:cNvPr>
          <p:cNvPicPr>
            <a:picLocks xmlns:a="http://schemas.openxmlformats.org/drawingml/2006/main" noChangeAspect="1"/>
          </p:cNvPicPr>
          <p:nvPr/>
        </p:nvPicPr>
        <p:blipFill>
          <a:blip xmlns:r="http://schemas.openxmlformats.org/officeDocument/2006/relationships" xmlns:a="http://schemas.openxmlformats.org/drawingml/2006/main" r:embed="Rca6d9da285b249f7">
            <a:extLst>
              <a:ext uri="{96DAC541-7B7A-43D3-8B79-37D633B846F1}">
                <asvg:svgBlip xmlns:asvg="http://schemas.microsoft.com/office/drawing/2016/SVG/main" r:embed="R96c7b8035d4e4e76"/>
              </a:ext>
            </a:extLst>
          </a:blip>
          <a:stretch xmlns:a="http://schemas.openxmlformats.org/drawingml/2006/main">
            <a:fillRect l="0" t="0" r="0" b="0"/>
          </a:stretch>
        </p:blipFill>
        <p:spPr>
          <a:xfrm xmlns:a="http://schemas.openxmlformats.org/drawingml/2006/main">
            <a:off x="0" y="256696"/>
            <a:ext cx="12192000" cy="6344608"/>
          </a:xfrm>
          <a:prstGeom xmlns:a="http://schemas.openxmlformats.org/drawingml/2006/main" prst="rect">
            <a:avLst/>
          </a:prstGeom>
        </p:spPr>
      </p:pic>
    </p:spTree>
  </p:cSld>
</p:sldLayout>
</file>

<file path=ppt/slideLayouts/slideLayout3.xml><?xml version="1.0" encoding="utf-8"?>
<p:sldLayout xmlns:p="http://schemas.openxmlformats.org/presentationml/2006/main" preserve="1" userDrawn="1">
  <p:cSld name="1_Título y objetos">
    <p:spTree>
      <p:nvGrpSpPr>
        <p:cNvPr id="1" name=""/>
        <p:cNvGrpSpPr/>
        <p:nvPr/>
      </p:nvGrpSpPr>
      <p:grpSpPr>
        <a:xfrm xmlns:a="http://schemas.openxmlformats.org/drawingml/2006/main"/>
      </p:grpSpPr>
      <p:pic>
        <p:nvPicPr>
          <p:cNvPr id="9" name="Imagen 8">
            <a:extLst xmlns:a="http://schemas.openxmlformats.org/drawingml/2006/main">
              <a:ext uri="{FF2B5EF4-FFF2-40B4-BE49-F238E27FC236}">
                <a16:creationId xmlns:a16="http://schemas.microsoft.com/office/drawing/2014/main" id="{A568495C-CCB0-4981-B10D-22C2FDE4D5D2}"/>
              </a:ext>
            </a:extLst>
          </p:cNvPr>
          <p:cNvPicPr>
            <a:picLocks xmlns:a="http://schemas.openxmlformats.org/drawingml/2006/main" noChangeAspect="1"/>
          </p:cNvPicPr>
          <p:nvPr/>
        </p:nvPicPr>
        <p:blipFill>
          <a:blip xmlns:r="http://schemas.openxmlformats.org/officeDocument/2006/relationships" xmlns:a="http://schemas.openxmlformats.org/drawingml/2006/main" r:embed="R4373a6fdc39f49dd"/>
          <a:stretch xmlns:a="http://schemas.openxmlformats.org/drawingml/2006/main">
            <a:fillRect l="0" t="0" r="0" b="0"/>
          </a:stretch>
        </p:blipFill>
        <p:spPr>
          <a:xfrm xmlns:a="http://schemas.openxmlformats.org/drawingml/2006/main">
            <a:off x="0" y="14899"/>
            <a:ext cx="12192000" cy="6828201"/>
          </a:xfrm>
          <a:prstGeom xmlns:a="http://schemas.openxmlformats.org/drawingml/2006/main" prst="rect">
            <a:avLst/>
          </a:prstGeom>
        </p:spPr>
      </p:pic>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4da16bb3e0141d8" /><Relationship Type="http://schemas.openxmlformats.org/officeDocument/2006/relationships/slideLayout" Target="/ppt/slideLayouts/slideLayout1.xml" Id="R65126750f4254749" /><Relationship Type="http://schemas.openxmlformats.org/officeDocument/2006/relationships/slideLayout" Target="/ppt/slideLayouts/slideLayout2.xml" Id="R4e7cf9c8cefd4403" /><Relationship Type="http://schemas.openxmlformats.org/officeDocument/2006/relationships/slideLayout" Target="/ppt/slideLayouts/slideLayout3.xml" Id="R012d052c640a497c"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Marcador de título 1">
            <a:extLst xmlns:a="http://schemas.openxmlformats.org/drawingml/2006/main">
              <a:ext uri="{FF2B5EF4-FFF2-40B4-BE49-F238E27FC236}">
                <a16:creationId xmlns:a16="http://schemas.microsoft.com/office/drawing/2014/main" id="{C2235B0E-40F3-FE48-85C8-7BAD9031579E}"/>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Haga clic para modificar el estilo de título del patrón</a:t>
            </a:r>
            <a:endParaRPr/>
          </a:p>
        </p:txBody>
      </p:sp>
      <p:sp>
        <p:nvSpPr>
          <p:cNvPr id="3" name="Marcador de texto 2">
            <a:extLst xmlns:a="http://schemas.openxmlformats.org/drawingml/2006/main">
              <a:ext uri="{FF2B5EF4-FFF2-40B4-BE49-F238E27FC236}">
                <a16:creationId xmlns:a16="http://schemas.microsoft.com/office/drawing/2014/main" id="{E6A252DF-D040-3140-AE95-17871B8C9C34}"/>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r>
              <a:t>Editar los estilos de texto del patrón</a:t>
            </a:r>
            <a:br/>
            <a:r>
              <a:t>Segundo nivel</a:t>
            </a:r>
            <a:br/>
            <a:r>
              <a:t>Tercer nivel</a:t>
            </a:r>
            <a:br/>
            <a:r>
              <a:t>Cuarto nivel</a:t>
            </a:r>
            <a:br/>
            <a:r>
              <a:t>Quinto nivel</a:t>
            </a:r>
            <a:endParaRPr/>
          </a:p>
        </p:txBody>
      </p:sp>
      <p:sp>
        <p:nvSpPr>
          <p:cNvPr id="4" name="Marcador de fecha 3">
            <a:extLst xmlns:a="http://schemas.openxmlformats.org/drawingml/2006/main">
              <a:ext uri="{FF2B5EF4-FFF2-40B4-BE49-F238E27FC236}">
                <a16:creationId xmlns:a16="http://schemas.microsoft.com/office/drawing/2014/main" id="{81FA9B13-6189-2D41-991A-58E300C56FB4}"/>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8FEB83C7-CE7D-EE43-931B-A983B2AE7CF3}" type="datetimeFigureOut">
              <a:t>8/5/2023</a:t>
            </a:fld>
            <a:endParaRPr/>
          </a:p>
        </p:txBody>
      </p:sp>
      <p:sp>
        <p:nvSpPr>
          <p:cNvPr id="5" name="Marcador de pie de página 4">
            <a:extLst xmlns:a="http://schemas.openxmlformats.org/drawingml/2006/main">
              <a:ext uri="{FF2B5EF4-FFF2-40B4-BE49-F238E27FC236}">
                <a16:creationId xmlns:a16="http://schemas.microsoft.com/office/drawing/2014/main" id="{61D491B9-92E6-0B4C-8EE2-6EEF6AD05A5C}"/>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Marcador de número de diapositiva 5">
            <a:extLst xmlns:a="http://schemas.openxmlformats.org/drawingml/2006/main">
              <a:ext uri="{FF2B5EF4-FFF2-40B4-BE49-F238E27FC236}">
                <a16:creationId xmlns:a16="http://schemas.microsoft.com/office/drawing/2014/main" id="{831DFC90-A7E4-7B43-913E-1B358C95858B}"/>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F994400E-63C4-0F42-997B-0D037BB11E5E}" type="slidenum">
              <a:t>‹Nº›</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5126750f4254749"/>
    <p:sldLayoutId xmlns:r="http://schemas.openxmlformats.org/officeDocument/2006/relationships" id="2147483650" r:id="R4e7cf9c8cefd4403"/>
    <p:sldLayoutId xmlns:r="http://schemas.openxmlformats.org/officeDocument/2006/relationships" id="2147483651" r:id="R012d052c640a497c"/>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0b860f18688429f" /><Relationship Type="http://schemas.openxmlformats.org/officeDocument/2006/relationships/notesSlide" Target="/ppt/notesSlides/notesSlide1.xml" Id="R552cca57bcca4e95"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6f0d1a2d881c48ea" /><Relationship Type="http://schemas.openxmlformats.org/officeDocument/2006/relationships/image" Target="/ppt/media/image3.png" Id="R3e5ef79ec80242a8" /><Relationship Type="http://schemas.openxmlformats.org/officeDocument/2006/relationships/notesSlide" Target="/ppt/notesSlides/notesSlide2.xml" Id="R03120d9a004d47f1"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f03957dbb9784326" /><Relationship Type="http://schemas.openxmlformats.org/officeDocument/2006/relationships/notesSlide" Target="/ppt/notesSlides/notesSlide3.xml" Id="Ra6546b0cc193427d"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9e48b321505c4e14" /><Relationship Type="http://schemas.openxmlformats.org/officeDocument/2006/relationships/notesSlide" Target="/ppt/notesSlides/notesSlide4.xml" Id="R3e8009c8f89042ff"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6afd6fa0711c454f" /><Relationship Type="http://schemas.openxmlformats.org/officeDocument/2006/relationships/notesSlide" Target="/ppt/notesSlides/notesSlide5.xml" Id="R19cd2ecc40e64617"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0f0ca49b96aa4d27" /><Relationship Type="http://schemas.openxmlformats.org/officeDocument/2006/relationships/notesSlide" Target="/ppt/notesSlides/notesSlide6.xml" Id="R87c9e8ebef8e4608"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7146aebe31cf4281" /><Relationship Type="http://schemas.openxmlformats.org/officeDocument/2006/relationships/notesSlide" Target="/ppt/notesSlides/notesSlide7.xml" Id="R9637aaf6cffd4d6a"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532f4579289e40c1" /><Relationship Type="http://schemas.openxmlformats.org/officeDocument/2006/relationships/image" Target="/ppt/media/image4.png" Id="R503a4650781340e1" /><Relationship Type="http://schemas.openxmlformats.org/officeDocument/2006/relationships/notesSlide" Target="/ppt/notesSlides/notesSlide8.xml" Id="Rc1822f9aa0cb43ea"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22b41fafc7ed405a" /><Relationship Type="http://schemas.openxmlformats.org/officeDocument/2006/relationships/image" Target="/ppt/media/image5.png" Id="R21b8e3ed0a16475b" /><Relationship Type="http://schemas.openxmlformats.org/officeDocument/2006/relationships/notesSlide" Target="/ppt/notesSlides/notesSlide9.xml" Id="R302d3d2efc79423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416aa2f46b5340bb" /><Relationship Type="http://schemas.openxmlformats.org/officeDocument/2006/relationships/image" Target="/ppt/media/image6.png" Id="Rd483a01077d64694" /><Relationship Type="http://schemas.openxmlformats.org/officeDocument/2006/relationships/notesSlide" Target="/ppt/notesSlides/notesSlide10.xml" Id="R7cf542924b94406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547b0dc65fe74717" /><Relationship Type="http://schemas.openxmlformats.org/officeDocument/2006/relationships/notesSlide" Target="/ppt/notesSlides/notesSlide11.xml" Id="Rce01999db77c43a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da1f534ff5204f30" /><Relationship Type="http://schemas.openxmlformats.org/officeDocument/2006/relationships/chart" Target="/ppt/slides/charts/chart1.xml" Id="Rfe3f33443f744681" /><Relationship Type="http://schemas.openxmlformats.org/officeDocument/2006/relationships/notesSlide" Target="/ppt/notesSlides/notesSlide12.xml" Id="R6e482c3aea2e4a0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06c64991761b49cb" /><Relationship Type="http://schemas.openxmlformats.org/officeDocument/2006/relationships/notesSlide" Target="/ppt/notesSlides/notesSlide13.xml" Id="R04b49aca3ce8440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aa1fbcd9b7ea4379" /><Relationship Type="http://schemas.openxmlformats.org/officeDocument/2006/relationships/notesSlide" Target="/ppt/notesSlides/notesSlide14.xml" Id="R863fbfc41d72442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39694560188c4cf3" /><Relationship Type="http://schemas.openxmlformats.org/officeDocument/2006/relationships/notesSlide" Target="/ppt/notesSlides/notesSlide15.xml" Id="R91233f057d3d481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4ababfafe8d042b9" /><Relationship Type="http://schemas.openxmlformats.org/officeDocument/2006/relationships/notesSlide" Target="/ppt/notesSlides/notesSlide16.xml" Id="Rce1313f2578249e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67140b32c965423c" /><Relationship Type="http://schemas.openxmlformats.org/officeDocument/2006/relationships/notesSlide" Target="/ppt/notesSlides/notesSlide17.xml" Id="Ra3427b25380a445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3.xml" Id="R997f7837bbb84009" /><Relationship Type="http://schemas.openxmlformats.org/officeDocument/2006/relationships/notesSlide" Target="/ppt/notesSlides/notesSlide18.xml" Id="Rb8786acf2830421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025">
                <a:solidFill>
                  <a:srgbClr val="000000"/>
                </a:solidFill>
              </a:rPr>
              <a:t>Tiempo HTTP en milisegundos</a:t>
            </a:r>
          </a:p>
        </c:rich>
      </c:tx>
      <c:overlay val="0"/>
      <c:txPr>
        <a:bodyPr xmlns:a="http://schemas.openxmlformats.org/drawingml/2006/main" anchorCtr="1"/>
        <a:lstStyle xmlns:a="http://schemas.openxmlformats.org/drawingml/2006/main"/>
        <a:p xmlns:a="http://schemas.openxmlformats.org/drawingml/2006/main">
          <a:pPr>
            <a:defRPr sz="2025">
              <a:solidFill>
                <a:srgbClr val="000000"/>
              </a:solidFill>
            </a:defRPr>
          </a:pPr>
        </a:p>
      </c:txPr>
    </c:title>
    <c:plotArea>
      <c:barChart>
        <c:barDir val="col"/>
        <c:varyColors val="0"/>
        <c:ser>
          <c:idx val="0"/>
          <c:order val="0"/>
          <c:tx>
            <c:v>Milisegundos</c:v>
          </c:tx>
          <c:spPr>
            <a:solidFill xmlns:a="http://schemas.openxmlformats.org/drawingml/2006/main">
              <a:srgbClr val="EA293C"/>
            </a:solidFill>
          </c:spPr>
          <c:invertIfNegative val="0"/>
          <c:cat>
            <c:strRef>
              <c:f>'Chart Data'!$A$2:$A$4</c:f>
              <c:strCache>
                <c:ptCount val="3"/>
                <c:pt idx="0">
                  <c:v>Promedio</c:v>
                </c:pt>
                <c:pt idx="1">
                  <c:v>Mediana</c:v>
                </c:pt>
                <c:pt idx="2">
                  <c:v>p95</c:v>
                </c:pt>
              </c:strCache>
            </c:strRef>
          </c:cat>
          <c:val>
            <c:numRef>
              <c:f>'Chart Data'!$B$2:$B$4</c:f>
              <c:numCache>
                <c:formatCode>0</c:formatCode>
                <c:ptCount val="3"/>
                <c:pt idx="0">
                  <c:v>3.67</c:v>
                </c:pt>
                <c:pt idx="1">
                  <c:v>3.6</c:v>
                </c:pt>
                <c:pt idx="2">
                  <c:v>4.45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950">
                  <a:solidFill>
                    <a:srgbClr val="000000"/>
                  </a:solidFil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defRPr>
            </a:pPr>
          </a:p>
        </c:txPr>
        <c:crossAx val="48672768"/>
      </c:catAx>
      <c:valAx>
        <c:axId val="48672768"/>
        <c:scaling>
          <c:orientation val="minMax"/>
          <c:max val="5"/>
          <c:min val="0"/>
        </c:scaling>
        <c:delete val="0"/>
        <c:axPos val="l"/>
        <c:majorGridlines>
          <c:spPr>
            <a:ln xmlns:a="http://schemas.openxmlformats.org/drawingml/2006/main" w="9525">
              <a:solidFill>
                <a:srgbClr val="DDDDDD"/>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defRPr>
            </a:pPr>
          </a:p>
        </c:txPr>
        <c:crossAx val="48650112"/>
        <c:crossBetween val="between"/>
        <c:majorUnit val="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8" name="Título 7">
            <a:extLst xmlns:a="http://schemas.openxmlformats.org/drawingml/2006/main">
              <a:ext uri="{FF2B5EF4-FFF2-40B4-BE49-F238E27FC236}">
                <a16:creationId xmlns:a16="http://schemas.microsoft.com/office/drawing/2014/main" id="{ECDA4AB4-C823-4BF9-A30D-E6D3030876DC}"/>
              </a:ext>
            </a:extLst>
          </p:cNvPr>
          <p:cNvSpPr>
            <a:spLocks xmlns:a="http://schemas.openxmlformats.org/drawingml/2006/main" noGrp="1"/>
          </p:cNvSpPr>
          <p:nvPr>
            <p:ph type="ctrTitle" idx="4294967295"/>
          </p:nvPr>
        </p:nvSpPr>
        <p:spPr>
          <a:xfrm xmlns:a="http://schemas.openxmlformats.org/drawingml/2006/main">
            <a:off x="7678614" y="2718777"/>
            <a:ext cx="3774831" cy="1420446"/>
          </a:xfrm>
        </p:spPr>
        <p:txBody>
          <a:bodyPr xmlns:a="http://schemas.openxmlformats.org/drawingml/2006/main"/>
          <a:lstStyle xmlns:a="http://schemas.openxmlformats.org/drawingml/2006/main"/>
          <a:p xmlns:a="http://schemas.openxmlformats.org/drawingml/2006/main">
            <a:r>
              <a:t/>
            </a:r>
            <a:endParaRPr/>
          </a:p>
        </p:txBody>
      </p:sp>
      <p:sp>
        <p:nvSpPr>
          <p:cNvPr id="9" name="Título de portada">
            <a:extLst xmlns:a="http://schemas.openxmlformats.org/drawingml/2006/main">
              <a:ext uri="{FF2B5EF4-FFF2-40B4-BE49-F238E27FC236}">
                <a16:creationId xmlns:a16="http://schemas.microsoft.com/office/drawing/2014/main" id="{4886658D-552B-41F1-B8EE-9A24C15F9B23}"/>
              </a:ext>
            </a:extLst>
          </p:cNvPr>
          <p:cNvSpPr>
            <a:spLocks xmlns:a="http://schemas.openxmlformats.org/drawingml/2006/main" noGrp="1"/>
          </p:cNvSpPr>
          <p:nvPr/>
        </p:nvSpPr>
        <p:spPr>
          <a:xfrm xmlns:a="http://schemas.openxmlformats.org/drawingml/2006/main">
            <a:off x="7620000" y="2362200"/>
            <a:ext cx="376237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400" b="0">
                <a:solidFill>
                  <a:srgbClr val="000000"/>
                </a:solidFill>
                <a:latin typeface="Calibri Light"/>
                <a:ea typeface="Calibri Light"/>
                <a:cs typeface="Calibri Light"/>
              </a:defRPr>
            </a:defPPr>
          </a:lstStyle>
          <a:p xmlns:a="http://schemas.openxmlformats.org/drawingml/2006/main">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Calidad de</a:t>
            </a:r>
          </a:p>
          <a:p xmlns:a="http://schemas.openxmlformats.org/drawingml/2006/main">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software</a:t>
            </a:r>
          </a:p>
          <a:p xmlns:a="http://schemas.openxmlformats.org/drawingml/2006/main">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NeonPlay</a:t>
            </a:r>
          </a:p>
        </p:txBody>
      </p:sp>
      <p:sp>
        <p:nvSpPr>
          <p:cNvPr id="10" name="Integrantes">
            <a:extLst xmlns:a="http://schemas.openxmlformats.org/drawingml/2006/main">
              <a:ext uri="{FF2B5EF4-FFF2-40B4-BE49-F238E27FC236}">
                <a16:creationId xmlns:a16="http://schemas.microsoft.com/office/drawing/2014/main" id="{2132F24C-6C3B-4D2A-82B2-FEA53F3A2846}"/>
              </a:ext>
            </a:extLst>
          </p:cNvPr>
          <p:cNvSpPr>
            <a:spLocks xmlns:a="http://schemas.openxmlformats.org/drawingml/2006/main" noGrp="1"/>
          </p:cNvSpPr>
          <p:nvPr/>
        </p:nvSpPr>
        <p:spPr>
          <a:xfrm xmlns:a="http://schemas.openxmlformats.org/drawingml/2006/main">
            <a:off x="7620000" y="4476750"/>
            <a:ext cx="3762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000000"/>
                </a:solidFill>
                <a:latin typeface="Calibri"/>
                <a:ea typeface="Calibri"/>
                <a:cs typeface="Calibri"/>
              </a:defRPr>
            </a:defPPr>
          </a:lstStyle>
          <a:p xmlns:a="http://schemas.openxmlformats.org/drawingml/2006/main">
            <a:pPr algn="l">
              <a:defRPr sz="1800" b="0">
                <a:solidFill>
                  <a:srgbClr val="000000"/>
                </a:solidFill>
                <a:latin typeface="Calibri"/>
                <a:ea typeface="Calibri"/>
                <a:cs typeface="Calibri"/>
              </a:defRPr>
            </a:pPr>
            <a:r>
              <a:rPr sz="1800" b="0">
                <a:solidFill>
                  <a:srgbClr val="000000"/>
                </a:solidFill>
                <a:latin typeface="Calibri"/>
                <a:ea typeface="Calibri"/>
                <a:cs typeface="Calibri"/>
              </a:rPr>
              <a:t>Kevin Adrián Quiñonez Rocha</a:t>
            </a:r>
          </a:p>
          <a:p xmlns:a="http://schemas.openxmlformats.org/drawingml/2006/main">
            <a:pPr algn="l">
              <a:defRPr sz="1800" b="0">
                <a:solidFill>
                  <a:srgbClr val="000000"/>
                </a:solidFill>
                <a:latin typeface="Calibri"/>
                <a:ea typeface="Calibri"/>
                <a:cs typeface="Calibri"/>
              </a:defRPr>
            </a:pPr>
            <a:r>
              <a:rPr sz="1800" b="0">
                <a:solidFill>
                  <a:srgbClr val="000000"/>
                </a:solidFill>
                <a:latin typeface="Calibri"/>
                <a:ea typeface="Calibri"/>
                <a:cs typeface="Calibri"/>
              </a:rPr>
              <a:t>Orlando Eloy Trujillo</a:t>
            </a:r>
          </a:p>
        </p:txBody>
      </p:sp>
      <p:sp>
        <p:nvSpPr>
          <p:cNvPr id="11" name="Datos académicos">
            <a:extLst xmlns:a="http://schemas.openxmlformats.org/drawingml/2006/main">
              <a:ext uri="{FF2B5EF4-FFF2-40B4-BE49-F238E27FC236}">
                <a16:creationId xmlns:a16="http://schemas.microsoft.com/office/drawing/2014/main" id="{D634D950-64E8-44DA-9BF5-C0A2336EFE08}"/>
              </a:ext>
            </a:extLst>
          </p:cNvPr>
          <p:cNvSpPr>
            <a:spLocks xmlns:a="http://schemas.openxmlformats.org/drawingml/2006/main" noGrp="1"/>
          </p:cNvSpPr>
          <p:nvPr/>
        </p:nvSpPr>
        <p:spPr>
          <a:xfrm xmlns:a="http://schemas.openxmlformats.org/drawingml/2006/main">
            <a:off x="7620000" y="5238750"/>
            <a:ext cx="37623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000000"/>
                </a:solidFill>
                <a:latin typeface="Calibri"/>
                <a:ea typeface="Calibri"/>
                <a:cs typeface="Calibri"/>
              </a:defRPr>
            </a:defPPr>
          </a:lstStyle>
          <a:p xmlns:a="http://schemas.openxmlformats.org/drawingml/2006/main">
            <a:pPr algn="l">
              <a:defRPr sz="1800" b="0">
                <a:solidFill>
                  <a:srgbClr val="000000"/>
                </a:solidFill>
                <a:latin typeface="Calibri"/>
                <a:ea typeface="Calibri"/>
                <a:cs typeface="Calibri"/>
              </a:defRPr>
            </a:pPr>
            <a:r>
              <a:rPr sz="1800" b="0">
                <a:solidFill>
                  <a:srgbClr val="000000"/>
                </a:solidFill>
                <a:latin typeface="Calibri"/>
                <a:ea typeface="Calibri"/>
                <a:cs typeface="Calibri"/>
              </a:rPr>
              <a:t>Desarrollo de Software · Nivel 4</a:t>
            </a:r>
          </a:p>
          <a:p xmlns:a="http://schemas.openxmlformats.org/drawingml/2006/main">
            <a:pPr algn="l">
              <a:defRPr sz="1800" b="0">
                <a:solidFill>
                  <a:srgbClr val="000000"/>
                </a:solidFill>
                <a:latin typeface="Calibri"/>
                <a:ea typeface="Calibri"/>
                <a:cs typeface="Calibri"/>
              </a:defRPr>
            </a:pPr>
            <a:r>
              <a:rPr sz="1800" b="0">
                <a:solidFill>
                  <a:srgbClr val="000000"/>
                </a:solidFill>
                <a:latin typeface="Calibri"/>
                <a:ea typeface="Calibri"/>
                <a:cs typeface="Calibri"/>
              </a:rPr>
              <a:t>Ing. Sebastián Landázuri G</a:t>
            </a:r>
          </a:p>
          <a:p xmlns:a="http://schemas.openxmlformats.org/drawingml/2006/main">
            <a:pPr algn="l">
              <a:defRPr sz="1800" b="0">
                <a:solidFill>
                  <a:srgbClr val="000000"/>
                </a:solidFill>
                <a:latin typeface="Calibri"/>
                <a:ea typeface="Calibri"/>
                <a:cs typeface="Calibri"/>
              </a:defRPr>
            </a:pPr>
            <a:r>
              <a:rPr sz="1800" b="0">
                <a:solidFill>
                  <a:srgbClr val="000000"/>
                </a:solidFill>
                <a:latin typeface="Calibri"/>
                <a:ea typeface="Calibri"/>
                <a:cs typeface="Calibri"/>
              </a:rPr>
              <a:t>15 de octubre de 2026</a:t>
            </a:r>
          </a:p>
        </p:txBody>
      </p:sp>
    </p:spTree>
    <p:extLst>
      <p:ext uri="{BB962C8B-B14F-4D97-AF65-F5344CB8AC3E}">
        <p14:creationId xmlns:p14="http://schemas.microsoft.com/office/powerpoint/2010/main" val="41731255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B8ABAACC-5240-4E68-A4E9-ACA6E7A4B0A2}"/>
              </a:ext>
            </a:extLst>
          </p:cNvPr>
          <p:cNvSpPr>
            <a:spLocks xmlns:a="http://schemas.openxmlformats.org/drawingml/2006/main" noGrp="1"/>
          </p:cNvSpPr>
          <p:nvPr>
            <p:ph type="title" idx="4294967295"/>
          </p:nvPr>
        </p:nvSpPr>
        <p:spPr>
          <a:xfrm xmlns:a="http://schemas.openxmlformats.org/drawingml/2006/main">
            <a:off x="492369" y="1395046"/>
            <a:ext cx="11218985" cy="295642"/>
          </a:xfrm>
        </p:spPr>
        <p:txBody>
          <a:bodyPr xmlns:a="http://schemas.openxmlformats.org/drawingml/2006/main">
            <a:noAutofit/>
          </a:bodyPr>
          <a:lstStyle xmlns:a="http://schemas.openxmlformats.org/drawingml/2006/main"/>
          <a:p xmlns:a="http://schemas.openxmlformats.org/drawingml/2006/main">
            <a:r>
              <a:t/>
            </a:r>
            <a:endParaRPr sz="3200"/>
          </a:p>
        </p:txBody>
      </p:sp>
      <p:sp>
        <p:nvSpPr>
          <p:cNvPr id="3" name="Marcador de contenido 2">
            <a:extLst xmlns:a="http://schemas.openxmlformats.org/drawingml/2006/main">
              <a:ext uri="{FF2B5EF4-FFF2-40B4-BE49-F238E27FC236}">
                <a16:creationId xmlns:a16="http://schemas.microsoft.com/office/drawing/2014/main" id="{055CBC30-9FA5-4F46-97C3-766A43887EE6}"/>
              </a:ext>
            </a:extLst>
          </p:cNvPr>
          <p:cNvSpPr>
            <a:spLocks xmlns:a="http://schemas.openxmlformats.org/drawingml/2006/main" noGrp="1"/>
          </p:cNvSpPr>
          <p:nvPr>
            <p:ph idx="4294967295"/>
          </p:nvPr>
        </p:nvSpPr>
        <p:spPr>
          <a:xfrm xmlns:a="http://schemas.openxmlformats.org/drawingml/2006/main">
            <a:off x="492369" y="1825625"/>
            <a:ext cx="11218985" cy="4351338"/>
          </a:xfrm>
        </p:spPr>
        <p:txBody>
          <a:bodyPr xmlns:a="http://schemas.openxmlformats.org/drawingml/2006/main">
            <a:normAutofit/>
          </a:bodyPr>
          <a:lstStyle xmlns:a="http://schemas.openxmlformats.org/drawingml/2006/main"/>
          <a:p xmlns:a="http://schemas.openxmlformats.org/drawingml/2006/main">
            <a:r>
              <a:t/>
            </a:r>
            <a:endParaRPr sz="2000"/>
          </a:p>
        </p:txBody>
      </p:sp>
      <p:sp>
        <p:nvSpPr>
          <p:cNvPr id="4" name="Título">
            <a:extLst xmlns:a="http://schemas.openxmlformats.org/drawingml/2006/main">
              <a:ext uri="{FF2B5EF4-FFF2-40B4-BE49-F238E27FC236}">
                <a16:creationId xmlns:a16="http://schemas.microsoft.com/office/drawing/2014/main" id="{C3919347-79FB-41C4-AE8E-FB37473BD6AA}"/>
              </a:ext>
            </a:extLst>
          </p:cNvPr>
          <p:cNvSpPr>
            <a:spLocks xmlns:a="http://schemas.openxmlformats.org/drawingml/2006/main" noGrp="1"/>
          </p:cNvSpPr>
          <p:nvPr/>
        </p:nvSpPr>
        <p:spPr>
          <a:xfrm xmlns:a="http://schemas.openxmlformats.org/drawingml/2006/main">
            <a:off x="495300" y="1333500"/>
            <a:ext cx="990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400" b="0">
                <a:solidFill>
                  <a:srgbClr val="000000"/>
                </a:solidFill>
                <a:latin typeface="Calibri Light"/>
                <a:ea typeface="Calibri Light"/>
                <a:cs typeface="Calibri Light"/>
              </a:defRPr>
            </a:defPPr>
          </a:lstStyle>
          <a:p xmlns:a="http://schemas.openxmlformats.org/drawingml/2006/main">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NeonPlay y alcance</a:t>
            </a:r>
          </a:p>
        </p:txBody>
      </p:sp>
      <p:sp>
        <p:nvSpPr>
          <p:cNvPr id="5" name="Contenido">
            <a:extLst xmlns:a="http://schemas.openxmlformats.org/drawingml/2006/main">
              <a:ext uri="{FF2B5EF4-FFF2-40B4-BE49-F238E27FC236}">
                <a16:creationId xmlns:a16="http://schemas.microsoft.com/office/drawing/2014/main" id="{8D307380-4073-4685-8E11-5443AD4566D4}"/>
              </a:ext>
            </a:extLst>
          </p:cNvPr>
          <p:cNvSpPr>
            <a:spLocks xmlns:a="http://schemas.openxmlformats.org/drawingml/2006/main" noGrp="1"/>
          </p:cNvSpPr>
          <p:nvPr/>
        </p:nvSpPr>
        <p:spPr>
          <a:xfrm xmlns:a="http://schemas.openxmlformats.org/drawingml/2006/main">
            <a:off x="523875" y="2428875"/>
            <a:ext cx="44767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800" b="0">
                <a:solidFill>
                  <a:srgbClr val="000000"/>
                </a:solidFill>
                <a:latin typeface="Calibri"/>
                <a:ea typeface="Calibri"/>
                <a:cs typeface="Calibri"/>
              </a:defRPr>
            </a:defPPr>
          </a:lstStyle>
          <a:p xmlns:a="http://schemas.openxmlformats.org/drawingml/2006/main">
            <a:pPr algn="l">
              <a:spcBef>
                <a:spcPts val="0"/>
              </a:spcBef>
              <a:spcAft>
                <a:spcPts val="18"/>
              </a:spcAft>
              <a:defRPr sz="2800" b="0">
                <a:solidFill>
                  <a:srgbClr val="000000"/>
                </a:solidFill>
                <a:latin typeface="Calibri"/>
                <a:ea typeface="Calibri"/>
                <a:cs typeface="Calibri"/>
              </a:defRPr>
            </a:pPr>
            <a:r>
              <a:rPr sz="2800" b="0">
                <a:solidFill>
                  <a:srgbClr val="000000"/>
                </a:solidFill>
                <a:latin typeface="Calibri"/>
                <a:ea typeface="Calibri"/>
                <a:cs typeface="Calibri"/>
              </a:rPr>
              <a:t>Catálogo de videojuegos</a:t>
            </a:r>
          </a:p>
          <a:p xmlns:a="http://schemas.openxmlformats.org/drawingml/2006/main">
            <a:pPr algn="l">
              <a:spcBef>
                <a:spcPts val="0"/>
              </a:spcBef>
              <a:spcAft>
                <a:spcPts val="18"/>
              </a:spcAft>
              <a:defRPr sz="2800" b="0">
                <a:solidFill>
                  <a:srgbClr val="000000"/>
                </a:solidFill>
                <a:latin typeface="Calibri"/>
                <a:ea typeface="Calibri"/>
                <a:cs typeface="Calibri"/>
              </a:defRPr>
            </a:pPr>
            <a:r>
              <a:rPr sz="2800" b="0">
                <a:solidFill>
                  <a:srgbClr val="000000"/>
                </a:solidFill>
                <a:latin typeface="Calibri"/>
                <a:ea typeface="Calibri"/>
                <a:cs typeface="Calibri"/>
              </a:rPr>
              <a:t>Carrito y compra de demostración</a:t>
            </a:r>
          </a:p>
          <a:p xmlns:a="http://schemas.openxmlformats.org/drawingml/2006/main">
            <a:pPr algn="l">
              <a:spcBef>
                <a:spcPts val="0"/>
              </a:spcBef>
              <a:spcAft>
                <a:spcPts val="18"/>
              </a:spcAft>
              <a:defRPr sz="2800" b="0">
                <a:solidFill>
                  <a:srgbClr val="000000"/>
                </a:solidFill>
                <a:latin typeface="Calibri"/>
                <a:ea typeface="Calibri"/>
                <a:cs typeface="Calibri"/>
              </a:defRPr>
            </a:pPr>
            <a:r>
              <a:rPr sz="2800" b="0">
                <a:solidFill>
                  <a:srgbClr val="000000"/>
                </a:solidFill>
                <a:latin typeface="Calibri"/>
                <a:ea typeface="Calibri"/>
                <a:cs typeface="Calibri"/>
              </a:rPr>
              <a:t>Historial y administración</a:t>
            </a:r>
          </a:p>
        </p:txBody>
      </p:sp>
      <p:pic>
        <p:nvPicPr>
          <p:cNvPr id="6" name="">
            <a:extLst xmlns:a="http://schemas.openxmlformats.org/drawingml/2006/main">
              <a:ext uri="{FF2B5EF4-FFF2-40B4-BE49-F238E27FC236}">
                <a16:creationId xmlns:a16="http://schemas.microsoft.com/office/drawing/2014/main" id="{8DCF1019-3399-4E85-BB0B-E6790A8048EB}"/>
              </a:ext>
            </a:extLst>
          </p:cNvPr>
          <p:cNvPicPr>
            <a:picLocks xmlns:a="http://schemas.openxmlformats.org/drawingml/2006/main" noChangeAspect="1"/>
          </p:cNvPicPr>
          <p:nvPr/>
        </p:nvPicPr>
        <p:blipFill>
          <a:blip xmlns:r="http://schemas.openxmlformats.org/officeDocument/2006/relationships" xmlns:a="http://schemas.openxmlformats.org/drawingml/2006/main" r:embed="R3e5ef79ec80242a8"/>
          <a:stretch xmlns:a="http://schemas.openxmlformats.org/drawingml/2006/main"/>
        </p:blipFill>
        <p:spPr>
          <a:xfrm xmlns:a="http://schemas.openxmlformats.org/drawingml/2006/main">
            <a:off x="5941919" y="2238375"/>
            <a:ext cx="3832412" cy="3619500"/>
          </a:xfrm>
          <a:prstGeom xmlns:a="http://schemas.openxmlformats.org/drawingml/2006/main" prst="rect">
            <a:avLst/>
          </a:prstGeom>
        </p:spPr>
      </p:pic>
      <p:sp>
        <p:nvSpPr>
          <p:cNvPr id="7" name="Alcance">
            <a:extLst xmlns:a="http://schemas.openxmlformats.org/drawingml/2006/main">
              <a:ext uri="{FF2B5EF4-FFF2-40B4-BE49-F238E27FC236}">
                <a16:creationId xmlns:a16="http://schemas.microsoft.com/office/drawing/2014/main" id="{87C8CC91-8F3A-4FEC-B88C-CD624854066A}"/>
              </a:ext>
            </a:extLst>
          </p:cNvPr>
          <p:cNvSpPr>
            <a:spLocks xmlns:a="http://schemas.openxmlformats.org/drawingml/2006/main" noGrp="1"/>
          </p:cNvSpPr>
          <p:nvPr/>
        </p:nvSpPr>
        <p:spPr>
          <a:xfrm xmlns:a="http://schemas.openxmlformats.org/drawingml/2006/main">
            <a:off x="523875" y="5857875"/>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000000"/>
                </a:solidFill>
                <a:latin typeface="Calibri"/>
                <a:ea typeface="Calibri"/>
                <a:cs typeface="Calibri"/>
              </a:defRPr>
            </a:defPPr>
          </a:lstStyle>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Pagos reales y claves digitales quedan fuera de esta versión.</a:t>
            </a:r>
          </a:p>
        </p:txBody>
      </p:sp>
    </p:spTree>
    <p:extLst>
      <p:ext uri="{BB962C8B-B14F-4D97-AF65-F5344CB8AC3E}">
        <p14:creationId xmlns:p14="http://schemas.microsoft.com/office/powerpoint/2010/main" val="234165146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 name="Título">
            <a:extLst xmlns:a="http://schemas.openxmlformats.org/drawingml/2006/main">
              <a:ext uri="{FF2B5EF4-FFF2-40B4-BE49-F238E27FC236}">
                <a16:creationId xmlns:a16="http://schemas.microsoft.com/office/drawing/2014/main" id="{DE7EC3D6-08E7-4288-96CE-68F6865220A0}"/>
              </a:ext>
            </a:extLst>
          </p:cNvPr>
          <p:cNvSpPr>
            <a:spLocks xmlns:a="http://schemas.openxmlformats.org/drawingml/2006/main" noGrp="1"/>
          </p:cNvSpPr>
          <p:nvPr/>
        </p:nvSpPr>
        <p:spPr>
          <a:xfrm xmlns:a="http://schemas.openxmlformats.org/drawingml/2006/main">
            <a:off x="495300" y="1333500"/>
            <a:ext cx="990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400" b="0">
                <a:solidFill>
                  <a:srgbClr val="000000"/>
                </a:solidFill>
                <a:latin typeface="Calibri Light"/>
                <a:ea typeface="Calibri Light"/>
                <a:cs typeface="Calibri Light"/>
              </a:defRPr>
            </a:defPPr>
          </a:lstStyle>
          <a:p xmlns:a="http://schemas.openxmlformats.org/drawingml/2006/main">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Arquitectura del aplicativo</a:t>
            </a:r>
          </a:p>
        </p:txBody>
      </p:sp>
      <p:graphicFrame>
        <p:nvGraphicFramePr>
          <p:cNvPr id="2" name="">
            <a:extLst xmlns:a="http://schemas.openxmlformats.org/drawingml/2006/main">
              <a:ext uri="{FF2B5EF4-FFF2-40B4-BE49-F238E27FC236}">
                <a16:creationId xmlns:a16="http://schemas.microsoft.com/office/drawing/2014/main" id="{B3BAA1DB-4012-4A61-ABE9-244A60EAA010}"/>
              </a:ext>
            </a:extLst>
          </p:cNvPr>
          <p:cNvGraphicFramePr/>
          <p:nvPr/>
        </p:nvGraphicFramePr>
        <p:xfrm>
          <a:off xmlns:a="http://schemas.openxmlformats.org/drawingml/2006/main" x="523875" y="2286000"/>
          <a:ext xmlns:a="http://schemas.openxmlformats.org/drawingml/2006/main" cx="9906000" cy="2952750"/>
        </p:xfrm>
        <a:graphic xmlns:a="http://schemas.openxmlformats.org/drawingml/2006/main">
          <a:graphicData uri="http://schemas.openxmlformats.org/drawingml/2006/table">
            <a:tbl>
              <a:tblPr/>
              <a:tblGrid>
                <a:gridCol w="2000250"/>
                <a:gridCol w="3476625"/>
                <a:gridCol w="4429125"/>
              </a:tblGrid>
              <a:tr h="738188">
                <a:tc>
                  <a:txBody>
                    <a:bodyPr lIns="76200" tIns="76200" rIns="76200" bIns="76200"/>
                    <a:lstStyle/>
                    <a:p>
                      <a:pPr algn="l"/>
                      <a:r>
                        <a:rPr sz="2400" b="1">
                          <a:solidFill>
                            <a:srgbClr val="000000"/>
                          </a:solidFill>
                          <a:latin typeface="Calibri"/>
                          <a:ea typeface="Calibri"/>
                          <a:cs typeface="Calibri"/>
                        </a:rPr>
                        <a:t>Capa</a:t>
                      </a:r>
                    </a:p>
                  </a:txBody>
                  <a:tcPr marL="91440" marR="91440" marT="45720" marB="45720" anchor="ctr">
                    <a:solidFill>
                      <a:srgbClr val="EBEBEB"/>
                    </a:solidFill>
                  </a:tcPr>
                </a:tc>
                <a:tc>
                  <a:txBody>
                    <a:bodyPr lIns="76200" tIns="76200" rIns="76200" bIns="76200"/>
                    <a:lstStyle/>
                    <a:p>
                      <a:pPr algn="l"/>
                      <a:r>
                        <a:rPr sz="2400" b="1">
                          <a:solidFill>
                            <a:srgbClr val="000000"/>
                          </a:solidFill>
                          <a:latin typeface="Calibri"/>
                          <a:ea typeface="Calibri"/>
                          <a:cs typeface="Calibri"/>
                        </a:rPr>
                        <a:t>Implementación</a:t>
                      </a:r>
                    </a:p>
                  </a:txBody>
                  <a:tcPr marL="91440" marR="91440" marT="45720" marB="45720" anchor="ctr">
                    <a:solidFill>
                      <a:srgbClr val="EBEBEB"/>
                    </a:solidFill>
                  </a:tcPr>
                </a:tc>
                <a:tc>
                  <a:txBody>
                    <a:bodyPr lIns="76200" tIns="76200" rIns="76200" bIns="76200"/>
                    <a:lstStyle/>
                    <a:p>
                      <a:pPr algn="l"/>
                      <a:r>
                        <a:rPr sz="2400" b="1">
                          <a:solidFill>
                            <a:srgbClr val="000000"/>
                          </a:solidFill>
                          <a:latin typeface="Calibri"/>
                          <a:ea typeface="Calibri"/>
                          <a:cs typeface="Calibri"/>
                        </a:rPr>
                        <a:t>Responsabilidad</a:t>
                      </a:r>
                    </a:p>
                  </a:txBody>
                  <a:tcPr marL="91440" marR="91440" marT="45720" marB="45720" anchor="ctr">
                    <a:solidFill>
                      <a:srgbClr val="EBEBEB"/>
                    </a:solidFill>
                  </a:tcPr>
                </a:tc>
              </a:tr>
              <a:tr h="738188">
                <a:tc>
                  <a:txBody>
                    <a:bodyPr lIns="76200" tIns="76200" rIns="76200" bIns="76200"/>
                    <a:lstStyle/>
                    <a:p>
                      <a:pPr algn="l"/>
                      <a:r>
                        <a:rPr sz="2400" b="0">
                          <a:solidFill>
                            <a:srgbClr val="000000"/>
                          </a:solidFill>
                          <a:latin typeface="Calibri"/>
                          <a:ea typeface="Calibri"/>
                          <a:cs typeface="Calibri"/>
                        </a:rPr>
                        <a:t>Interfaz</a:t>
                      </a:r>
                    </a:p>
                  </a:txBody>
                  <a:tcPr marL="91440" marR="91440" marT="45720" marB="45720" anchor="ctr">
                    <a:solidFill>
                      <a:srgbClr val="FFFFFF"/>
                    </a:solidFill>
                  </a:tcPr>
                </a:tc>
                <a:tc>
                  <a:txBody>
                    <a:bodyPr lIns="76200" tIns="76200" rIns="76200" bIns="76200"/>
                    <a:lstStyle/>
                    <a:p>
                      <a:pPr algn="l"/>
                      <a:r>
                        <a:rPr sz="2400" b="0">
                          <a:solidFill>
                            <a:srgbClr val="000000"/>
                          </a:solidFill>
                          <a:latin typeface="Calibri"/>
                          <a:ea typeface="Calibri"/>
                          <a:cs typeface="Calibri"/>
                        </a:rPr>
                        <a:t>React y TypeScript</a:t>
                      </a:r>
                    </a:p>
                  </a:txBody>
                  <a:tcPr marL="91440" marR="91440" marT="45720" marB="45720" anchor="ctr">
                    <a:solidFill>
                      <a:srgbClr val="FFFFFF"/>
                    </a:solidFill>
                  </a:tcPr>
                </a:tc>
                <a:tc>
                  <a:txBody>
                    <a:bodyPr lIns="76200" tIns="76200" rIns="76200" bIns="76200"/>
                    <a:lstStyle/>
                    <a:p>
                      <a:pPr algn="l"/>
                      <a:r>
                        <a:rPr sz="2400" b="0">
                          <a:solidFill>
                            <a:srgbClr val="000000"/>
                          </a:solidFill>
                          <a:latin typeface="Calibri"/>
                          <a:ea typeface="Calibri"/>
                          <a:cs typeface="Calibri"/>
                        </a:rPr>
                        <a:t>Catálogo, cuenta y carrito</a:t>
                      </a:r>
                    </a:p>
                  </a:txBody>
                  <a:tcPr marL="91440" marR="91440" marT="45720" marB="45720" anchor="ctr">
                    <a:solidFill>
                      <a:srgbClr val="FFFFFF"/>
                    </a:solidFill>
                  </a:tcPr>
                </a:tc>
              </a:tr>
              <a:tr h="738188">
                <a:tc>
                  <a:txBody>
                    <a:bodyPr lIns="76200" tIns="76200" rIns="76200" bIns="76200"/>
                    <a:lstStyle/>
                    <a:p>
                      <a:pPr algn="l"/>
                      <a:r>
                        <a:rPr sz="2400" b="0">
                          <a:solidFill>
                            <a:srgbClr val="000000"/>
                          </a:solidFill>
                          <a:latin typeface="Calibri"/>
                          <a:ea typeface="Calibri"/>
                          <a:cs typeface="Calibri"/>
                        </a:rPr>
                        <a:t>API</a:t>
                      </a:r>
                    </a:p>
                  </a:txBody>
                  <a:tcPr marL="91440" marR="91440" marT="45720" marB="45720" anchor="ctr">
                    <a:solidFill>
                      <a:srgbClr val="FFFFFF"/>
                    </a:solidFill>
                  </a:tcPr>
                </a:tc>
                <a:tc>
                  <a:txBody>
                    <a:bodyPr lIns="76200" tIns="76200" rIns="76200" bIns="76200"/>
                    <a:lstStyle/>
                    <a:p>
                      <a:pPr algn="l"/>
                      <a:r>
                        <a:rPr sz="2400" b="0">
                          <a:solidFill>
                            <a:srgbClr val="000000"/>
                          </a:solidFill>
                          <a:latin typeface="Calibri"/>
                          <a:ea typeface="Calibri"/>
                          <a:cs typeface="Calibri"/>
                        </a:rPr>
                        <a:t>Express y TypeScript</a:t>
                      </a:r>
                    </a:p>
                  </a:txBody>
                  <a:tcPr marL="91440" marR="91440" marT="45720" marB="45720" anchor="ctr">
                    <a:solidFill>
                      <a:srgbClr val="FFFFFF"/>
                    </a:solidFill>
                  </a:tcPr>
                </a:tc>
                <a:tc>
                  <a:txBody>
                    <a:bodyPr lIns="76200" tIns="76200" rIns="76200" bIns="76200"/>
                    <a:lstStyle/>
                    <a:p>
                      <a:pPr algn="l"/>
                      <a:r>
                        <a:rPr sz="2400" b="0">
                          <a:solidFill>
                            <a:srgbClr val="000000"/>
                          </a:solidFill>
                          <a:latin typeface="Calibri"/>
                          <a:ea typeface="Calibri"/>
                          <a:cs typeface="Calibri"/>
                        </a:rPr>
                        <a:t>Validación, roles y pedidos</a:t>
                      </a:r>
                    </a:p>
                  </a:txBody>
                  <a:tcPr marL="91440" marR="91440" marT="45720" marB="45720" anchor="ctr">
                    <a:solidFill>
                      <a:srgbClr val="FFFFFF"/>
                    </a:solidFill>
                  </a:tcPr>
                </a:tc>
              </a:tr>
              <a:tr h="738188">
                <a:tc>
                  <a:txBody>
                    <a:bodyPr lIns="76200" tIns="76200" rIns="76200" bIns="76200"/>
                    <a:lstStyle/>
                    <a:p>
                      <a:pPr algn="l"/>
                      <a:r>
                        <a:rPr sz="2400" b="0">
                          <a:solidFill>
                            <a:srgbClr val="000000"/>
                          </a:solidFill>
                          <a:latin typeface="Calibri"/>
                          <a:ea typeface="Calibri"/>
                          <a:cs typeface="Calibri"/>
                        </a:rPr>
                        <a:t>Persistencia</a:t>
                      </a:r>
                    </a:p>
                  </a:txBody>
                  <a:tcPr marL="91440" marR="91440" marT="45720" marB="45720" anchor="ctr">
                    <a:solidFill>
                      <a:srgbClr val="FFFFFF"/>
                    </a:solidFill>
                  </a:tcPr>
                </a:tc>
                <a:tc>
                  <a:txBody>
                    <a:bodyPr lIns="76200" tIns="76200" rIns="76200" bIns="76200"/>
                    <a:lstStyle/>
                    <a:p>
                      <a:pPr algn="l"/>
                      <a:r>
                        <a:rPr sz="2400" b="0">
                          <a:solidFill>
                            <a:srgbClr val="000000"/>
                          </a:solidFill>
                          <a:latin typeface="Calibri"/>
                          <a:ea typeface="Calibri"/>
                          <a:cs typeface="Calibri"/>
                        </a:rPr>
                        <a:t>Prisma y PostgreSQL</a:t>
                      </a:r>
                    </a:p>
                  </a:txBody>
                  <a:tcPr marL="91440" marR="91440" marT="45720" marB="45720" anchor="ctr">
                    <a:solidFill>
                      <a:srgbClr val="FFFFFF"/>
                    </a:solidFill>
                  </a:tcPr>
                </a:tc>
                <a:tc>
                  <a:txBody>
                    <a:bodyPr lIns="76200" tIns="76200" rIns="76200" bIns="76200"/>
                    <a:lstStyle/>
                    <a:p>
                      <a:pPr algn="l"/>
                      <a:r>
                        <a:rPr sz="2400" b="0">
                          <a:solidFill>
                            <a:srgbClr val="000000"/>
                          </a:solidFill>
                          <a:latin typeface="Calibri"/>
                          <a:ea typeface="Calibri"/>
                          <a:cs typeface="Calibri"/>
                        </a:rPr>
                        <a:t>Relaciones y transacciones</a:t>
                      </a:r>
                    </a:p>
                  </a:txBody>
                  <a:tcPr marL="91440" marR="91440" marT="45720" marB="45720" anchor="ctr">
                    <a:solidFill>
                      <a:srgbClr val="FFFFFF"/>
                    </a:solidFill>
                  </a:tcPr>
                </a:tc>
              </a:tr>
            </a:tbl>
          </a:graphicData>
        </a:graphic>
      </p:graphicFrame>
      <p:sp>
        <p:nvSpPr>
          <p:cNvPr id="3" name="Modelo">
            <a:extLst xmlns:a="http://schemas.openxmlformats.org/drawingml/2006/main">
              <a:ext uri="{FF2B5EF4-FFF2-40B4-BE49-F238E27FC236}">
                <a16:creationId xmlns:a16="http://schemas.microsoft.com/office/drawing/2014/main" id="{3DD815C1-DC2F-4266-9450-ADAE785370BD}"/>
              </a:ext>
            </a:extLst>
          </p:cNvPr>
          <p:cNvSpPr>
            <a:spLocks xmlns:a="http://schemas.openxmlformats.org/drawingml/2006/main" noGrp="1"/>
          </p:cNvSpPr>
          <p:nvPr/>
        </p:nvSpPr>
        <p:spPr>
          <a:xfrm xmlns:a="http://schemas.openxmlformats.org/drawingml/2006/main">
            <a:off x="523875" y="5476875"/>
            <a:ext cx="990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75" b="0">
                <a:solidFill>
                  <a:srgbClr val="000000"/>
                </a:solidFill>
                <a:latin typeface="Calibri"/>
                <a:ea typeface="Calibri"/>
                <a:cs typeface="Calibri"/>
              </a:defRPr>
            </a:defPPr>
          </a:lstStyle>
          <a:p xmlns:a="http://schemas.openxmlformats.org/drawingml/2006/main">
            <a:pPr algn="l">
              <a:defRPr sz="2475" b="0">
                <a:solidFill>
                  <a:srgbClr val="000000"/>
                </a:solidFill>
                <a:latin typeface="Calibri"/>
                <a:ea typeface="Calibri"/>
                <a:cs typeface="Calibri"/>
              </a:defRPr>
            </a:pPr>
            <a:r>
              <a:rPr sz="2475" b="0">
                <a:solidFill>
                  <a:srgbClr val="000000"/>
                </a:solidFill>
                <a:latin typeface="Calibri"/>
                <a:ea typeface="Calibri"/>
                <a:cs typeface="Calibri"/>
              </a:rPr>
              <a:t>OrderItem conserva el precio de compra. GamePlatform relaciona juegos y plataformas.</a:t>
            </a:r>
          </a:p>
        </p:txBody>
      </p:sp>
    </p:spTree>
    <p:extLst>
      <p:ext uri="{BB962C8B-B14F-4D97-AF65-F5344CB8AC3E}">
        <p14:creationId xmlns:p14="http://schemas.microsoft.com/office/powerpoint/2010/main" val="191458759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Título">
            <a:extLst xmlns:a="http://schemas.openxmlformats.org/drawingml/2006/main">
              <a:ext uri="{FF2B5EF4-FFF2-40B4-BE49-F238E27FC236}">
                <a16:creationId xmlns:a16="http://schemas.microsoft.com/office/drawing/2014/main" id="{F4DFBE18-FDB5-4CF8-B0C3-8B6EC887C0F9}"/>
              </a:ext>
            </a:extLst>
          </p:cNvPr>
          <p:cNvSpPr>
            <a:spLocks xmlns:a="http://schemas.openxmlformats.org/drawingml/2006/main" noGrp="1"/>
          </p:cNvSpPr>
          <p:nvPr/>
        </p:nvSpPr>
        <p:spPr>
          <a:xfrm xmlns:a="http://schemas.openxmlformats.org/drawingml/2006/main">
            <a:off x="495300" y="1333500"/>
            <a:ext cx="990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400" b="0">
                <a:solidFill>
                  <a:srgbClr val="000000"/>
                </a:solidFill>
                <a:latin typeface="Calibri Light"/>
                <a:ea typeface="Calibri Light"/>
                <a:cs typeface="Calibri Light"/>
              </a:defRPr>
            </a:defPPr>
          </a:lstStyle>
          <a:p xmlns:a="http://schemas.openxmlformats.org/drawingml/2006/main">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Calidad y normas</a:t>
            </a:r>
          </a:p>
        </p:txBody>
      </p:sp>
      <p:sp>
        <p:nvSpPr>
          <p:cNvPr id="2" name="Contenido">
            <a:extLst xmlns:a="http://schemas.openxmlformats.org/drawingml/2006/main">
              <a:ext uri="{FF2B5EF4-FFF2-40B4-BE49-F238E27FC236}">
                <a16:creationId xmlns:a16="http://schemas.microsoft.com/office/drawing/2014/main" id="{B01A7E47-AEF8-4FC6-A552-0238CE058D1D}"/>
              </a:ext>
            </a:extLst>
          </p:cNvPr>
          <p:cNvSpPr>
            <a:spLocks xmlns:a="http://schemas.openxmlformats.org/drawingml/2006/main" noGrp="1"/>
          </p:cNvSpPr>
          <p:nvPr/>
        </p:nvSpPr>
        <p:spPr>
          <a:xfrm xmlns:a="http://schemas.openxmlformats.org/drawingml/2006/main">
            <a:off x="523875" y="2286000"/>
            <a:ext cx="99060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800" b="0">
                <a:solidFill>
                  <a:srgbClr val="000000"/>
                </a:solidFill>
                <a:latin typeface="Calibri"/>
                <a:ea typeface="Calibri"/>
                <a:cs typeface="Calibri"/>
              </a:defRPr>
            </a:defPPr>
          </a:lstStyle>
          <a:p xmlns:a="http://schemas.openxmlformats.org/drawingml/2006/main">
            <a:pPr algn="l">
              <a:spcBef>
                <a:spcPts val="0"/>
              </a:spcBef>
              <a:spcAft>
                <a:spcPts val="18"/>
              </a:spcAft>
              <a:defRPr sz="2800" b="0">
                <a:solidFill>
                  <a:srgbClr val="000000"/>
                </a:solidFill>
                <a:latin typeface="Calibri"/>
                <a:ea typeface="Calibri"/>
                <a:cs typeface="Calibri"/>
              </a:defRPr>
            </a:pPr>
            <a:r>
              <a:rPr sz="2800" b="0">
                <a:solidFill>
                  <a:srgbClr val="000000"/>
                </a:solidFill>
                <a:latin typeface="Calibri"/>
                <a:ea typeface="Calibri"/>
                <a:cs typeface="Calibri"/>
              </a:rPr>
              <a:t>ISO/IEC 25010:2023 define el marco de atributos.</a:t>
            </a:r>
          </a:p>
          <a:p xmlns:a="http://schemas.openxmlformats.org/drawingml/2006/main">
            <a:pPr algn="l">
              <a:spcBef>
                <a:spcPts val="0"/>
              </a:spcBef>
              <a:spcAft>
                <a:spcPts val="18"/>
              </a:spcAft>
              <a:defRPr sz="2800" b="0">
                <a:solidFill>
                  <a:srgbClr val="000000"/>
                </a:solidFill>
                <a:latin typeface="Calibri"/>
                <a:ea typeface="Calibri"/>
                <a:cs typeface="Calibri"/>
              </a:defRPr>
            </a:pPr>
            <a:r>
              <a:rPr sz="2800" b="0">
                <a:solidFill>
                  <a:srgbClr val="000000"/>
                </a:solidFill>
                <a:latin typeface="Calibri"/>
                <a:ea typeface="Calibri"/>
                <a:cs typeface="Calibri"/>
              </a:rPr>
              <a:t>ISO/IEC 25023:2016 orienta las medidas.</a:t>
            </a:r>
          </a:p>
          <a:p xmlns:a="http://schemas.openxmlformats.org/drawingml/2006/main">
            <a:pPr algn="l">
              <a:spcBef>
                <a:spcPts val="0"/>
              </a:spcBef>
              <a:spcAft>
                <a:spcPts val="18"/>
              </a:spcAft>
              <a:defRPr sz="2800" b="0">
                <a:solidFill>
                  <a:srgbClr val="000000"/>
                </a:solidFill>
                <a:latin typeface="Calibri"/>
                <a:ea typeface="Calibri"/>
                <a:cs typeface="Calibri"/>
              </a:defRPr>
            </a:pPr>
            <a:r>
              <a:rPr sz="2800" b="0">
                <a:solidFill>
                  <a:srgbClr val="000000"/>
                </a:solidFill>
                <a:latin typeface="Calibri"/>
                <a:ea typeface="Calibri"/>
                <a:cs typeface="Calibri"/>
              </a:rPr>
              <a:t>SWEBOK V4.0a relaciona calidad y configuración.</a:t>
            </a:r>
          </a:p>
          <a:p xmlns:a="http://schemas.openxmlformats.org/drawingml/2006/main">
            <a:pPr algn="l">
              <a:spcBef>
                <a:spcPts val="0"/>
              </a:spcBef>
              <a:spcAft>
                <a:spcPts val="18"/>
              </a:spcAft>
              <a:defRPr sz="2800" b="0">
                <a:solidFill>
                  <a:srgbClr val="000000"/>
                </a:solidFill>
                <a:latin typeface="Calibri"/>
                <a:ea typeface="Calibri"/>
                <a:cs typeface="Calibri"/>
              </a:defRPr>
            </a:pPr>
            <a:r>
              <a:rPr sz="2800" b="0">
                <a:solidFill>
                  <a:srgbClr val="000000"/>
                </a:solidFill>
                <a:latin typeface="Calibri"/>
                <a:ea typeface="Calibri"/>
                <a:cs typeface="Calibri"/>
              </a:rPr>
              <a:t>ISTQB CTFL 4.0.1 fundamenta las técnicas de prueba.</a:t>
            </a:r>
          </a:p>
        </p:txBody>
      </p:sp>
    </p:spTree>
    <p:extLst>
      <p:ext uri="{BB962C8B-B14F-4D97-AF65-F5344CB8AC3E}">
        <p14:creationId xmlns:p14="http://schemas.microsoft.com/office/powerpoint/2010/main" val="133503620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Título">
            <a:extLst xmlns:a="http://schemas.openxmlformats.org/drawingml/2006/main">
              <a:ext uri="{FF2B5EF4-FFF2-40B4-BE49-F238E27FC236}">
                <a16:creationId xmlns:a16="http://schemas.microsoft.com/office/drawing/2014/main" id="{D3F1ED13-7B6A-4417-9AE2-03511BE46404}"/>
              </a:ext>
            </a:extLst>
          </p:cNvPr>
          <p:cNvSpPr>
            <a:spLocks xmlns:a="http://schemas.openxmlformats.org/drawingml/2006/main" noGrp="1"/>
          </p:cNvSpPr>
          <p:nvPr/>
        </p:nvSpPr>
        <p:spPr>
          <a:xfrm xmlns:a="http://schemas.openxmlformats.org/drawingml/2006/main">
            <a:off x="495300" y="1333500"/>
            <a:ext cx="990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400" b="0">
                <a:solidFill>
                  <a:srgbClr val="000000"/>
                </a:solidFill>
                <a:latin typeface="Calibri Light"/>
                <a:ea typeface="Calibri Light"/>
                <a:cs typeface="Calibri Light"/>
              </a:defRPr>
            </a:defPPr>
          </a:lstStyle>
          <a:p xmlns:a="http://schemas.openxmlformats.org/drawingml/2006/main">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Baseline y datos de prueba</a:t>
            </a:r>
          </a:p>
        </p:txBody>
      </p:sp>
      <p:sp>
        <p:nvSpPr>
          <p:cNvPr id="2" name="Contenido">
            <a:extLst xmlns:a="http://schemas.openxmlformats.org/drawingml/2006/main">
              <a:ext uri="{FF2B5EF4-FFF2-40B4-BE49-F238E27FC236}">
                <a16:creationId xmlns:a16="http://schemas.microsoft.com/office/drawing/2014/main" id="{7F233905-3089-4C5C-87A4-48C364E660F2}"/>
              </a:ext>
            </a:extLst>
          </p:cNvPr>
          <p:cNvSpPr>
            <a:spLocks xmlns:a="http://schemas.openxmlformats.org/drawingml/2006/main" noGrp="1"/>
          </p:cNvSpPr>
          <p:nvPr/>
        </p:nvSpPr>
        <p:spPr>
          <a:xfrm xmlns:a="http://schemas.openxmlformats.org/drawingml/2006/main">
            <a:off x="523875" y="2219325"/>
            <a:ext cx="99060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800" b="0">
                <a:solidFill>
                  <a:srgbClr val="000000"/>
                </a:solidFill>
                <a:latin typeface="Calibri"/>
                <a:ea typeface="Calibri"/>
                <a:cs typeface="Calibri"/>
              </a:defRPr>
            </a:defPPr>
          </a:lstStyle>
          <a:p xmlns:a="http://schemas.openxmlformats.org/drawingml/2006/main">
            <a:pPr algn="l">
              <a:spcBef>
                <a:spcPts val="0"/>
              </a:spcBef>
              <a:spcAft>
                <a:spcPts val="18"/>
              </a:spcAft>
              <a:defRPr sz="2800" b="0">
                <a:solidFill>
                  <a:srgbClr val="000000"/>
                </a:solidFill>
                <a:latin typeface="Calibri"/>
                <a:ea typeface="Calibri"/>
                <a:cs typeface="Calibri"/>
              </a:defRPr>
            </a:pPr>
            <a:r>
              <a:rPr sz="2800" b="0">
                <a:solidFill>
                  <a:srgbClr val="000000"/>
                </a:solidFill>
                <a:latin typeface="Calibri"/>
                <a:ea typeface="Calibri"/>
                <a:cs typeface="Calibri"/>
              </a:rPr>
              <a:t>Baseline baseline-calidad-v1, commit afac785</a:t>
            </a:r>
          </a:p>
          <a:p xmlns:a="http://schemas.openxmlformats.org/drawingml/2006/main">
            <a:pPr algn="l">
              <a:spcBef>
                <a:spcPts val="0"/>
              </a:spcBef>
              <a:spcAft>
                <a:spcPts val="18"/>
              </a:spcAft>
              <a:defRPr sz="2800" b="0">
                <a:solidFill>
                  <a:srgbClr val="000000"/>
                </a:solidFill>
                <a:latin typeface="Calibri"/>
                <a:ea typeface="Calibri"/>
                <a:cs typeface="Calibri"/>
              </a:defRPr>
            </a:pPr>
            <a:r>
              <a:rPr sz="2800" b="0">
                <a:solidFill>
                  <a:srgbClr val="000000"/>
                </a:solidFill>
                <a:latin typeface="Calibri"/>
                <a:ea typeface="Calibri"/>
                <a:cs typeface="Calibri"/>
              </a:rPr>
              <a:t>Instancia local 127.0.0.1:4011</a:t>
            </a:r>
          </a:p>
          <a:p xmlns:a="http://schemas.openxmlformats.org/drawingml/2006/main">
            <a:pPr algn="l">
              <a:spcBef>
                <a:spcPts val="0"/>
              </a:spcBef>
              <a:spcAft>
                <a:spcPts val="18"/>
              </a:spcAft>
              <a:defRPr sz="2800" b="0">
                <a:solidFill>
                  <a:srgbClr val="000000"/>
                </a:solidFill>
                <a:latin typeface="Calibri"/>
                <a:ea typeface="Calibri"/>
                <a:cs typeface="Calibri"/>
              </a:defRPr>
            </a:pPr>
            <a:r>
              <a:rPr sz="2800" b="0">
                <a:solidFill>
                  <a:srgbClr val="000000"/>
                </a:solidFill>
                <a:latin typeface="Calibri"/>
                <a:ea typeface="Calibri"/>
                <a:cs typeface="Calibri"/>
              </a:rPr>
              <a:t>Esquema separado con cuentas ficticias</a:t>
            </a:r>
          </a:p>
          <a:p xmlns:a="http://schemas.openxmlformats.org/drawingml/2006/main">
            <a:pPr algn="l">
              <a:spcBef>
                <a:spcPts val="0"/>
              </a:spcBef>
              <a:spcAft>
                <a:spcPts val="18"/>
              </a:spcAft>
              <a:defRPr sz="2800" b="0">
                <a:solidFill>
                  <a:srgbClr val="000000"/>
                </a:solidFill>
                <a:latin typeface="Calibri"/>
                <a:ea typeface="Calibri"/>
                <a:cs typeface="Calibri"/>
              </a:defRPr>
            </a:pPr>
            <a:r>
              <a:rPr sz="2800" b="0">
                <a:solidFill>
                  <a:srgbClr val="000000"/>
                </a:solidFill>
                <a:latin typeface="Calibri"/>
                <a:ea typeface="Calibri"/>
                <a:cs typeface="Calibri"/>
              </a:rPr>
              <a:t>Nexus: precio 39,99 y stock inicial 2</a:t>
            </a:r>
          </a:p>
          <a:p xmlns:a="http://schemas.openxmlformats.org/drawingml/2006/main">
            <a:pPr algn="l">
              <a:spcBef>
                <a:spcPts val="0"/>
              </a:spcBef>
              <a:spcAft>
                <a:spcPts val="18"/>
              </a:spcAft>
              <a:defRPr sz="2800" b="0">
                <a:solidFill>
                  <a:srgbClr val="000000"/>
                </a:solidFill>
                <a:latin typeface="Calibri"/>
                <a:ea typeface="Calibri"/>
                <a:cs typeface="Calibri"/>
              </a:defRPr>
            </a:pPr>
            <a:r>
              <a:rPr sz="2800" b="0">
                <a:solidFill>
                  <a:srgbClr val="000000"/>
                </a:solidFill>
                <a:latin typeface="Calibri"/>
                <a:ea typeface="Calibri"/>
                <a:cs typeface="Calibri"/>
              </a:rPr>
              <a:t>Void Command: stock 0</a:t>
            </a:r>
          </a:p>
        </p:txBody>
      </p:sp>
    </p:spTree>
    <p:extLst>
      <p:ext uri="{BB962C8B-B14F-4D97-AF65-F5344CB8AC3E}">
        <p14:creationId xmlns:p14="http://schemas.microsoft.com/office/powerpoint/2010/main" val="102523059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4" name="Título">
            <a:extLst xmlns:a="http://schemas.openxmlformats.org/drawingml/2006/main">
              <a:ext uri="{FF2B5EF4-FFF2-40B4-BE49-F238E27FC236}">
                <a16:creationId xmlns:a16="http://schemas.microsoft.com/office/drawing/2014/main" id="{FEE62026-1D87-45AF-BACB-4A07D329FC6E}"/>
              </a:ext>
            </a:extLst>
          </p:cNvPr>
          <p:cNvSpPr>
            <a:spLocks xmlns:a="http://schemas.openxmlformats.org/drawingml/2006/main" noGrp="1"/>
          </p:cNvSpPr>
          <p:nvPr/>
        </p:nvSpPr>
        <p:spPr>
          <a:xfrm xmlns:a="http://schemas.openxmlformats.org/drawingml/2006/main">
            <a:off x="495300" y="1333500"/>
            <a:ext cx="990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400" b="0">
                <a:solidFill>
                  <a:srgbClr val="000000"/>
                </a:solidFill>
                <a:latin typeface="Calibri Light"/>
                <a:ea typeface="Calibri Light"/>
                <a:cs typeface="Calibri Light"/>
              </a:defRPr>
            </a:defPPr>
          </a:lstStyle>
          <a:p xmlns:a="http://schemas.openxmlformats.org/drawingml/2006/main">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Cinco flujos y veinte casos</a:t>
            </a:r>
          </a:p>
        </p:txBody>
      </p:sp>
      <p:graphicFrame>
        <p:nvGraphicFramePr>
          <p:cNvPr id="2" name="">
            <a:extLst xmlns:a="http://schemas.openxmlformats.org/drawingml/2006/main">
              <a:ext uri="{FF2B5EF4-FFF2-40B4-BE49-F238E27FC236}">
                <a16:creationId xmlns:a16="http://schemas.microsoft.com/office/drawing/2014/main" id="{1924063C-CB3A-404D-B3DF-98B4B6A2C222}"/>
              </a:ext>
            </a:extLst>
          </p:cNvPr>
          <p:cNvGraphicFramePr/>
          <p:nvPr/>
        </p:nvGraphicFramePr>
        <p:xfrm>
          <a:off xmlns:a="http://schemas.openxmlformats.org/drawingml/2006/main" x="523875" y="2238375"/>
          <a:ext xmlns:a="http://schemas.openxmlformats.org/drawingml/2006/main" cx="9906000" cy="3524250"/>
        </p:xfrm>
        <a:graphic xmlns:a="http://schemas.openxmlformats.org/drawingml/2006/main">
          <a:graphicData uri="http://schemas.openxmlformats.org/drawingml/2006/table">
            <a:tbl>
              <a:tblPr/>
              <a:tblGrid>
                <a:gridCol w="5238750"/>
                <a:gridCol w="2952750"/>
                <a:gridCol w="1714500"/>
              </a:tblGrid>
              <a:tr h="587375">
                <a:tc>
                  <a:txBody>
                    <a:bodyPr lIns="76200" tIns="76200" rIns="76200" bIns="76200"/>
                    <a:lstStyle/>
                    <a:p>
                      <a:pPr algn="l"/>
                      <a:r>
                        <a:rPr sz="2400" b="1">
                          <a:solidFill>
                            <a:srgbClr val="000000"/>
                          </a:solidFill>
                          <a:latin typeface="Calibri"/>
                          <a:ea typeface="Calibri"/>
                          <a:cs typeface="Calibri"/>
                        </a:rPr>
                        <a:t>Flujo</a:t>
                      </a:r>
                    </a:p>
                  </a:txBody>
                  <a:tcPr marL="91440" marR="91440" marT="45720" marB="45720" anchor="ctr">
                    <a:solidFill>
                      <a:srgbClr val="EBEBEB"/>
                    </a:solidFill>
                  </a:tcPr>
                </a:tc>
                <a:tc>
                  <a:txBody>
                    <a:bodyPr lIns="76200" tIns="76200" rIns="76200" bIns="76200"/>
                    <a:lstStyle/>
                    <a:p>
                      <a:pPr algn="l"/>
                      <a:r>
                        <a:rPr sz="2400" b="1">
                          <a:solidFill>
                            <a:srgbClr val="000000"/>
                          </a:solidFill>
                          <a:latin typeface="Calibri"/>
                          <a:ea typeface="Calibri"/>
                          <a:cs typeface="Calibri"/>
                        </a:rPr>
                        <a:t>Casos</a:t>
                      </a:r>
                    </a:p>
                  </a:txBody>
                  <a:tcPr marL="91440" marR="91440" marT="45720" marB="45720" anchor="ctr">
                    <a:solidFill>
                      <a:srgbClr val="EBEBEB"/>
                    </a:solidFill>
                  </a:tcPr>
                </a:tc>
                <a:tc>
                  <a:txBody>
                    <a:bodyPr lIns="76200" tIns="76200" rIns="76200" bIns="76200"/>
                    <a:lstStyle/>
                    <a:p>
                      <a:pPr algn="l"/>
                      <a:r>
                        <a:rPr sz="2400" b="1">
                          <a:solidFill>
                            <a:srgbClr val="000000"/>
                          </a:solidFill>
                          <a:latin typeface="Calibri"/>
                          <a:ea typeface="Calibri"/>
                          <a:cs typeface="Calibri"/>
                        </a:rPr>
                        <a:t>Pass</a:t>
                      </a:r>
                    </a:p>
                  </a:txBody>
                  <a:tcPr marL="91440" marR="91440" marT="45720" marB="45720" anchor="ctr">
                    <a:solidFill>
                      <a:srgbClr val="EBEBEB"/>
                    </a:solidFill>
                  </a:tcPr>
                </a:tc>
              </a:tr>
              <a:tr h="587375">
                <a:tc>
                  <a:txBody>
                    <a:bodyPr lIns="76200" tIns="76200" rIns="76200" bIns="76200"/>
                    <a:lstStyle/>
                    <a:p>
                      <a:pPr algn="l"/>
                      <a:r>
                        <a:rPr sz="2400" b="0">
                          <a:solidFill>
                            <a:srgbClr val="000000"/>
                          </a:solidFill>
                          <a:latin typeface="Calibri"/>
                          <a:ea typeface="Calibri"/>
                          <a:cs typeface="Calibri"/>
                        </a:rPr>
                        <a:t>Registro y sesión</a:t>
                      </a:r>
                    </a:p>
                  </a:txBody>
                  <a:tcPr marL="91440" marR="91440" marT="45720" marB="45720" anchor="ctr">
                    <a:solidFill>
                      <a:srgbClr val="FFFFFF"/>
                    </a:solidFill>
                  </a:tcPr>
                </a:tc>
                <a:tc>
                  <a:txBody>
                    <a:bodyPr lIns="76200" tIns="76200" rIns="76200" bIns="76200"/>
                    <a:lstStyle/>
                    <a:p>
                      <a:pPr algn="l"/>
                      <a:r>
                        <a:rPr sz="2400" b="0">
                          <a:solidFill>
                            <a:srgbClr val="000000"/>
                          </a:solidFill>
                          <a:latin typeface="Calibri"/>
                          <a:ea typeface="Calibri"/>
                          <a:cs typeface="Calibri"/>
                        </a:rPr>
                        <a:t>CP01 a CP06</a:t>
                      </a:r>
                    </a:p>
                  </a:txBody>
                  <a:tcPr marL="91440" marR="91440" marT="45720" marB="45720" anchor="ctr">
                    <a:solidFill>
                      <a:srgbClr val="FFFFFF"/>
                    </a:solidFill>
                  </a:tcPr>
                </a:tc>
                <a:tc>
                  <a:txBody>
                    <a:bodyPr lIns="76200" tIns="76200" rIns="76200" bIns="76200"/>
                    <a:lstStyle/>
                    <a:p>
                      <a:pPr algn="l"/>
                      <a:r>
                        <a:rPr sz="2400" b="0">
                          <a:solidFill>
                            <a:srgbClr val="000000"/>
                          </a:solidFill>
                          <a:latin typeface="Calibri"/>
                          <a:ea typeface="Calibri"/>
                          <a:cs typeface="Calibri"/>
                        </a:rPr>
                        <a:t>6 / 6</a:t>
                      </a:r>
                    </a:p>
                  </a:txBody>
                  <a:tcPr marL="91440" marR="91440" marT="45720" marB="45720" anchor="ctr">
                    <a:solidFill>
                      <a:srgbClr val="FFFFFF"/>
                    </a:solidFill>
                  </a:tcPr>
                </a:tc>
              </a:tr>
              <a:tr h="587375">
                <a:tc>
                  <a:txBody>
                    <a:bodyPr lIns="76200" tIns="76200" rIns="76200" bIns="76200"/>
                    <a:lstStyle/>
                    <a:p>
                      <a:pPr algn="l"/>
                      <a:r>
                        <a:rPr sz="2400" b="0">
                          <a:solidFill>
                            <a:srgbClr val="000000"/>
                          </a:solidFill>
                          <a:latin typeface="Calibri"/>
                          <a:ea typeface="Calibri"/>
                          <a:cs typeface="Calibri"/>
                        </a:rPr>
                        <a:t>Catálogo y detalle</a:t>
                      </a:r>
                    </a:p>
                  </a:txBody>
                  <a:tcPr marL="91440" marR="91440" marT="45720" marB="45720" anchor="ctr">
                    <a:solidFill>
                      <a:srgbClr val="FFFFFF"/>
                    </a:solidFill>
                  </a:tcPr>
                </a:tc>
                <a:tc>
                  <a:txBody>
                    <a:bodyPr lIns="76200" tIns="76200" rIns="76200" bIns="76200"/>
                    <a:lstStyle/>
                    <a:p>
                      <a:pPr algn="l"/>
                      <a:r>
                        <a:rPr sz="2400" b="0">
                          <a:solidFill>
                            <a:srgbClr val="000000"/>
                          </a:solidFill>
                          <a:latin typeface="Calibri"/>
                          <a:ea typeface="Calibri"/>
                          <a:cs typeface="Calibri"/>
                        </a:rPr>
                        <a:t>CP07 a CP11</a:t>
                      </a:r>
                    </a:p>
                  </a:txBody>
                  <a:tcPr marL="91440" marR="91440" marT="45720" marB="45720" anchor="ctr">
                    <a:solidFill>
                      <a:srgbClr val="FFFFFF"/>
                    </a:solidFill>
                  </a:tcPr>
                </a:tc>
                <a:tc>
                  <a:txBody>
                    <a:bodyPr lIns="76200" tIns="76200" rIns="76200" bIns="76200"/>
                    <a:lstStyle/>
                    <a:p>
                      <a:pPr algn="l"/>
                      <a:r>
                        <a:rPr sz="2400" b="0">
                          <a:solidFill>
                            <a:srgbClr val="000000"/>
                          </a:solidFill>
                          <a:latin typeface="Calibri"/>
                          <a:ea typeface="Calibri"/>
                          <a:cs typeface="Calibri"/>
                        </a:rPr>
                        <a:t>5 / 5</a:t>
                      </a:r>
                    </a:p>
                  </a:txBody>
                  <a:tcPr marL="91440" marR="91440" marT="45720" marB="45720" anchor="ctr">
                    <a:solidFill>
                      <a:srgbClr val="FFFFFF"/>
                    </a:solidFill>
                  </a:tcPr>
                </a:tc>
              </a:tr>
              <a:tr h="587375">
                <a:tc>
                  <a:txBody>
                    <a:bodyPr lIns="76200" tIns="76200" rIns="76200" bIns="76200"/>
                    <a:lstStyle/>
                    <a:p>
                      <a:pPr algn="l"/>
                      <a:r>
                        <a:rPr sz="2400" b="0">
                          <a:solidFill>
                            <a:srgbClr val="000000"/>
                          </a:solidFill>
                          <a:latin typeface="Calibri"/>
                          <a:ea typeface="Calibri"/>
                          <a:cs typeface="Calibri"/>
                        </a:rPr>
                        <a:t>Carrito</a:t>
                      </a:r>
                    </a:p>
                  </a:txBody>
                  <a:tcPr marL="91440" marR="91440" marT="45720" marB="45720" anchor="ctr">
                    <a:solidFill>
                      <a:srgbClr val="FFFFFF"/>
                    </a:solidFill>
                  </a:tcPr>
                </a:tc>
                <a:tc>
                  <a:txBody>
                    <a:bodyPr lIns="76200" tIns="76200" rIns="76200" bIns="76200"/>
                    <a:lstStyle/>
                    <a:p>
                      <a:pPr algn="l"/>
                      <a:r>
                        <a:rPr sz="2400" b="0">
                          <a:solidFill>
                            <a:srgbClr val="000000"/>
                          </a:solidFill>
                          <a:latin typeface="Calibri"/>
                          <a:ea typeface="Calibri"/>
                          <a:cs typeface="Calibri"/>
                        </a:rPr>
                        <a:t>CP12 a CP14</a:t>
                      </a:r>
                    </a:p>
                  </a:txBody>
                  <a:tcPr marL="91440" marR="91440" marT="45720" marB="45720" anchor="ctr">
                    <a:solidFill>
                      <a:srgbClr val="FFFFFF"/>
                    </a:solidFill>
                  </a:tcPr>
                </a:tc>
                <a:tc>
                  <a:txBody>
                    <a:bodyPr lIns="76200" tIns="76200" rIns="76200" bIns="76200"/>
                    <a:lstStyle/>
                    <a:p>
                      <a:pPr algn="l"/>
                      <a:r>
                        <a:rPr sz="2400" b="0">
                          <a:solidFill>
                            <a:srgbClr val="000000"/>
                          </a:solidFill>
                          <a:latin typeface="Calibri"/>
                          <a:ea typeface="Calibri"/>
                          <a:cs typeface="Calibri"/>
                        </a:rPr>
                        <a:t>3 / 3</a:t>
                      </a:r>
                    </a:p>
                  </a:txBody>
                  <a:tcPr marL="91440" marR="91440" marT="45720" marB="45720" anchor="ctr">
                    <a:solidFill>
                      <a:srgbClr val="FFFFFF"/>
                    </a:solidFill>
                  </a:tcPr>
                </a:tc>
              </a:tr>
              <a:tr h="587375">
                <a:tc>
                  <a:txBody>
                    <a:bodyPr lIns="76200" tIns="76200" rIns="76200" bIns="76200"/>
                    <a:lstStyle/>
                    <a:p>
                      <a:pPr algn="l"/>
                      <a:r>
                        <a:rPr sz="2400" b="0">
                          <a:solidFill>
                            <a:srgbClr val="000000"/>
                          </a:solidFill>
                          <a:latin typeface="Calibri"/>
                          <a:ea typeface="Calibri"/>
                          <a:cs typeface="Calibri"/>
                        </a:rPr>
                        <a:t>Compra e historial</a:t>
                      </a:r>
                    </a:p>
                  </a:txBody>
                  <a:tcPr marL="91440" marR="91440" marT="45720" marB="45720" anchor="ctr">
                    <a:solidFill>
                      <a:srgbClr val="FFFFFF"/>
                    </a:solidFill>
                  </a:tcPr>
                </a:tc>
                <a:tc>
                  <a:txBody>
                    <a:bodyPr lIns="76200" tIns="76200" rIns="76200" bIns="76200"/>
                    <a:lstStyle/>
                    <a:p>
                      <a:pPr algn="l"/>
                      <a:r>
                        <a:rPr sz="2400" b="0">
                          <a:solidFill>
                            <a:srgbClr val="000000"/>
                          </a:solidFill>
                          <a:latin typeface="Calibri"/>
                          <a:ea typeface="Calibri"/>
                          <a:cs typeface="Calibri"/>
                        </a:rPr>
                        <a:t>CP15 y CP16</a:t>
                      </a:r>
                    </a:p>
                  </a:txBody>
                  <a:tcPr marL="91440" marR="91440" marT="45720" marB="45720" anchor="ctr">
                    <a:solidFill>
                      <a:srgbClr val="FFFFFF"/>
                    </a:solidFill>
                  </a:tcPr>
                </a:tc>
                <a:tc>
                  <a:txBody>
                    <a:bodyPr lIns="76200" tIns="76200" rIns="76200" bIns="76200"/>
                    <a:lstStyle/>
                    <a:p>
                      <a:pPr algn="l"/>
                      <a:r>
                        <a:rPr sz="2400" b="0">
                          <a:solidFill>
                            <a:srgbClr val="000000"/>
                          </a:solidFill>
                          <a:latin typeface="Calibri"/>
                          <a:ea typeface="Calibri"/>
                          <a:cs typeface="Calibri"/>
                        </a:rPr>
                        <a:t>2 / 2</a:t>
                      </a:r>
                    </a:p>
                  </a:txBody>
                  <a:tcPr marL="91440" marR="91440" marT="45720" marB="45720" anchor="ctr">
                    <a:solidFill>
                      <a:srgbClr val="FFFFFF"/>
                    </a:solidFill>
                  </a:tcPr>
                </a:tc>
              </a:tr>
              <a:tr h="587375">
                <a:tc>
                  <a:txBody>
                    <a:bodyPr lIns="76200" tIns="76200" rIns="76200" bIns="76200"/>
                    <a:lstStyle/>
                    <a:p>
                      <a:pPr algn="l"/>
                      <a:r>
                        <a:rPr sz="2400" b="0">
                          <a:solidFill>
                            <a:srgbClr val="000000"/>
                          </a:solidFill>
                          <a:latin typeface="Calibri"/>
                          <a:ea typeface="Calibri"/>
                          <a:cs typeface="Calibri"/>
                        </a:rPr>
                        <a:t>Administración</a:t>
                      </a:r>
                    </a:p>
                  </a:txBody>
                  <a:tcPr marL="91440" marR="91440" marT="45720" marB="45720" anchor="ctr">
                    <a:solidFill>
                      <a:srgbClr val="FFFFFF"/>
                    </a:solidFill>
                  </a:tcPr>
                </a:tc>
                <a:tc>
                  <a:txBody>
                    <a:bodyPr lIns="76200" tIns="76200" rIns="76200" bIns="76200"/>
                    <a:lstStyle/>
                    <a:p>
                      <a:pPr algn="l"/>
                      <a:r>
                        <a:rPr sz="2400" b="0">
                          <a:solidFill>
                            <a:srgbClr val="000000"/>
                          </a:solidFill>
                          <a:latin typeface="Calibri"/>
                          <a:ea typeface="Calibri"/>
                          <a:cs typeface="Calibri"/>
                        </a:rPr>
                        <a:t>CP17 a CP20</a:t>
                      </a:r>
                    </a:p>
                  </a:txBody>
                  <a:tcPr marL="91440" marR="91440" marT="45720" marB="45720" anchor="ctr">
                    <a:solidFill>
                      <a:srgbClr val="FFFFFF"/>
                    </a:solidFill>
                  </a:tcPr>
                </a:tc>
                <a:tc>
                  <a:txBody>
                    <a:bodyPr lIns="76200" tIns="76200" rIns="76200" bIns="76200"/>
                    <a:lstStyle/>
                    <a:p>
                      <a:pPr algn="l"/>
                      <a:r>
                        <a:rPr sz="2400" b="0">
                          <a:solidFill>
                            <a:srgbClr val="000000"/>
                          </a:solidFill>
                          <a:latin typeface="Calibri"/>
                          <a:ea typeface="Calibri"/>
                          <a:cs typeface="Calibri"/>
                        </a:rPr>
                        <a:t>4 / 4</a:t>
                      </a:r>
                    </a:p>
                  </a:txBody>
                  <a:tcPr marL="91440" marR="91440" marT="45720" marB="45720" anchor="ctr">
                    <a:solidFill>
                      <a:srgbClr val="FFFFFF"/>
                    </a:solidFill>
                  </a:tcPr>
                </a:tc>
              </a:tr>
            </a:tbl>
          </a:graphicData>
        </a:graphic>
      </p:graphicFrame>
      <p:sp>
        <p:nvSpPr>
          <p:cNvPr id="3" name="Cobertura">
            <a:extLst xmlns:a="http://schemas.openxmlformats.org/drawingml/2006/main">
              <a:ext uri="{FF2B5EF4-FFF2-40B4-BE49-F238E27FC236}">
                <a16:creationId xmlns:a16="http://schemas.microsoft.com/office/drawing/2014/main" id="{8331B520-29F0-4ABB-AB67-A17A050A81DE}"/>
              </a:ext>
            </a:extLst>
          </p:cNvPr>
          <p:cNvSpPr>
            <a:spLocks xmlns:a="http://schemas.openxmlformats.org/drawingml/2006/main" noGrp="1"/>
          </p:cNvSpPr>
          <p:nvPr/>
        </p:nvSpPr>
        <p:spPr>
          <a:xfrm xmlns:a="http://schemas.openxmlformats.org/drawingml/2006/main">
            <a:off x="523875" y="5857875"/>
            <a:ext cx="9906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000000"/>
                </a:solidFill>
                <a:latin typeface="Calibri"/>
                <a:ea typeface="Calibri"/>
                <a:cs typeface="Calibri"/>
              </a:defRPr>
            </a:defPPr>
          </a:lstStyle>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Cobertura de cinco flujos; no es cobertura de líneas de código.</a:t>
            </a:r>
          </a:p>
        </p:txBody>
      </p:sp>
    </p:spTree>
    <p:extLst>
      <p:ext uri="{BB962C8B-B14F-4D97-AF65-F5344CB8AC3E}">
        <p14:creationId xmlns:p14="http://schemas.microsoft.com/office/powerpoint/2010/main" val="115171466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4" name="Título">
            <a:extLst xmlns:a="http://schemas.openxmlformats.org/drawingml/2006/main">
              <a:ext uri="{FF2B5EF4-FFF2-40B4-BE49-F238E27FC236}">
                <a16:creationId xmlns:a16="http://schemas.microsoft.com/office/drawing/2014/main" id="{81BEB3BE-E724-45E0-9B75-CFF2A48FC4B3}"/>
              </a:ext>
            </a:extLst>
          </p:cNvPr>
          <p:cNvSpPr>
            <a:spLocks xmlns:a="http://schemas.openxmlformats.org/drawingml/2006/main" noGrp="1"/>
          </p:cNvSpPr>
          <p:nvPr/>
        </p:nvSpPr>
        <p:spPr>
          <a:xfrm xmlns:a="http://schemas.openxmlformats.org/drawingml/2006/main">
            <a:off x="495300" y="1333500"/>
            <a:ext cx="990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400" b="0">
                <a:solidFill>
                  <a:srgbClr val="000000"/>
                </a:solidFill>
                <a:latin typeface="Calibri Light"/>
                <a:ea typeface="Calibri Light"/>
                <a:cs typeface="Calibri Light"/>
              </a:defRPr>
            </a:defPPr>
          </a:lstStyle>
          <a:p xmlns:a="http://schemas.openxmlformats.org/drawingml/2006/main">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Técnicas de caja negra</a:t>
            </a:r>
          </a:p>
        </p:txBody>
      </p:sp>
      <p:graphicFrame>
        <p:nvGraphicFramePr>
          <p:cNvPr id="2" name="">
            <a:extLst xmlns:a="http://schemas.openxmlformats.org/drawingml/2006/main">
              <a:ext uri="{FF2B5EF4-FFF2-40B4-BE49-F238E27FC236}">
                <a16:creationId xmlns:a16="http://schemas.microsoft.com/office/drawing/2014/main" id="{EB77740B-0E70-4495-B17C-C61E798B431F}"/>
              </a:ext>
            </a:extLst>
          </p:cNvPr>
          <p:cNvGraphicFramePr/>
          <p:nvPr/>
        </p:nvGraphicFramePr>
        <p:xfrm>
          <a:off xmlns:a="http://schemas.openxmlformats.org/drawingml/2006/main" x="523875" y="2286000"/>
          <a:ext xmlns:a="http://schemas.openxmlformats.org/drawingml/2006/main" cx="9906000" cy="3333750"/>
        </p:xfrm>
        <a:graphic xmlns:a="http://schemas.openxmlformats.org/drawingml/2006/main">
          <a:graphicData uri="http://schemas.openxmlformats.org/drawingml/2006/table">
            <a:tbl>
              <a:tblPr/>
              <a:tblGrid>
                <a:gridCol w="3571875"/>
                <a:gridCol w="1476375"/>
                <a:gridCol w="4857750"/>
              </a:tblGrid>
              <a:tr h="666750">
                <a:tc>
                  <a:txBody>
                    <a:bodyPr lIns="76200" tIns="76200" rIns="76200" bIns="76200"/>
                    <a:lstStyle/>
                    <a:p>
                      <a:pPr algn="l"/>
                      <a:r>
                        <a:rPr sz="2325" b="1">
                          <a:solidFill>
                            <a:srgbClr val="000000"/>
                          </a:solidFill>
                          <a:latin typeface="Calibri"/>
                          <a:ea typeface="Calibri"/>
                          <a:cs typeface="Calibri"/>
                        </a:rPr>
                        <a:t>Técnica</a:t>
                      </a:r>
                    </a:p>
                  </a:txBody>
                  <a:tcPr marL="91440" marR="91440" marT="45720" marB="45720" anchor="ctr">
                    <a:solidFill>
                      <a:srgbClr val="EBEBEB"/>
                    </a:solidFill>
                  </a:tcPr>
                </a:tc>
                <a:tc>
                  <a:txBody>
                    <a:bodyPr lIns="76200" tIns="76200" rIns="76200" bIns="76200"/>
                    <a:lstStyle/>
                    <a:p>
                      <a:pPr algn="l"/>
                      <a:r>
                        <a:rPr sz="2325" b="1">
                          <a:solidFill>
                            <a:srgbClr val="000000"/>
                          </a:solidFill>
                          <a:latin typeface="Calibri"/>
                          <a:ea typeface="Calibri"/>
                          <a:cs typeface="Calibri"/>
                        </a:rPr>
                        <a:t>Caso</a:t>
                      </a:r>
                    </a:p>
                  </a:txBody>
                  <a:tcPr marL="91440" marR="91440" marT="45720" marB="45720" anchor="ctr">
                    <a:solidFill>
                      <a:srgbClr val="EBEBEB"/>
                    </a:solidFill>
                  </a:tcPr>
                </a:tc>
                <a:tc>
                  <a:txBody>
                    <a:bodyPr lIns="76200" tIns="76200" rIns="76200" bIns="76200"/>
                    <a:lstStyle/>
                    <a:p>
                      <a:pPr algn="l"/>
                      <a:r>
                        <a:rPr sz="2325" b="1">
                          <a:solidFill>
                            <a:srgbClr val="000000"/>
                          </a:solidFill>
                          <a:latin typeface="Calibri"/>
                          <a:ea typeface="Calibri"/>
                          <a:cs typeface="Calibri"/>
                        </a:rPr>
                        <a:t>Resultado esperado</a:t>
                      </a:r>
                    </a:p>
                  </a:txBody>
                  <a:tcPr marL="91440" marR="91440" marT="45720" marB="45720" anchor="ctr">
                    <a:solidFill>
                      <a:srgbClr val="EBEBEB"/>
                    </a:solidFill>
                  </a:tcPr>
                </a:tc>
              </a:tr>
              <a:tr h="666750">
                <a:tc>
                  <a:txBody>
                    <a:bodyPr lIns="76200" tIns="76200" rIns="76200" bIns="76200"/>
                    <a:lstStyle/>
                    <a:p>
                      <a:pPr algn="l"/>
                      <a:r>
                        <a:rPr sz="2325" b="0">
                          <a:solidFill>
                            <a:srgbClr val="000000"/>
                          </a:solidFill>
                          <a:latin typeface="Calibri"/>
                          <a:ea typeface="Calibri"/>
                          <a:cs typeface="Calibri"/>
                        </a:rPr>
                        <a:t>Partición inválida</a:t>
                      </a:r>
                    </a:p>
                  </a:txBody>
                  <a:tcPr marL="91440" marR="91440" marT="45720" marB="45720" anchor="ctr">
                    <a:solidFill>
                      <a:srgbClr val="FFFFFF"/>
                    </a:solidFill>
                  </a:tcPr>
                </a:tc>
                <a:tc>
                  <a:txBody>
                    <a:bodyPr lIns="76200" tIns="76200" rIns="76200" bIns="76200"/>
                    <a:lstStyle/>
                    <a:p>
                      <a:pPr algn="l"/>
                      <a:r>
                        <a:rPr sz="2325" b="0">
                          <a:solidFill>
                            <a:srgbClr val="000000"/>
                          </a:solidFill>
                          <a:latin typeface="Calibri"/>
                          <a:ea typeface="Calibri"/>
                          <a:cs typeface="Calibri"/>
                        </a:rPr>
                        <a:t>CP02</a:t>
                      </a:r>
                    </a:p>
                  </a:txBody>
                  <a:tcPr marL="91440" marR="91440" marT="45720" marB="45720" anchor="ctr">
                    <a:solidFill>
                      <a:srgbClr val="FFFFFF"/>
                    </a:solidFill>
                  </a:tcPr>
                </a:tc>
                <a:tc>
                  <a:txBody>
                    <a:bodyPr lIns="76200" tIns="76200" rIns="76200" bIns="76200"/>
                    <a:lstStyle/>
                    <a:p>
                      <a:pPr algn="l"/>
                      <a:r>
                        <a:rPr sz="2325" b="0">
                          <a:solidFill>
                            <a:srgbClr val="000000"/>
                          </a:solidFill>
                          <a:latin typeface="Calibri"/>
                          <a:ea typeface="Calibri"/>
                          <a:cs typeface="Calibri"/>
                        </a:rPr>
                        <a:t>Rechazar correo sin @</a:t>
                      </a:r>
                    </a:p>
                  </a:txBody>
                  <a:tcPr marL="91440" marR="91440" marT="45720" marB="45720" anchor="ctr">
                    <a:solidFill>
                      <a:srgbClr val="FFFFFF"/>
                    </a:solidFill>
                  </a:tcPr>
                </a:tc>
              </a:tr>
              <a:tr h="666750">
                <a:tc>
                  <a:txBody>
                    <a:bodyPr lIns="76200" tIns="76200" rIns="76200" bIns="76200"/>
                    <a:lstStyle/>
                    <a:p>
                      <a:pPr algn="l"/>
                      <a:r>
                        <a:rPr sz="2325" b="0">
                          <a:solidFill>
                            <a:srgbClr val="000000"/>
                          </a:solidFill>
                          <a:latin typeface="Calibri"/>
                          <a:ea typeface="Calibri"/>
                          <a:cs typeface="Calibri"/>
                        </a:rPr>
                        <a:t>Valor límite</a:t>
                      </a:r>
                    </a:p>
                  </a:txBody>
                  <a:tcPr marL="91440" marR="91440" marT="45720" marB="45720" anchor="ctr">
                    <a:solidFill>
                      <a:srgbClr val="FFFFFF"/>
                    </a:solidFill>
                  </a:tcPr>
                </a:tc>
                <a:tc>
                  <a:txBody>
                    <a:bodyPr lIns="76200" tIns="76200" rIns="76200" bIns="76200"/>
                    <a:lstStyle/>
                    <a:p>
                      <a:pPr algn="l"/>
                      <a:r>
                        <a:rPr sz="2325" b="0">
                          <a:solidFill>
                            <a:srgbClr val="000000"/>
                          </a:solidFill>
                          <a:latin typeface="Calibri"/>
                          <a:ea typeface="Calibri"/>
                          <a:cs typeface="Calibri"/>
                        </a:rPr>
                        <a:t>CP13</a:t>
                      </a:r>
                    </a:p>
                  </a:txBody>
                  <a:tcPr marL="91440" marR="91440" marT="45720" marB="45720" anchor="ctr">
                    <a:solidFill>
                      <a:srgbClr val="FFFFFF"/>
                    </a:solidFill>
                  </a:tcPr>
                </a:tc>
                <a:tc>
                  <a:txBody>
                    <a:bodyPr lIns="76200" tIns="76200" rIns="76200" bIns="76200"/>
                    <a:lstStyle/>
                    <a:p>
                      <a:pPr algn="l"/>
                      <a:r>
                        <a:rPr sz="2325" b="0">
                          <a:solidFill>
                            <a:srgbClr val="000000"/>
                          </a:solidFill>
                          <a:latin typeface="Calibri"/>
                          <a:ea typeface="Calibri"/>
                          <a:cs typeface="Calibri"/>
                        </a:rPr>
                        <a:t>No superar stock 2</a:t>
                      </a:r>
                    </a:p>
                  </a:txBody>
                  <a:tcPr marL="91440" marR="91440" marT="45720" marB="45720" anchor="ctr">
                    <a:solidFill>
                      <a:srgbClr val="FFFFFF"/>
                    </a:solidFill>
                  </a:tcPr>
                </a:tc>
              </a:tr>
              <a:tr h="666750">
                <a:tc>
                  <a:txBody>
                    <a:bodyPr lIns="76200" tIns="76200" rIns="76200" bIns="76200"/>
                    <a:lstStyle/>
                    <a:p>
                      <a:pPr algn="l"/>
                      <a:r>
                        <a:rPr sz="2325" b="0">
                          <a:solidFill>
                            <a:srgbClr val="000000"/>
                          </a:solidFill>
                          <a:latin typeface="Calibri"/>
                          <a:ea typeface="Calibri"/>
                          <a:cs typeface="Calibri"/>
                        </a:rPr>
                        <a:t>Transición de estado</a:t>
                      </a:r>
                    </a:p>
                  </a:txBody>
                  <a:tcPr marL="91440" marR="91440" marT="45720" marB="45720" anchor="ctr">
                    <a:solidFill>
                      <a:srgbClr val="FFFFFF"/>
                    </a:solidFill>
                  </a:tcPr>
                </a:tc>
                <a:tc>
                  <a:txBody>
                    <a:bodyPr lIns="76200" tIns="76200" rIns="76200" bIns="76200"/>
                    <a:lstStyle/>
                    <a:p>
                      <a:pPr algn="l"/>
                      <a:r>
                        <a:rPr sz="2325" b="0">
                          <a:solidFill>
                            <a:srgbClr val="000000"/>
                          </a:solidFill>
                          <a:latin typeface="Calibri"/>
                          <a:ea typeface="Calibri"/>
                          <a:cs typeface="Calibri"/>
                        </a:rPr>
                        <a:t>CP05</a:t>
                      </a:r>
                    </a:p>
                  </a:txBody>
                  <a:tcPr marL="91440" marR="91440" marT="45720" marB="45720" anchor="ctr">
                    <a:solidFill>
                      <a:srgbClr val="FFFFFF"/>
                    </a:solidFill>
                  </a:tcPr>
                </a:tc>
                <a:tc>
                  <a:txBody>
                    <a:bodyPr lIns="76200" tIns="76200" rIns="76200" bIns="76200"/>
                    <a:lstStyle/>
                    <a:p>
                      <a:pPr algn="l"/>
                      <a:r>
                        <a:rPr sz="2325" b="0">
                          <a:solidFill>
                            <a:srgbClr val="000000"/>
                          </a:solidFill>
                          <a:latin typeface="Calibri"/>
                          <a:ea typeface="Calibri"/>
                          <a:cs typeface="Calibri"/>
                        </a:rPr>
                        <a:t>Revocar sesión al salir</a:t>
                      </a:r>
                    </a:p>
                  </a:txBody>
                  <a:tcPr marL="91440" marR="91440" marT="45720" marB="45720" anchor="ctr">
                    <a:solidFill>
                      <a:srgbClr val="FFFFFF"/>
                    </a:solidFill>
                  </a:tcPr>
                </a:tc>
              </a:tr>
              <a:tr h="666750">
                <a:tc>
                  <a:txBody>
                    <a:bodyPr lIns="76200" tIns="76200" rIns="76200" bIns="76200"/>
                    <a:lstStyle/>
                    <a:p>
                      <a:pPr algn="l"/>
                      <a:r>
                        <a:rPr sz="2325" b="0">
                          <a:solidFill>
                            <a:srgbClr val="000000"/>
                          </a:solidFill>
                          <a:latin typeface="Calibri"/>
                          <a:ea typeface="Calibri"/>
                          <a:cs typeface="Calibri"/>
                        </a:rPr>
                        <a:t>Decisión por relación</a:t>
                      </a:r>
                    </a:p>
                  </a:txBody>
                  <a:tcPr marL="91440" marR="91440" marT="45720" marB="45720" anchor="ctr">
                    <a:solidFill>
                      <a:srgbClr val="FFFFFF"/>
                    </a:solidFill>
                  </a:tcPr>
                </a:tc>
                <a:tc>
                  <a:txBody>
                    <a:bodyPr lIns="76200" tIns="76200" rIns="76200" bIns="76200"/>
                    <a:lstStyle/>
                    <a:p>
                      <a:pPr algn="l"/>
                      <a:r>
                        <a:rPr sz="2325" b="0">
                          <a:solidFill>
                            <a:srgbClr val="000000"/>
                          </a:solidFill>
                          <a:latin typeface="Calibri"/>
                          <a:ea typeface="Calibri"/>
                          <a:cs typeface="Calibri"/>
                        </a:rPr>
                        <a:t>CP19</a:t>
                      </a:r>
                    </a:p>
                  </a:txBody>
                  <a:tcPr marL="91440" marR="91440" marT="45720" marB="45720" anchor="ctr">
                    <a:solidFill>
                      <a:srgbClr val="FFFFFF"/>
                    </a:solidFill>
                  </a:tcPr>
                </a:tc>
                <a:tc>
                  <a:txBody>
                    <a:bodyPr lIns="76200" tIns="76200" rIns="76200" bIns="76200"/>
                    <a:lstStyle/>
                    <a:p>
                      <a:pPr algn="l"/>
                      <a:r>
                        <a:rPr sz="2325" b="0">
                          <a:solidFill>
                            <a:srgbClr val="000000"/>
                          </a:solidFill>
                          <a:latin typeface="Calibri"/>
                          <a:ea typeface="Calibri"/>
                          <a:cs typeface="Calibri"/>
                        </a:rPr>
                        <a:t>Archivar si tiene pedido</a:t>
                      </a:r>
                    </a:p>
                  </a:txBody>
                  <a:tcPr marL="91440" marR="91440" marT="45720" marB="45720" anchor="ctr">
                    <a:solidFill>
                      <a:srgbClr val="FFFFFF"/>
                    </a:solidFill>
                  </a:tcPr>
                </a:tc>
              </a:tr>
            </a:tbl>
          </a:graphicData>
        </a:graphic>
      </p:graphicFrame>
      <p:sp>
        <p:nvSpPr>
          <p:cNvPr id="3" name="Trazabilidad">
            <a:extLst xmlns:a="http://schemas.openxmlformats.org/drawingml/2006/main">
              <a:ext uri="{FF2B5EF4-FFF2-40B4-BE49-F238E27FC236}">
                <a16:creationId xmlns:a16="http://schemas.microsoft.com/office/drawing/2014/main" id="{3FAC5963-E813-4270-B1BE-BE7BD8A6A2D6}"/>
              </a:ext>
            </a:extLst>
          </p:cNvPr>
          <p:cNvSpPr>
            <a:spLocks xmlns:a="http://schemas.openxmlformats.org/drawingml/2006/main" noGrp="1"/>
          </p:cNvSpPr>
          <p:nvPr/>
        </p:nvSpPr>
        <p:spPr>
          <a:xfrm xmlns:a="http://schemas.openxmlformats.org/drawingml/2006/main">
            <a:off x="523875" y="579120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0">
                <a:solidFill>
                  <a:srgbClr val="000000"/>
                </a:solidFill>
                <a:latin typeface="Calibri"/>
                <a:ea typeface="Calibri"/>
                <a:cs typeface="Calibri"/>
              </a:defRPr>
            </a:defPPr>
          </a:lstStyle>
          <a:p xmlns:a="http://schemas.openxmlformats.org/drawingml/2006/main">
            <a:pPr algn="l">
              <a:defRPr sz="2250" b="0">
                <a:solidFill>
                  <a:srgbClr val="000000"/>
                </a:solidFill>
                <a:latin typeface="Calibri"/>
                <a:ea typeface="Calibri"/>
                <a:cs typeface="Calibri"/>
              </a:defRPr>
            </a:pPr>
            <a:r>
              <a:rPr sz="2250" b="0">
                <a:solidFill>
                  <a:srgbClr val="000000"/>
                </a:solidFill>
                <a:latin typeface="Calibri"/>
                <a:ea typeface="Calibri"/>
                <a:cs typeface="Calibri"/>
              </a:rPr>
              <a:t>Cada registro enlaza requisito, caso, resultado y evidencia.</a:t>
            </a:r>
          </a:p>
        </p:txBody>
      </p:sp>
    </p:spTree>
    <p:extLst>
      <p:ext uri="{BB962C8B-B14F-4D97-AF65-F5344CB8AC3E}">
        <p14:creationId xmlns:p14="http://schemas.microsoft.com/office/powerpoint/2010/main" val="15987657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4" name="Título">
            <a:extLst xmlns:a="http://schemas.openxmlformats.org/drawingml/2006/main">
              <a:ext uri="{FF2B5EF4-FFF2-40B4-BE49-F238E27FC236}">
                <a16:creationId xmlns:a16="http://schemas.microsoft.com/office/drawing/2014/main" id="{5FBA6BF7-C3CF-4E4B-B789-A19BA07604AA}"/>
              </a:ext>
            </a:extLst>
          </p:cNvPr>
          <p:cNvSpPr>
            <a:spLocks xmlns:a="http://schemas.openxmlformats.org/drawingml/2006/main" noGrp="1"/>
          </p:cNvSpPr>
          <p:nvPr/>
        </p:nvSpPr>
        <p:spPr>
          <a:xfrm xmlns:a="http://schemas.openxmlformats.org/drawingml/2006/main">
            <a:off x="495300" y="1333500"/>
            <a:ext cx="990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400" b="0">
                <a:solidFill>
                  <a:srgbClr val="000000"/>
                </a:solidFill>
                <a:latin typeface="Calibri Light"/>
                <a:ea typeface="Calibri Light"/>
                <a:cs typeface="Calibri Light"/>
              </a:defRPr>
            </a:defPPr>
          </a:lstStyle>
          <a:p xmlns:a="http://schemas.openxmlformats.org/drawingml/2006/main">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Carrito y límite de stock</a:t>
            </a:r>
          </a:p>
        </p:txBody>
      </p:sp>
      <p:sp>
        <p:nvSpPr>
          <p:cNvPr id="2" name="Contenido">
            <a:extLst xmlns:a="http://schemas.openxmlformats.org/drawingml/2006/main">
              <a:ext uri="{FF2B5EF4-FFF2-40B4-BE49-F238E27FC236}">
                <a16:creationId xmlns:a16="http://schemas.microsoft.com/office/drawing/2014/main" id="{FC72D217-968E-47B4-A22A-321728242AA5}"/>
              </a:ext>
            </a:extLst>
          </p:cNvPr>
          <p:cNvSpPr>
            <a:spLocks xmlns:a="http://schemas.openxmlformats.org/drawingml/2006/main" noGrp="1"/>
          </p:cNvSpPr>
          <p:nvPr/>
        </p:nvSpPr>
        <p:spPr>
          <a:xfrm xmlns:a="http://schemas.openxmlformats.org/drawingml/2006/main">
            <a:off x="523875" y="2476500"/>
            <a:ext cx="442912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800" b="0">
                <a:solidFill>
                  <a:srgbClr val="000000"/>
                </a:solidFill>
                <a:latin typeface="Calibri"/>
                <a:ea typeface="Calibri"/>
                <a:cs typeface="Calibri"/>
              </a:defRPr>
            </a:defPPr>
          </a:lstStyle>
          <a:p xmlns:a="http://schemas.openxmlformats.org/drawingml/2006/main">
            <a:pPr algn="l">
              <a:spcBef>
                <a:spcPts val="0"/>
              </a:spcBef>
              <a:spcAft>
                <a:spcPts val="18"/>
              </a:spcAft>
              <a:defRPr sz="2800" b="0">
                <a:solidFill>
                  <a:srgbClr val="000000"/>
                </a:solidFill>
                <a:latin typeface="Calibri"/>
                <a:ea typeface="Calibri"/>
                <a:cs typeface="Calibri"/>
              </a:defRPr>
            </a:pPr>
            <a:r>
              <a:rPr sz="2800" b="0">
                <a:solidFill>
                  <a:srgbClr val="000000"/>
                </a:solidFill>
                <a:latin typeface="Calibri"/>
                <a:ea typeface="Calibri"/>
                <a:cs typeface="Calibri"/>
              </a:rPr>
              <a:t>CP12: una unidad por 39,99</a:t>
            </a:r>
          </a:p>
          <a:p xmlns:a="http://schemas.openxmlformats.org/drawingml/2006/main">
            <a:pPr algn="l">
              <a:spcBef>
                <a:spcPts val="0"/>
              </a:spcBef>
              <a:spcAft>
                <a:spcPts val="18"/>
              </a:spcAft>
              <a:defRPr sz="2800" b="0">
                <a:solidFill>
                  <a:srgbClr val="000000"/>
                </a:solidFill>
                <a:latin typeface="Calibri"/>
                <a:ea typeface="Calibri"/>
                <a:cs typeface="Calibri"/>
              </a:defRPr>
            </a:pPr>
            <a:r>
              <a:rPr sz="2800" b="0">
                <a:solidFill>
                  <a:srgbClr val="000000"/>
                </a:solidFill>
                <a:latin typeface="Calibri"/>
                <a:ea typeface="Calibri"/>
                <a:cs typeface="Calibri"/>
              </a:rPr>
              <a:t>CP13: máximo de dos unidades</a:t>
            </a:r>
          </a:p>
          <a:p xmlns:a="http://schemas.openxmlformats.org/drawingml/2006/main">
            <a:pPr algn="l">
              <a:spcBef>
                <a:spcPts val="0"/>
              </a:spcBef>
              <a:spcAft>
                <a:spcPts val="18"/>
              </a:spcAft>
              <a:defRPr sz="2800" b="0">
                <a:solidFill>
                  <a:srgbClr val="000000"/>
                </a:solidFill>
                <a:latin typeface="Calibri"/>
                <a:ea typeface="Calibri"/>
                <a:cs typeface="Calibri"/>
              </a:defRPr>
            </a:pPr>
            <a:r>
              <a:rPr sz="2800" b="0">
                <a:solidFill>
                  <a:srgbClr val="000000"/>
                </a:solidFill>
                <a:latin typeface="Calibri"/>
                <a:ea typeface="Calibri"/>
                <a:cs typeface="Calibri"/>
              </a:rPr>
              <a:t>Total verificado: 79,98</a:t>
            </a:r>
          </a:p>
          <a:p xmlns:a="http://schemas.openxmlformats.org/drawingml/2006/main">
            <a:pPr algn="l">
              <a:spcBef>
                <a:spcPts val="0"/>
              </a:spcBef>
              <a:spcAft>
                <a:spcPts val="18"/>
              </a:spcAft>
              <a:defRPr sz="2800" b="0">
                <a:solidFill>
                  <a:srgbClr val="000000"/>
                </a:solidFill>
                <a:latin typeface="Calibri"/>
                <a:ea typeface="Calibri"/>
                <a:cs typeface="Calibri"/>
              </a:defRPr>
            </a:pPr>
            <a:r>
              <a:rPr sz="2800" b="0">
                <a:solidFill>
                  <a:srgbClr val="000000"/>
                </a:solidFill>
                <a:latin typeface="Calibri"/>
                <a:ea typeface="Calibri"/>
                <a:cs typeface="Calibri"/>
              </a:rPr>
              <a:t>CP14: persistir y eliminar</a:t>
            </a:r>
          </a:p>
        </p:txBody>
      </p:sp>
      <p:pic>
        <p:nvPicPr>
          <p:cNvPr id="3" name="">
            <a:extLst xmlns:a="http://schemas.openxmlformats.org/drawingml/2006/main">
              <a:ext uri="{FF2B5EF4-FFF2-40B4-BE49-F238E27FC236}">
                <a16:creationId xmlns:a16="http://schemas.microsoft.com/office/drawing/2014/main" id="{615652D6-1975-4CE6-9865-CB9337DBEA9A}"/>
              </a:ext>
            </a:extLst>
          </p:cNvPr>
          <p:cNvPicPr>
            <a:picLocks xmlns:a="http://schemas.openxmlformats.org/drawingml/2006/main" noChangeAspect="1"/>
          </p:cNvPicPr>
          <p:nvPr/>
        </p:nvPicPr>
        <p:blipFill>
          <a:blip xmlns:r="http://schemas.openxmlformats.org/officeDocument/2006/relationships" xmlns:a="http://schemas.openxmlformats.org/drawingml/2006/main" r:embed="R503a4650781340e1"/>
          <a:stretch xmlns:a="http://schemas.openxmlformats.org/drawingml/2006/main"/>
        </p:blipFill>
        <p:spPr>
          <a:xfrm xmlns:a="http://schemas.openxmlformats.org/drawingml/2006/main">
            <a:off x="5360625" y="2324100"/>
            <a:ext cx="4995000" cy="3524250"/>
          </a:xfrm>
          <a:prstGeom xmlns:a="http://schemas.openxmlformats.org/drawingml/2006/main" prst="rect">
            <a:avLst/>
          </a:prstGeom>
        </p:spPr>
      </p:pic>
    </p:spTree>
    <p:extLst>
      <p:ext uri="{BB962C8B-B14F-4D97-AF65-F5344CB8AC3E}">
        <p14:creationId xmlns:p14="http://schemas.microsoft.com/office/powerpoint/2010/main" val="147428766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4" name="Título">
            <a:extLst xmlns:a="http://schemas.openxmlformats.org/drawingml/2006/main">
              <a:ext uri="{FF2B5EF4-FFF2-40B4-BE49-F238E27FC236}">
                <a16:creationId xmlns:a16="http://schemas.microsoft.com/office/drawing/2014/main" id="{59D9B35E-DA63-42AA-B4A2-1DF57058F65D}"/>
              </a:ext>
            </a:extLst>
          </p:cNvPr>
          <p:cNvSpPr>
            <a:spLocks xmlns:a="http://schemas.openxmlformats.org/drawingml/2006/main" noGrp="1"/>
          </p:cNvSpPr>
          <p:nvPr/>
        </p:nvSpPr>
        <p:spPr>
          <a:xfrm xmlns:a="http://schemas.openxmlformats.org/drawingml/2006/main">
            <a:off x="495300" y="1333500"/>
            <a:ext cx="990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400" b="0">
                <a:solidFill>
                  <a:srgbClr val="000000"/>
                </a:solidFill>
                <a:latin typeface="Calibri Light"/>
                <a:ea typeface="Calibri Light"/>
                <a:cs typeface="Calibri Light"/>
              </a:defRPr>
            </a:defPPr>
          </a:lstStyle>
          <a:p xmlns:a="http://schemas.openxmlformats.org/drawingml/2006/main">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Compra e historial</a:t>
            </a:r>
          </a:p>
        </p:txBody>
      </p:sp>
      <p:sp>
        <p:nvSpPr>
          <p:cNvPr id="2" name="Contenido">
            <a:extLst xmlns:a="http://schemas.openxmlformats.org/drawingml/2006/main">
              <a:ext uri="{FF2B5EF4-FFF2-40B4-BE49-F238E27FC236}">
                <a16:creationId xmlns:a16="http://schemas.microsoft.com/office/drawing/2014/main" id="{73BDC864-DB73-480A-825A-1471CD8118CC}"/>
              </a:ext>
            </a:extLst>
          </p:cNvPr>
          <p:cNvSpPr>
            <a:spLocks xmlns:a="http://schemas.openxmlformats.org/drawingml/2006/main" noGrp="1"/>
          </p:cNvSpPr>
          <p:nvPr/>
        </p:nvSpPr>
        <p:spPr>
          <a:xfrm xmlns:a="http://schemas.openxmlformats.org/drawingml/2006/main">
            <a:off x="523875" y="2476500"/>
            <a:ext cx="44767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800" b="0">
                <a:solidFill>
                  <a:srgbClr val="000000"/>
                </a:solidFill>
                <a:latin typeface="Calibri"/>
                <a:ea typeface="Calibri"/>
                <a:cs typeface="Calibri"/>
              </a:defRPr>
            </a:defPPr>
          </a:lstStyle>
          <a:p xmlns:a="http://schemas.openxmlformats.org/drawingml/2006/main">
            <a:pPr algn="l">
              <a:spcBef>
                <a:spcPts val="0"/>
              </a:spcBef>
              <a:spcAft>
                <a:spcPts val="18"/>
              </a:spcAft>
              <a:defRPr sz="2800" b="0">
                <a:solidFill>
                  <a:srgbClr val="000000"/>
                </a:solidFill>
                <a:latin typeface="Calibri"/>
                <a:ea typeface="Calibri"/>
                <a:cs typeface="Calibri"/>
              </a:defRPr>
            </a:pPr>
            <a:r>
              <a:rPr sz="2800" b="0">
                <a:solidFill>
                  <a:srgbClr val="000000"/>
                </a:solidFill>
                <a:latin typeface="Calibri"/>
                <a:ea typeface="Calibri"/>
                <a:cs typeface="Calibri"/>
              </a:rPr>
              <a:t>CP15: pedido por 39,99</a:t>
            </a:r>
          </a:p>
          <a:p xmlns:a="http://schemas.openxmlformats.org/drawingml/2006/main">
            <a:pPr algn="l">
              <a:spcBef>
                <a:spcPts val="0"/>
              </a:spcBef>
              <a:spcAft>
                <a:spcPts val="18"/>
              </a:spcAft>
              <a:defRPr sz="2800" b="0">
                <a:solidFill>
                  <a:srgbClr val="000000"/>
                </a:solidFill>
                <a:latin typeface="Calibri"/>
                <a:ea typeface="Calibri"/>
                <a:cs typeface="Calibri"/>
              </a:defRPr>
            </a:pPr>
            <a:r>
              <a:rPr sz="2800" b="0">
                <a:solidFill>
                  <a:srgbClr val="000000"/>
                </a:solidFill>
                <a:latin typeface="Calibri"/>
                <a:ea typeface="Calibri"/>
                <a:cs typeface="Calibri"/>
              </a:rPr>
              <a:t>Precio histórico conservado</a:t>
            </a:r>
          </a:p>
          <a:p xmlns:a="http://schemas.openxmlformats.org/drawingml/2006/main">
            <a:pPr algn="l">
              <a:spcBef>
                <a:spcPts val="0"/>
              </a:spcBef>
              <a:spcAft>
                <a:spcPts val="18"/>
              </a:spcAft>
              <a:defRPr sz="2800" b="0">
                <a:solidFill>
                  <a:srgbClr val="000000"/>
                </a:solidFill>
                <a:latin typeface="Calibri"/>
                <a:ea typeface="Calibri"/>
                <a:cs typeface="Calibri"/>
              </a:defRPr>
            </a:pPr>
            <a:r>
              <a:rPr sz="2800" b="0">
                <a:solidFill>
                  <a:srgbClr val="000000"/>
                </a:solidFill>
                <a:latin typeface="Calibri"/>
                <a:ea typeface="Calibri"/>
                <a:cs typeface="Calibri"/>
              </a:rPr>
              <a:t>Stock de Nexus: 2 a 1</a:t>
            </a:r>
          </a:p>
          <a:p xmlns:a="http://schemas.openxmlformats.org/drawingml/2006/main">
            <a:pPr algn="l">
              <a:spcBef>
                <a:spcPts val="0"/>
              </a:spcBef>
              <a:spcAft>
                <a:spcPts val="18"/>
              </a:spcAft>
              <a:defRPr sz="2800" b="0">
                <a:solidFill>
                  <a:srgbClr val="000000"/>
                </a:solidFill>
                <a:latin typeface="Calibri"/>
                <a:ea typeface="Calibri"/>
                <a:cs typeface="Calibri"/>
              </a:defRPr>
            </a:pPr>
            <a:r>
              <a:rPr sz="2800" b="0">
                <a:solidFill>
                  <a:srgbClr val="000000"/>
                </a:solidFill>
                <a:latin typeface="Calibri"/>
                <a:ea typeface="Calibri"/>
                <a:cs typeface="Calibri"/>
              </a:rPr>
              <a:t>CP16: agotado devuelve 409</a:t>
            </a:r>
          </a:p>
        </p:txBody>
      </p:sp>
      <p:pic>
        <p:nvPicPr>
          <p:cNvPr id="3" name="">
            <a:extLst xmlns:a="http://schemas.openxmlformats.org/drawingml/2006/main">
              <a:ext uri="{FF2B5EF4-FFF2-40B4-BE49-F238E27FC236}">
                <a16:creationId xmlns:a16="http://schemas.microsoft.com/office/drawing/2014/main" id="{093E56BA-64BB-4C9C-8D4A-5B64BF5F7DAF}"/>
              </a:ext>
            </a:extLst>
          </p:cNvPr>
          <p:cNvPicPr>
            <a:picLocks xmlns:a="http://schemas.openxmlformats.org/drawingml/2006/main" noChangeAspect="1"/>
          </p:cNvPicPr>
          <p:nvPr/>
        </p:nvPicPr>
        <p:blipFill>
          <a:blip xmlns:r="http://schemas.openxmlformats.org/officeDocument/2006/relationships" xmlns:a="http://schemas.openxmlformats.org/drawingml/2006/main" r:embed="R21b8e3ed0a16475b"/>
          <a:stretch xmlns:a="http://schemas.openxmlformats.org/drawingml/2006/main"/>
        </p:blipFill>
        <p:spPr>
          <a:xfrm xmlns:a="http://schemas.openxmlformats.org/drawingml/2006/main">
            <a:off x="5334000" y="2333360"/>
            <a:ext cx="5048250" cy="3505729"/>
          </a:xfrm>
          <a:prstGeom xmlns:a="http://schemas.openxmlformats.org/drawingml/2006/main" prst="rect">
            <a:avLst/>
          </a:prstGeom>
        </p:spPr>
      </p:pic>
    </p:spTree>
    <p:extLst>
      <p:ext uri="{BB962C8B-B14F-4D97-AF65-F5344CB8AC3E}">
        <p14:creationId xmlns:p14="http://schemas.microsoft.com/office/powerpoint/2010/main" val="38879835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4" name="Título">
            <a:extLst xmlns:a="http://schemas.openxmlformats.org/drawingml/2006/main">
              <a:ext uri="{FF2B5EF4-FFF2-40B4-BE49-F238E27FC236}">
                <a16:creationId xmlns:a16="http://schemas.microsoft.com/office/drawing/2014/main" id="{8DC5A5DA-12D6-4C9A-A091-DE7F2AC95276}"/>
              </a:ext>
            </a:extLst>
          </p:cNvPr>
          <p:cNvSpPr>
            <a:spLocks xmlns:a="http://schemas.openxmlformats.org/drawingml/2006/main" noGrp="1"/>
          </p:cNvSpPr>
          <p:nvPr/>
        </p:nvSpPr>
        <p:spPr>
          <a:xfrm xmlns:a="http://schemas.openxmlformats.org/drawingml/2006/main">
            <a:off x="495300" y="1333500"/>
            <a:ext cx="990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400" b="0">
                <a:solidFill>
                  <a:srgbClr val="000000"/>
                </a:solidFill>
                <a:latin typeface="Calibri Light"/>
                <a:ea typeface="Calibri Light"/>
                <a:cs typeface="Calibri Light"/>
              </a:defRPr>
            </a:defPPr>
          </a:lstStyle>
          <a:p xmlns:a="http://schemas.openxmlformats.org/drawingml/2006/main">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CRUD y protección del historial</a:t>
            </a:r>
          </a:p>
        </p:txBody>
      </p:sp>
      <p:sp>
        <p:nvSpPr>
          <p:cNvPr id="2" name="Contenido">
            <a:extLst xmlns:a="http://schemas.openxmlformats.org/drawingml/2006/main">
              <a:ext uri="{FF2B5EF4-FFF2-40B4-BE49-F238E27FC236}">
                <a16:creationId xmlns:a16="http://schemas.microsoft.com/office/drawing/2014/main" id="{2A18252E-4D42-4CC5-800B-1CA2230F8E14}"/>
              </a:ext>
            </a:extLst>
          </p:cNvPr>
          <p:cNvSpPr>
            <a:spLocks xmlns:a="http://schemas.openxmlformats.org/drawingml/2006/main" noGrp="1"/>
          </p:cNvSpPr>
          <p:nvPr/>
        </p:nvSpPr>
        <p:spPr>
          <a:xfrm xmlns:a="http://schemas.openxmlformats.org/drawingml/2006/main">
            <a:off x="523875" y="2428875"/>
            <a:ext cx="45243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800" b="0">
                <a:solidFill>
                  <a:srgbClr val="000000"/>
                </a:solidFill>
                <a:latin typeface="Calibri"/>
                <a:ea typeface="Calibri"/>
                <a:cs typeface="Calibri"/>
              </a:defRPr>
            </a:defPPr>
          </a:lstStyle>
          <a:p xmlns:a="http://schemas.openxmlformats.org/drawingml/2006/main">
            <a:pPr algn="l">
              <a:spcBef>
                <a:spcPts val="0"/>
              </a:spcBef>
              <a:spcAft>
                <a:spcPts val="18"/>
              </a:spcAft>
              <a:defRPr sz="2800" b="0">
                <a:solidFill>
                  <a:srgbClr val="000000"/>
                </a:solidFill>
                <a:latin typeface="Calibri"/>
                <a:ea typeface="Calibri"/>
                <a:cs typeface="Calibri"/>
              </a:defRPr>
            </a:pPr>
            <a:r>
              <a:rPr sz="2800" b="0">
                <a:solidFill>
                  <a:srgbClr val="000000"/>
                </a:solidFill>
                <a:latin typeface="Calibri"/>
                <a:ea typeface="Calibri"/>
                <a:cs typeface="Calibri"/>
              </a:rPr>
              <a:t>CP17: crear, consultar y editar</a:t>
            </a:r>
          </a:p>
          <a:p xmlns:a="http://schemas.openxmlformats.org/drawingml/2006/main">
            <a:pPr algn="l">
              <a:spcBef>
                <a:spcPts val="0"/>
              </a:spcBef>
              <a:spcAft>
                <a:spcPts val="18"/>
              </a:spcAft>
              <a:defRPr sz="2800" b="0">
                <a:solidFill>
                  <a:srgbClr val="000000"/>
                </a:solidFill>
                <a:latin typeface="Calibri"/>
                <a:ea typeface="Calibri"/>
                <a:cs typeface="Calibri"/>
              </a:defRPr>
            </a:pPr>
            <a:r>
              <a:rPr sz="2800" b="0">
                <a:solidFill>
                  <a:srgbClr val="000000"/>
                </a:solidFill>
                <a:latin typeface="Calibri"/>
                <a:ea typeface="Calibri"/>
                <a:cs typeface="Calibri"/>
              </a:rPr>
              <a:t>Precio actualizado a 31,99</a:t>
            </a:r>
          </a:p>
          <a:p xmlns:a="http://schemas.openxmlformats.org/drawingml/2006/main">
            <a:pPr algn="l">
              <a:spcBef>
                <a:spcPts val="0"/>
              </a:spcBef>
              <a:spcAft>
                <a:spcPts val="18"/>
              </a:spcAft>
              <a:defRPr sz="2800" b="0">
                <a:solidFill>
                  <a:srgbClr val="000000"/>
                </a:solidFill>
                <a:latin typeface="Calibri"/>
                <a:ea typeface="Calibri"/>
                <a:cs typeface="Calibri"/>
              </a:defRPr>
            </a:pPr>
            <a:r>
              <a:rPr sz="2800" b="0">
                <a:solidFill>
                  <a:srgbClr val="000000"/>
                </a:solidFill>
                <a:latin typeface="Calibri"/>
                <a:ea typeface="Calibri"/>
                <a:cs typeface="Calibri"/>
              </a:rPr>
              <a:t>Eliminar con confirmación</a:t>
            </a:r>
          </a:p>
          <a:p xmlns:a="http://schemas.openxmlformats.org/drawingml/2006/main">
            <a:pPr algn="l">
              <a:spcBef>
                <a:spcPts val="0"/>
              </a:spcBef>
              <a:spcAft>
                <a:spcPts val="18"/>
              </a:spcAft>
              <a:defRPr sz="2800" b="0">
                <a:solidFill>
                  <a:srgbClr val="000000"/>
                </a:solidFill>
                <a:latin typeface="Calibri"/>
                <a:ea typeface="Calibri"/>
                <a:cs typeface="Calibri"/>
              </a:defRPr>
            </a:pPr>
            <a:r>
              <a:rPr sz="2800" b="0">
                <a:solidFill>
                  <a:srgbClr val="000000"/>
                </a:solidFill>
                <a:latin typeface="Calibri"/>
                <a:ea typeface="Calibri"/>
                <a:cs typeface="Calibri"/>
              </a:rPr>
              <a:t>CP19: archivar y restaurar</a:t>
            </a:r>
          </a:p>
        </p:txBody>
      </p:sp>
      <p:pic>
        <p:nvPicPr>
          <p:cNvPr id="3" name="">
            <a:extLst xmlns:a="http://schemas.openxmlformats.org/drawingml/2006/main">
              <a:ext uri="{FF2B5EF4-FFF2-40B4-BE49-F238E27FC236}">
                <a16:creationId xmlns:a16="http://schemas.microsoft.com/office/drawing/2014/main" id="{03187B9D-C2FB-49AF-9313-A031BBEDA45A}"/>
              </a:ext>
            </a:extLst>
          </p:cNvPr>
          <p:cNvPicPr>
            <a:picLocks xmlns:a="http://schemas.openxmlformats.org/drawingml/2006/main" noChangeAspect="1"/>
          </p:cNvPicPr>
          <p:nvPr/>
        </p:nvPicPr>
        <p:blipFill>
          <a:blip xmlns:r="http://schemas.openxmlformats.org/officeDocument/2006/relationships" xmlns:a="http://schemas.openxmlformats.org/drawingml/2006/main" r:embed="Rd483a01077d64694"/>
          <a:stretch xmlns:a="http://schemas.openxmlformats.org/drawingml/2006/main"/>
        </p:blipFill>
        <p:spPr>
          <a:xfrm xmlns:a="http://schemas.openxmlformats.org/drawingml/2006/main">
            <a:off x="5919653" y="2324100"/>
            <a:ext cx="3876944" cy="3524250"/>
          </a:xfrm>
          <a:prstGeom xmlns:a="http://schemas.openxmlformats.org/drawingml/2006/main" prst="rect">
            <a:avLst/>
          </a:prstGeom>
        </p:spPr>
      </p:pic>
    </p:spTree>
    <p:extLst>
      <p:ext uri="{BB962C8B-B14F-4D97-AF65-F5344CB8AC3E}">
        <p14:creationId xmlns:p14="http://schemas.microsoft.com/office/powerpoint/2010/main" val="330494118"/>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4" name="Título">
            <a:extLst xmlns:a="http://schemas.openxmlformats.org/drawingml/2006/main">
              <a:ext uri="{FF2B5EF4-FFF2-40B4-BE49-F238E27FC236}">
                <a16:creationId xmlns:a16="http://schemas.microsoft.com/office/drawing/2014/main" id="{4AAA1139-0F9A-4B56-B81A-A7747025CB82}"/>
              </a:ext>
            </a:extLst>
          </p:cNvPr>
          <p:cNvSpPr>
            <a:spLocks xmlns:a="http://schemas.openxmlformats.org/drawingml/2006/main" noGrp="1"/>
          </p:cNvSpPr>
          <p:nvPr/>
        </p:nvSpPr>
        <p:spPr>
          <a:xfrm xmlns:a="http://schemas.openxmlformats.org/drawingml/2006/main">
            <a:off x="495300" y="1333500"/>
            <a:ext cx="990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400" b="0">
                <a:solidFill>
                  <a:srgbClr val="000000"/>
                </a:solidFill>
                <a:latin typeface="Calibri Light"/>
                <a:ea typeface="Calibri Light"/>
                <a:cs typeface="Calibri Light"/>
              </a:defRPr>
            </a:defPPr>
          </a:lstStyle>
          <a:p xmlns:a="http://schemas.openxmlformats.org/drawingml/2006/main">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Resultados de los cuatro atributos</a:t>
            </a:r>
          </a:p>
        </p:txBody>
      </p:sp>
      <p:graphicFrame>
        <p:nvGraphicFramePr>
          <p:cNvPr id="2" name="">
            <a:extLst xmlns:a="http://schemas.openxmlformats.org/drawingml/2006/main">
              <a:ext uri="{FF2B5EF4-FFF2-40B4-BE49-F238E27FC236}">
                <a16:creationId xmlns:a16="http://schemas.microsoft.com/office/drawing/2014/main" id="{73ADC6AA-E7C4-47D0-BC0D-77B671A96DE6}"/>
              </a:ext>
            </a:extLst>
          </p:cNvPr>
          <p:cNvGraphicFramePr/>
          <p:nvPr/>
        </p:nvGraphicFramePr>
        <p:xfrm>
          <a:off xmlns:a="http://schemas.openxmlformats.org/drawingml/2006/main" x="523875" y="2286000"/>
          <a:ext xmlns:a="http://schemas.openxmlformats.org/drawingml/2006/main" cx="9906000" cy="3333750"/>
        </p:xfrm>
        <a:graphic xmlns:a="http://schemas.openxmlformats.org/drawingml/2006/main">
          <a:graphicData uri="http://schemas.openxmlformats.org/drawingml/2006/table">
            <a:tbl>
              <a:tblPr/>
              <a:tblGrid>
                <a:gridCol w="3857625"/>
                <a:gridCol w="3000375"/>
                <a:gridCol w="3048000"/>
              </a:tblGrid>
              <a:tr h="666750">
                <a:tc>
                  <a:txBody>
                    <a:bodyPr lIns="76200" tIns="76200" rIns="76200" bIns="76200"/>
                    <a:lstStyle/>
                    <a:p>
                      <a:pPr algn="l"/>
                      <a:r>
                        <a:rPr sz="2400" b="1">
                          <a:solidFill>
                            <a:srgbClr val="000000"/>
                          </a:solidFill>
                          <a:latin typeface="Calibri"/>
                          <a:ea typeface="Calibri"/>
                          <a:cs typeface="Calibri"/>
                        </a:rPr>
                        <a:t>Atributo</a:t>
                      </a:r>
                    </a:p>
                  </a:txBody>
                  <a:tcPr marL="91440" marR="91440" marT="45720" marB="45720" anchor="ctr">
                    <a:solidFill>
                      <a:srgbClr val="EBEBEB"/>
                    </a:solidFill>
                  </a:tcPr>
                </a:tc>
                <a:tc>
                  <a:txBody>
                    <a:bodyPr lIns="76200" tIns="76200" rIns="76200" bIns="76200"/>
                    <a:lstStyle/>
                    <a:p>
                      <a:pPr algn="l"/>
                      <a:r>
                        <a:rPr sz="2400" b="1">
                          <a:solidFill>
                            <a:srgbClr val="000000"/>
                          </a:solidFill>
                          <a:latin typeface="Calibri"/>
                          <a:ea typeface="Calibri"/>
                          <a:cs typeface="Calibri"/>
                        </a:rPr>
                        <a:t>Resultado</a:t>
                      </a:r>
                    </a:p>
                  </a:txBody>
                  <a:tcPr marL="91440" marR="91440" marT="45720" marB="45720" anchor="ctr">
                    <a:solidFill>
                      <a:srgbClr val="EBEBEB"/>
                    </a:solidFill>
                  </a:tcPr>
                </a:tc>
                <a:tc>
                  <a:txBody>
                    <a:bodyPr lIns="76200" tIns="76200" rIns="76200" bIns="76200"/>
                    <a:lstStyle/>
                    <a:p>
                      <a:pPr algn="l"/>
                      <a:r>
                        <a:rPr sz="2400" b="1">
                          <a:solidFill>
                            <a:srgbClr val="000000"/>
                          </a:solidFill>
                          <a:latin typeface="Calibri"/>
                          <a:ea typeface="Calibri"/>
                          <a:cs typeface="Calibri"/>
                        </a:rPr>
                        <a:t>Conclusión</a:t>
                      </a:r>
                    </a:p>
                  </a:txBody>
                  <a:tcPr marL="91440" marR="91440" marT="45720" marB="45720" anchor="ctr">
                    <a:solidFill>
                      <a:srgbClr val="EBEBEB"/>
                    </a:solidFill>
                  </a:tcPr>
                </a:tc>
              </a:tr>
              <a:tr h="666750">
                <a:tc>
                  <a:txBody>
                    <a:bodyPr lIns="76200" tIns="76200" rIns="76200" bIns="76200"/>
                    <a:lstStyle/>
                    <a:p>
                      <a:pPr algn="l"/>
                      <a:r>
                        <a:rPr sz="2400" b="0">
                          <a:solidFill>
                            <a:srgbClr val="000000"/>
                          </a:solidFill>
                          <a:latin typeface="Calibri"/>
                          <a:ea typeface="Calibri"/>
                          <a:cs typeface="Calibri"/>
                        </a:rPr>
                        <a:t>Adecuación funcional</a:t>
                      </a:r>
                    </a:p>
                  </a:txBody>
                  <a:tcPr marL="91440" marR="91440" marT="45720" marB="45720" anchor="ctr">
                    <a:solidFill>
                      <a:srgbClr val="FFFFFF"/>
                    </a:solidFill>
                  </a:tcPr>
                </a:tc>
                <a:tc>
                  <a:txBody>
                    <a:bodyPr lIns="76200" tIns="76200" rIns="76200" bIns="76200"/>
                    <a:lstStyle/>
                    <a:p>
                      <a:pPr algn="l"/>
                      <a:r>
                        <a:rPr sz="2400" b="0">
                          <a:solidFill>
                            <a:srgbClr val="000000"/>
                          </a:solidFill>
                          <a:latin typeface="Calibri"/>
                          <a:ea typeface="Calibri"/>
                          <a:cs typeface="Calibri"/>
                        </a:rPr>
                        <a:t>20 / 20 Pass</a:t>
                      </a:r>
                    </a:p>
                  </a:txBody>
                  <a:tcPr marL="91440" marR="91440" marT="45720" marB="45720" anchor="ctr">
                    <a:solidFill>
                      <a:srgbClr val="FFFFFF"/>
                    </a:solidFill>
                  </a:tcPr>
                </a:tc>
                <a:tc>
                  <a:txBody>
                    <a:bodyPr lIns="76200" tIns="76200" rIns="76200" bIns="76200"/>
                    <a:lstStyle/>
                    <a:p>
                      <a:pPr algn="l"/>
                      <a:r>
                        <a:rPr sz="2400" b="0">
                          <a:solidFill>
                            <a:srgbClr val="000000"/>
                          </a:solidFill>
                          <a:latin typeface="Calibri"/>
                          <a:ea typeface="Calibri"/>
                          <a:cs typeface="Calibri"/>
                        </a:rPr>
                        <a:t>Cumple alcance</a:t>
                      </a:r>
                    </a:p>
                  </a:txBody>
                  <a:tcPr marL="91440" marR="91440" marT="45720" marB="45720" anchor="ctr">
                    <a:solidFill>
                      <a:srgbClr val="FFFFFF"/>
                    </a:solidFill>
                  </a:tcPr>
                </a:tc>
              </a:tr>
              <a:tr h="666750">
                <a:tc>
                  <a:txBody>
                    <a:bodyPr lIns="76200" tIns="76200" rIns="76200" bIns="76200"/>
                    <a:lstStyle/>
                    <a:p>
                      <a:pPr algn="l"/>
                      <a:r>
                        <a:rPr sz="2400" b="0">
                          <a:solidFill>
                            <a:srgbClr val="000000"/>
                          </a:solidFill>
                          <a:latin typeface="Calibri"/>
                          <a:ea typeface="Calibri"/>
                          <a:cs typeface="Calibri"/>
                        </a:rPr>
                        <a:t>Desempeño</a:t>
                      </a:r>
                    </a:p>
                  </a:txBody>
                  <a:tcPr marL="91440" marR="91440" marT="45720" marB="45720" anchor="ctr">
                    <a:solidFill>
                      <a:srgbClr val="FFFFFF"/>
                    </a:solidFill>
                  </a:tcPr>
                </a:tc>
                <a:tc>
                  <a:txBody>
                    <a:bodyPr lIns="76200" tIns="76200" rIns="76200" bIns="76200"/>
                    <a:lstStyle/>
                    <a:p>
                      <a:pPr algn="l"/>
                      <a:r>
                        <a:rPr sz="2400" b="0">
                          <a:solidFill>
                            <a:srgbClr val="000000"/>
                          </a:solidFill>
                          <a:latin typeface="Calibri"/>
                          <a:ea typeface="Calibri"/>
                          <a:cs typeface="Calibri"/>
                        </a:rPr>
                        <a:t>Mediana 3,60 ms</a:t>
                      </a:r>
                    </a:p>
                  </a:txBody>
                  <a:tcPr marL="91440" marR="91440" marT="45720" marB="45720" anchor="ctr">
                    <a:solidFill>
                      <a:srgbClr val="FFFFFF"/>
                    </a:solidFill>
                  </a:tcPr>
                </a:tc>
                <a:tc>
                  <a:txBody>
                    <a:bodyPr lIns="76200" tIns="76200" rIns="76200" bIns="76200"/>
                    <a:lstStyle/>
                    <a:p>
                      <a:pPr algn="l"/>
                      <a:r>
                        <a:rPr sz="2400" b="0">
                          <a:solidFill>
                            <a:srgbClr val="000000"/>
                          </a:solidFill>
                          <a:latin typeface="Calibri"/>
                          <a:ea typeface="Calibri"/>
                          <a:cs typeface="Calibri"/>
                        </a:rPr>
                        <a:t>Cumple local</a:t>
                      </a:r>
                    </a:p>
                  </a:txBody>
                  <a:tcPr marL="91440" marR="91440" marT="45720" marB="45720" anchor="ctr">
                    <a:solidFill>
                      <a:srgbClr val="FFFFFF"/>
                    </a:solidFill>
                  </a:tcPr>
                </a:tc>
              </a:tr>
              <a:tr h="666750">
                <a:tc>
                  <a:txBody>
                    <a:bodyPr lIns="76200" tIns="76200" rIns="76200" bIns="76200"/>
                    <a:lstStyle/>
                    <a:p>
                      <a:pPr algn="l"/>
                      <a:r>
                        <a:rPr sz="2400" b="0">
                          <a:solidFill>
                            <a:srgbClr val="000000"/>
                          </a:solidFill>
                          <a:latin typeface="Calibri"/>
                          <a:ea typeface="Calibri"/>
                          <a:cs typeface="Calibri"/>
                        </a:rPr>
                        <a:t>Interacción</a:t>
                      </a:r>
                    </a:p>
                  </a:txBody>
                  <a:tcPr marL="91440" marR="91440" marT="45720" marB="45720" anchor="ctr">
                    <a:solidFill>
                      <a:srgbClr val="FFFFFF"/>
                    </a:solidFill>
                  </a:tcPr>
                </a:tc>
                <a:tc>
                  <a:txBody>
                    <a:bodyPr lIns="76200" tIns="76200" rIns="76200" bIns="76200"/>
                    <a:lstStyle/>
                    <a:p>
                      <a:pPr algn="l"/>
                      <a:r>
                        <a:rPr sz="2400" b="0">
                          <a:solidFill>
                            <a:srgbClr val="000000"/>
                          </a:solidFill>
                          <a:latin typeface="Calibri"/>
                          <a:ea typeface="Calibri"/>
                          <a:cs typeface="Calibri"/>
                        </a:rPr>
                        <a:t>3 / 5 sin ayuda</a:t>
                      </a:r>
                    </a:p>
                  </a:txBody>
                  <a:tcPr marL="91440" marR="91440" marT="45720" marB="45720" anchor="ctr">
                    <a:solidFill>
                      <a:srgbClr val="FFFFFF"/>
                    </a:solidFill>
                  </a:tcPr>
                </a:tc>
                <a:tc>
                  <a:txBody>
                    <a:bodyPr lIns="76200" tIns="76200" rIns="76200" bIns="76200"/>
                    <a:lstStyle/>
                    <a:p>
                      <a:pPr algn="l"/>
                      <a:r>
                        <a:rPr sz="2400" b="0">
                          <a:solidFill>
                            <a:srgbClr val="000000"/>
                          </a:solidFill>
                          <a:latin typeface="Calibri"/>
                          <a:ea typeface="Calibri"/>
                          <a:cs typeface="Calibri"/>
                        </a:rPr>
                        <a:t>No cumple 80%</a:t>
                      </a:r>
                    </a:p>
                  </a:txBody>
                  <a:tcPr marL="91440" marR="91440" marT="45720" marB="45720" anchor="ctr">
                    <a:solidFill>
                      <a:srgbClr val="FFFFFF"/>
                    </a:solidFill>
                  </a:tcPr>
                </a:tc>
              </a:tr>
              <a:tr h="666750">
                <a:tc>
                  <a:txBody>
                    <a:bodyPr lIns="76200" tIns="76200" rIns="76200" bIns="76200"/>
                    <a:lstStyle/>
                    <a:p>
                      <a:pPr algn="l"/>
                      <a:r>
                        <a:rPr sz="2400" b="0">
                          <a:solidFill>
                            <a:srgbClr val="000000"/>
                          </a:solidFill>
                          <a:latin typeface="Calibri"/>
                          <a:ea typeface="Calibri"/>
                          <a:cs typeface="Calibri"/>
                        </a:rPr>
                        <a:t>Fiabilidad</a:t>
                      </a:r>
                    </a:p>
                  </a:txBody>
                  <a:tcPr marL="91440" marR="91440" marT="45720" marB="45720" anchor="ctr">
                    <a:solidFill>
                      <a:srgbClr val="FFFFFF"/>
                    </a:solidFill>
                  </a:tcPr>
                </a:tc>
                <a:tc>
                  <a:txBody>
                    <a:bodyPr lIns="76200" tIns="76200" rIns="76200" bIns="76200"/>
                    <a:lstStyle/>
                    <a:p>
                      <a:pPr algn="l"/>
                      <a:r>
                        <a:rPr sz="2400" b="0">
                          <a:solidFill>
                            <a:srgbClr val="000000"/>
                          </a:solidFill>
                          <a:latin typeface="Calibri"/>
                          <a:ea typeface="Calibri"/>
                          <a:cs typeface="Calibri"/>
                        </a:rPr>
                        <a:t>30 / 30 correctas</a:t>
                      </a:r>
                    </a:p>
                  </a:txBody>
                  <a:tcPr marL="91440" marR="91440" marT="45720" marB="45720" anchor="ctr">
                    <a:solidFill>
                      <a:srgbClr val="FFFFFF"/>
                    </a:solidFill>
                  </a:tcPr>
                </a:tc>
                <a:tc>
                  <a:txBody>
                    <a:bodyPr lIns="76200" tIns="76200" rIns="76200" bIns="76200"/>
                    <a:lstStyle/>
                    <a:p>
                      <a:pPr algn="l"/>
                      <a:r>
                        <a:rPr sz="2400" b="0">
                          <a:solidFill>
                            <a:srgbClr val="000000"/>
                          </a:solidFill>
                          <a:latin typeface="Calibri"/>
                          <a:ea typeface="Calibri"/>
                          <a:cs typeface="Calibri"/>
                        </a:rPr>
                        <a:t>Cumple muestra</a:t>
                      </a:r>
                    </a:p>
                  </a:txBody>
                  <a:tcPr marL="91440" marR="91440" marT="45720" marB="45720" anchor="ctr">
                    <a:solidFill>
                      <a:srgbClr val="FFFFFF"/>
                    </a:solidFill>
                  </a:tcPr>
                </a:tc>
              </a:tr>
            </a:tbl>
          </a:graphicData>
        </a:graphic>
      </p:graphicFrame>
      <p:sp>
        <p:nvSpPr>
          <p:cNvPr id="3" name="Fórmula">
            <a:extLst xmlns:a="http://schemas.openxmlformats.org/drawingml/2006/main">
              <a:ext uri="{FF2B5EF4-FFF2-40B4-BE49-F238E27FC236}">
                <a16:creationId xmlns:a16="http://schemas.microsoft.com/office/drawing/2014/main" id="{AC178340-1FFE-47E7-A5AA-4DFF6A9DF747}"/>
              </a:ext>
            </a:extLst>
          </p:cNvPr>
          <p:cNvSpPr>
            <a:spLocks xmlns:a="http://schemas.openxmlformats.org/drawingml/2006/main" noGrp="1"/>
          </p:cNvSpPr>
          <p:nvPr/>
        </p:nvSpPr>
        <p:spPr>
          <a:xfrm xmlns:a="http://schemas.openxmlformats.org/drawingml/2006/main">
            <a:off x="523875" y="579120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0">
                <a:solidFill>
                  <a:srgbClr val="000000"/>
                </a:solidFill>
                <a:latin typeface="Calibri"/>
                <a:ea typeface="Calibri"/>
                <a:cs typeface="Calibri"/>
              </a:defRPr>
            </a:defPPr>
          </a:lstStyle>
          <a:p xmlns:a="http://schemas.openxmlformats.org/drawingml/2006/main">
            <a:pPr algn="l">
              <a:defRPr sz="2250" b="0">
                <a:solidFill>
                  <a:srgbClr val="000000"/>
                </a:solidFill>
                <a:latin typeface="Calibri"/>
                <a:ea typeface="Calibri"/>
                <a:cs typeface="Calibri"/>
              </a:defRPr>
            </a:pPr>
            <a:r>
              <a:rPr sz="2250" b="0">
                <a:solidFill>
                  <a:srgbClr val="000000"/>
                </a:solidFill>
                <a:latin typeface="Calibri"/>
                <a:ea typeface="Calibri"/>
                <a:cs typeface="Calibri"/>
              </a:rPr>
              <a:t>Las tasas usan × 100 para expresarse como porcentajes.</a:t>
            </a:r>
          </a:p>
        </p:txBody>
      </p:sp>
    </p:spTree>
    <p:extLst>
      <p:ext uri="{BB962C8B-B14F-4D97-AF65-F5344CB8AC3E}">
        <p14:creationId xmlns:p14="http://schemas.microsoft.com/office/powerpoint/2010/main" val="1175707268"/>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5" name="Título">
            <a:extLst xmlns:a="http://schemas.openxmlformats.org/drawingml/2006/main">
              <a:ext uri="{FF2B5EF4-FFF2-40B4-BE49-F238E27FC236}">
                <a16:creationId xmlns:a16="http://schemas.microsoft.com/office/drawing/2014/main" id="{23CEF709-8D12-4C58-8884-EC622D084D5E}"/>
              </a:ext>
            </a:extLst>
          </p:cNvPr>
          <p:cNvSpPr>
            <a:spLocks xmlns:a="http://schemas.openxmlformats.org/drawingml/2006/main" noGrp="1"/>
          </p:cNvSpPr>
          <p:nvPr/>
        </p:nvSpPr>
        <p:spPr>
          <a:xfrm xmlns:a="http://schemas.openxmlformats.org/drawingml/2006/main">
            <a:off x="495300" y="1333500"/>
            <a:ext cx="990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400" b="0">
                <a:solidFill>
                  <a:srgbClr val="000000"/>
                </a:solidFill>
                <a:latin typeface="Calibri Light"/>
                <a:ea typeface="Calibri Light"/>
                <a:cs typeface="Calibri Light"/>
              </a:defRPr>
            </a:defPPr>
          </a:lstStyle>
          <a:p xmlns:a="http://schemas.openxmlformats.org/drawingml/2006/main">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Desempeño del catálogo local</a:t>
            </a:r>
          </a:p>
        </p:txBody>
      </p:sp>
      <p:graphicFrame>
        <p:nvGraphicFramePr>
          <p:cNvPr id="2" name="Chart">
            <a:extLst xmlns:a="http://schemas.openxmlformats.org/drawingml/2006/main">
              <a:ext uri="{FF2B5EF4-FFF2-40B4-BE49-F238E27FC236}">
                <a16:creationId xmlns:a16="http://schemas.microsoft.com/office/drawing/2014/main" id="{0E30EB66-B916-4700-883D-49D4B8728560}"/>
              </a:ext>
            </a:extLst>
          </p:cNvPr>
          <p:cNvGraphicFramePr/>
          <p:nvPr/>
        </p:nvGraphicFramePr>
        <p:xfrm>
          <a:off xmlns:a="http://schemas.openxmlformats.org/drawingml/2006/main" x="523875" y="2266950"/>
          <a:ext xmlns:a="http://schemas.openxmlformats.org/drawingml/2006/main" cx="5810250" cy="3524250"/>
        </p:xfrm>
        <a:graphic xmlns:a="http://schemas.openxmlformats.org/drawingml/2006/main">
          <a:graphicData uri="http://schemas.openxmlformats.org/drawingml/2006/chart">
            <c:chart xmlns:r="http://schemas.openxmlformats.org/officeDocument/2006/relationships" xmlns:c="http://schemas.openxmlformats.org/drawingml/2006/chart" r:id="Rfe3f33443f744681"/>
          </a:graphicData>
        </a:graphic>
      </p:graphicFrame>
      <p:sp>
        <p:nvSpPr>
          <p:cNvPr id="3" name="Contenido">
            <a:extLst xmlns:a="http://schemas.openxmlformats.org/drawingml/2006/main">
              <a:ext uri="{FF2B5EF4-FFF2-40B4-BE49-F238E27FC236}">
                <a16:creationId xmlns:a16="http://schemas.microsoft.com/office/drawing/2014/main" id="{E4EEBD6B-244D-43D2-9C04-C2F96E9F7D28}"/>
              </a:ext>
            </a:extLst>
          </p:cNvPr>
          <p:cNvSpPr>
            <a:spLocks xmlns:a="http://schemas.openxmlformats.org/drawingml/2006/main" noGrp="1"/>
          </p:cNvSpPr>
          <p:nvPr/>
        </p:nvSpPr>
        <p:spPr>
          <a:xfrm xmlns:a="http://schemas.openxmlformats.org/drawingml/2006/main">
            <a:off x="6667500" y="2381250"/>
            <a:ext cx="37623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550" b="0">
                <a:solidFill>
                  <a:srgbClr val="000000"/>
                </a:solidFill>
                <a:latin typeface="Calibri"/>
                <a:ea typeface="Calibri"/>
                <a:cs typeface="Calibri"/>
              </a:defRPr>
            </a:defPPr>
          </a:lstStyle>
          <a:p xmlns:a="http://schemas.openxmlformats.org/drawingml/2006/main">
            <a:pPr algn="l">
              <a:spcBef>
                <a:spcPts val="0"/>
              </a:spcBef>
              <a:spcAft>
                <a:spcPts val="18"/>
              </a:spcAft>
              <a:defRPr sz="2550" b="0">
                <a:solidFill>
                  <a:srgbClr val="000000"/>
                </a:solidFill>
                <a:latin typeface="Calibri"/>
                <a:ea typeface="Calibri"/>
                <a:cs typeface="Calibri"/>
              </a:defRPr>
            </a:pPr>
            <a:r>
              <a:rPr sz="2550" b="0">
                <a:solidFill>
                  <a:srgbClr val="000000"/>
                </a:solidFill>
                <a:latin typeface="Calibri"/>
                <a:ea typeface="Calibri"/>
                <a:cs typeface="Calibri"/>
              </a:rPr>
              <a:t>30 muestras y 5 de calentamiento</a:t>
            </a:r>
          </a:p>
          <a:p xmlns:a="http://schemas.openxmlformats.org/drawingml/2006/main">
            <a:pPr algn="l">
              <a:spcBef>
                <a:spcPts val="0"/>
              </a:spcBef>
              <a:spcAft>
                <a:spcPts val="18"/>
              </a:spcAft>
              <a:defRPr sz="2550" b="0">
                <a:solidFill>
                  <a:srgbClr val="000000"/>
                </a:solidFill>
                <a:latin typeface="Calibri"/>
                <a:ea typeface="Calibri"/>
                <a:cs typeface="Calibri"/>
              </a:defRPr>
            </a:pPr>
            <a:r>
              <a:rPr sz="2550" b="0">
                <a:solidFill>
                  <a:srgbClr val="000000"/>
                </a:solidFill>
                <a:latin typeface="Calibri"/>
                <a:ea typeface="Calibri"/>
                <a:cs typeface="Calibri"/>
              </a:rPr>
              <a:t>Mediana ≤ 300 ms</a:t>
            </a:r>
          </a:p>
          <a:p xmlns:a="http://schemas.openxmlformats.org/drawingml/2006/main">
            <a:pPr algn="l">
              <a:spcBef>
                <a:spcPts val="0"/>
              </a:spcBef>
              <a:spcAft>
                <a:spcPts val="18"/>
              </a:spcAft>
              <a:defRPr sz="2550" b="0">
                <a:solidFill>
                  <a:srgbClr val="000000"/>
                </a:solidFill>
                <a:latin typeface="Calibri"/>
                <a:ea typeface="Calibri"/>
                <a:cs typeface="Calibri"/>
              </a:defRPr>
            </a:pPr>
            <a:r>
              <a:rPr sz="2550" b="0">
                <a:solidFill>
                  <a:srgbClr val="000000"/>
                </a:solidFill>
                <a:latin typeface="Calibri"/>
                <a:ea typeface="Calibri"/>
                <a:cs typeface="Calibri"/>
              </a:rPr>
              <a:t>p95 ≤ 500 ms</a:t>
            </a:r>
          </a:p>
          <a:p xmlns:a="http://schemas.openxmlformats.org/drawingml/2006/main">
            <a:pPr algn="l">
              <a:spcBef>
                <a:spcPts val="0"/>
              </a:spcBef>
              <a:spcAft>
                <a:spcPts val="18"/>
              </a:spcAft>
              <a:defRPr sz="2550" b="0">
                <a:solidFill>
                  <a:srgbClr val="000000"/>
                </a:solidFill>
                <a:latin typeface="Calibri"/>
                <a:ea typeface="Calibri"/>
                <a:cs typeface="Calibri"/>
              </a:defRPr>
            </a:pPr>
            <a:r>
              <a:rPr sz="2550" b="0">
                <a:solidFill>
                  <a:srgbClr val="000000"/>
                </a:solidFill>
                <a:latin typeface="Calibri"/>
                <a:ea typeface="Calibri"/>
                <a:cs typeface="Calibri"/>
              </a:rPr>
              <a:t>30 respuestas correctas</a:t>
            </a:r>
          </a:p>
        </p:txBody>
      </p:sp>
      <p:sp>
        <p:nvSpPr>
          <p:cNvPr id="4" name="Límite">
            <a:extLst xmlns:a="http://schemas.openxmlformats.org/drawingml/2006/main">
              <a:ext uri="{FF2B5EF4-FFF2-40B4-BE49-F238E27FC236}">
                <a16:creationId xmlns:a16="http://schemas.microsoft.com/office/drawing/2014/main" id="{636B91CB-6AE8-4880-A552-6414ECEF65D2}"/>
              </a:ext>
            </a:extLst>
          </p:cNvPr>
          <p:cNvSpPr>
            <a:spLocks xmlns:a="http://schemas.openxmlformats.org/drawingml/2006/main" noGrp="1"/>
          </p:cNvSpPr>
          <p:nvPr/>
        </p:nvSpPr>
        <p:spPr>
          <a:xfrm xmlns:a="http://schemas.openxmlformats.org/drawingml/2006/main">
            <a:off x="523875" y="5848350"/>
            <a:ext cx="9906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000000"/>
                </a:solidFill>
                <a:latin typeface="Calibri"/>
                <a:ea typeface="Calibri"/>
                <a:cs typeface="Calibri"/>
              </a:defRPr>
            </a:defPPr>
          </a:lstStyle>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Loopback, ejecución secuencial y sin carga concurrente.</a:t>
            </a:r>
          </a:p>
        </p:txBody>
      </p:sp>
    </p:spTree>
    <p:extLst>
      <p:ext uri="{BB962C8B-B14F-4D97-AF65-F5344CB8AC3E}">
        <p14:creationId xmlns:p14="http://schemas.microsoft.com/office/powerpoint/2010/main" val="155656270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4" name="Título">
            <a:extLst xmlns:a="http://schemas.openxmlformats.org/drawingml/2006/main">
              <a:ext uri="{FF2B5EF4-FFF2-40B4-BE49-F238E27FC236}">
                <a16:creationId xmlns:a16="http://schemas.microsoft.com/office/drawing/2014/main" id="{C06B94E4-3E08-476A-A03D-201EEE630709}"/>
              </a:ext>
            </a:extLst>
          </p:cNvPr>
          <p:cNvSpPr>
            <a:spLocks xmlns:a="http://schemas.openxmlformats.org/drawingml/2006/main" noGrp="1"/>
          </p:cNvSpPr>
          <p:nvPr/>
        </p:nvSpPr>
        <p:spPr>
          <a:xfrm xmlns:a="http://schemas.openxmlformats.org/drawingml/2006/main">
            <a:off x="495300" y="1333500"/>
            <a:ext cx="990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400" b="0">
                <a:solidFill>
                  <a:srgbClr val="000000"/>
                </a:solidFill>
                <a:latin typeface="Calibri Light"/>
                <a:ea typeface="Calibri Light"/>
                <a:cs typeface="Calibri Light"/>
              </a:defRPr>
            </a:defPPr>
          </a:lstStyle>
          <a:p xmlns:a="http://schemas.openxmlformats.org/drawingml/2006/main">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Piloto de interacción</a:t>
            </a:r>
          </a:p>
        </p:txBody>
      </p:sp>
      <p:graphicFrame>
        <p:nvGraphicFramePr>
          <p:cNvPr id="2" name="">
            <a:extLst xmlns:a="http://schemas.openxmlformats.org/drawingml/2006/main">
              <a:ext uri="{FF2B5EF4-FFF2-40B4-BE49-F238E27FC236}">
                <a16:creationId xmlns:a16="http://schemas.microsoft.com/office/drawing/2014/main" id="{421427BB-7B5A-4143-A3A3-5F08A7BB768D}"/>
              </a:ext>
            </a:extLst>
          </p:cNvPr>
          <p:cNvGraphicFramePr/>
          <p:nvPr/>
        </p:nvGraphicFramePr>
        <p:xfrm>
          <a:off xmlns:a="http://schemas.openxmlformats.org/drawingml/2006/main" x="523875" y="2238375"/>
          <a:ext xmlns:a="http://schemas.openxmlformats.org/drawingml/2006/main" cx="9906000" cy="3429000"/>
        </p:xfrm>
        <a:graphic xmlns:a="http://schemas.openxmlformats.org/drawingml/2006/main">
          <a:graphicData uri="http://schemas.openxmlformats.org/drawingml/2006/table">
            <a:tbl>
              <a:tblPr/>
              <a:tblGrid>
                <a:gridCol w="6667500"/>
                <a:gridCol w="3238500"/>
              </a:tblGrid>
              <a:tr h="571500">
                <a:tc>
                  <a:txBody>
                    <a:bodyPr lIns="76200" tIns="76200" rIns="76200" bIns="76200"/>
                    <a:lstStyle/>
                    <a:p>
                      <a:pPr algn="l"/>
                      <a:r>
                        <a:rPr sz="2400" b="1">
                          <a:solidFill>
                            <a:srgbClr val="000000"/>
                          </a:solidFill>
                          <a:latin typeface="Calibri"/>
                          <a:ea typeface="Calibri"/>
                          <a:cs typeface="Calibri"/>
                        </a:rPr>
                        <a:t>Tarea de P01</a:t>
                      </a:r>
                    </a:p>
                  </a:txBody>
                  <a:tcPr marL="91440" marR="91440" marT="45720" marB="45720" anchor="ctr">
                    <a:solidFill>
                      <a:srgbClr val="EBEBEB"/>
                    </a:solidFill>
                  </a:tcPr>
                </a:tc>
                <a:tc>
                  <a:txBody>
                    <a:bodyPr lIns="76200" tIns="76200" rIns="76200" bIns="76200"/>
                    <a:lstStyle/>
                    <a:p>
                      <a:pPr algn="l"/>
                      <a:r>
                        <a:rPr sz="2400" b="1">
                          <a:solidFill>
                            <a:srgbClr val="000000"/>
                          </a:solidFill>
                          <a:latin typeface="Calibri"/>
                          <a:ea typeface="Calibri"/>
                          <a:cs typeface="Calibri"/>
                        </a:rPr>
                        <a:t>Sin ayuda</a:t>
                      </a:r>
                    </a:p>
                  </a:txBody>
                  <a:tcPr marL="91440" marR="91440" marT="45720" marB="45720" anchor="ctr">
                    <a:solidFill>
                      <a:srgbClr val="EBEBEB"/>
                    </a:solidFill>
                  </a:tcPr>
                </a:tc>
              </a:tr>
              <a:tr h="571500">
                <a:tc>
                  <a:txBody>
                    <a:bodyPr lIns="76200" tIns="76200" rIns="76200" bIns="76200"/>
                    <a:lstStyle/>
                    <a:p>
                      <a:pPr algn="l"/>
                      <a:r>
                        <a:rPr sz="2400" b="0">
                          <a:solidFill>
                            <a:srgbClr val="000000"/>
                          </a:solidFill>
                          <a:latin typeface="Calibri"/>
                          <a:ea typeface="Calibri"/>
                          <a:cs typeface="Calibri"/>
                        </a:rPr>
                        <a:t>Buscar un videojuego</a:t>
                      </a:r>
                    </a:p>
                  </a:txBody>
                  <a:tcPr marL="91440" marR="91440" marT="45720" marB="45720" anchor="ctr">
                    <a:solidFill>
                      <a:srgbClr val="FFFFFF"/>
                    </a:solidFill>
                  </a:tcPr>
                </a:tc>
                <a:tc>
                  <a:txBody>
                    <a:bodyPr lIns="76200" tIns="76200" rIns="76200" bIns="76200"/>
                    <a:lstStyle/>
                    <a:p>
                      <a:pPr algn="l"/>
                      <a:r>
                        <a:rPr sz="2400" b="0">
                          <a:solidFill>
                            <a:srgbClr val="000000"/>
                          </a:solidFill>
                          <a:latin typeface="Calibri"/>
                          <a:ea typeface="Calibri"/>
                          <a:cs typeface="Calibri"/>
                        </a:rPr>
                        <a:t>Sí</a:t>
                      </a:r>
                    </a:p>
                  </a:txBody>
                  <a:tcPr marL="91440" marR="91440" marT="45720" marB="45720" anchor="ctr">
                    <a:solidFill>
                      <a:srgbClr val="FFFFFF"/>
                    </a:solidFill>
                  </a:tcPr>
                </a:tc>
              </a:tr>
              <a:tr h="571500">
                <a:tc>
                  <a:txBody>
                    <a:bodyPr lIns="76200" tIns="76200" rIns="76200" bIns="76200"/>
                    <a:lstStyle/>
                    <a:p>
                      <a:pPr algn="l"/>
                      <a:r>
                        <a:rPr sz="2400" b="0">
                          <a:solidFill>
                            <a:srgbClr val="000000"/>
                          </a:solidFill>
                          <a:latin typeface="Calibri"/>
                          <a:ea typeface="Calibri"/>
                          <a:cs typeface="Calibri"/>
                        </a:rPr>
                        <a:t>Filtrar por plataforma</a:t>
                      </a:r>
                    </a:p>
                  </a:txBody>
                  <a:tcPr marL="91440" marR="91440" marT="45720" marB="45720" anchor="ctr">
                    <a:solidFill>
                      <a:srgbClr val="FFFFFF"/>
                    </a:solidFill>
                  </a:tcPr>
                </a:tc>
                <a:tc>
                  <a:txBody>
                    <a:bodyPr lIns="76200" tIns="76200" rIns="76200" bIns="76200"/>
                    <a:lstStyle/>
                    <a:p>
                      <a:pPr algn="l"/>
                      <a:r>
                        <a:rPr sz="2400" b="0">
                          <a:solidFill>
                            <a:srgbClr val="000000"/>
                          </a:solidFill>
                          <a:latin typeface="Calibri"/>
                          <a:ea typeface="Calibri"/>
                          <a:cs typeface="Calibri"/>
                        </a:rPr>
                        <a:t>Sí</a:t>
                      </a:r>
                    </a:p>
                  </a:txBody>
                  <a:tcPr marL="91440" marR="91440" marT="45720" marB="45720" anchor="ctr">
                    <a:solidFill>
                      <a:srgbClr val="FFFFFF"/>
                    </a:solidFill>
                  </a:tcPr>
                </a:tc>
              </a:tr>
              <a:tr h="571500">
                <a:tc>
                  <a:txBody>
                    <a:bodyPr lIns="76200" tIns="76200" rIns="76200" bIns="76200"/>
                    <a:lstStyle/>
                    <a:p>
                      <a:pPr algn="l"/>
                      <a:r>
                        <a:rPr sz="2400" b="0">
                          <a:solidFill>
                            <a:srgbClr val="000000"/>
                          </a:solidFill>
                          <a:latin typeface="Calibri"/>
                          <a:ea typeface="Calibri"/>
                          <a:cs typeface="Calibri"/>
                        </a:rPr>
                        <a:t>Agregar y cambiar cantidad</a:t>
                      </a:r>
                    </a:p>
                  </a:txBody>
                  <a:tcPr marL="91440" marR="91440" marT="45720" marB="45720" anchor="ctr">
                    <a:solidFill>
                      <a:srgbClr val="FFFFFF"/>
                    </a:solidFill>
                  </a:tcPr>
                </a:tc>
                <a:tc>
                  <a:txBody>
                    <a:bodyPr lIns="76200" tIns="76200" rIns="76200" bIns="76200"/>
                    <a:lstStyle/>
                    <a:p>
                      <a:pPr algn="l"/>
                      <a:r>
                        <a:rPr sz="2400" b="0">
                          <a:solidFill>
                            <a:srgbClr val="000000"/>
                          </a:solidFill>
                          <a:latin typeface="Calibri"/>
                          <a:ea typeface="Calibri"/>
                          <a:cs typeface="Calibri"/>
                        </a:rPr>
                        <a:t>Sí</a:t>
                      </a:r>
                    </a:p>
                  </a:txBody>
                  <a:tcPr marL="91440" marR="91440" marT="45720" marB="45720" anchor="ctr">
                    <a:solidFill>
                      <a:srgbClr val="FFFFFF"/>
                    </a:solidFill>
                  </a:tcPr>
                </a:tc>
              </a:tr>
              <a:tr h="571500">
                <a:tc>
                  <a:txBody>
                    <a:bodyPr lIns="76200" tIns="76200" rIns="76200" bIns="76200"/>
                    <a:lstStyle/>
                    <a:p>
                      <a:pPr algn="l"/>
                      <a:r>
                        <a:rPr sz="2400" b="0">
                          <a:solidFill>
                            <a:srgbClr val="000000"/>
                          </a:solidFill>
                          <a:latin typeface="Calibri"/>
                          <a:ea typeface="Calibri"/>
                          <a:cs typeface="Calibri"/>
                        </a:rPr>
                        <a:t>Completar compra demo</a:t>
                      </a:r>
                    </a:p>
                  </a:txBody>
                  <a:tcPr marL="91440" marR="91440" marT="45720" marB="45720" anchor="ctr">
                    <a:solidFill>
                      <a:srgbClr val="FFFFFF"/>
                    </a:solidFill>
                  </a:tcPr>
                </a:tc>
                <a:tc>
                  <a:txBody>
                    <a:bodyPr lIns="76200" tIns="76200" rIns="76200" bIns="76200"/>
                    <a:lstStyle/>
                    <a:p>
                      <a:pPr algn="l"/>
                      <a:r>
                        <a:rPr sz="2400" b="0">
                          <a:solidFill>
                            <a:srgbClr val="000000"/>
                          </a:solidFill>
                          <a:latin typeface="Calibri"/>
                          <a:ea typeface="Calibri"/>
                          <a:cs typeface="Calibri"/>
                        </a:rPr>
                        <a:t>Necesitó ayuda</a:t>
                      </a:r>
                    </a:p>
                  </a:txBody>
                  <a:tcPr marL="91440" marR="91440" marT="45720" marB="45720" anchor="ctr">
                    <a:solidFill>
                      <a:srgbClr val="FFFFFF"/>
                    </a:solidFill>
                  </a:tcPr>
                </a:tc>
              </a:tr>
              <a:tr h="571500">
                <a:tc>
                  <a:txBody>
                    <a:bodyPr lIns="76200" tIns="76200" rIns="76200" bIns="76200"/>
                    <a:lstStyle/>
                    <a:p>
                      <a:pPr algn="l"/>
                      <a:r>
                        <a:rPr sz="2400" b="0">
                          <a:solidFill>
                            <a:srgbClr val="000000"/>
                          </a:solidFill>
                          <a:latin typeface="Calibri"/>
                          <a:ea typeface="Calibri"/>
                          <a:cs typeface="Calibri"/>
                        </a:rPr>
                        <a:t>Localizar el pedido</a:t>
                      </a:r>
                    </a:p>
                  </a:txBody>
                  <a:tcPr marL="91440" marR="91440" marT="45720" marB="45720" anchor="ctr">
                    <a:solidFill>
                      <a:srgbClr val="FFFFFF"/>
                    </a:solidFill>
                  </a:tcPr>
                </a:tc>
                <a:tc>
                  <a:txBody>
                    <a:bodyPr lIns="76200" tIns="76200" rIns="76200" bIns="76200"/>
                    <a:lstStyle/>
                    <a:p>
                      <a:pPr algn="l"/>
                      <a:r>
                        <a:rPr sz="2400" b="0">
                          <a:solidFill>
                            <a:srgbClr val="000000"/>
                          </a:solidFill>
                          <a:latin typeface="Calibri"/>
                          <a:ea typeface="Calibri"/>
                          <a:cs typeface="Calibri"/>
                        </a:rPr>
                        <a:t>Necesitó ayuda</a:t>
                      </a:r>
                    </a:p>
                  </a:txBody>
                  <a:tcPr marL="91440" marR="91440" marT="45720" marB="45720" anchor="ctr">
                    <a:solidFill>
                      <a:srgbClr val="FFFFFF"/>
                    </a:solidFill>
                  </a:tcPr>
                </a:tc>
              </a:tr>
            </a:tbl>
          </a:graphicData>
        </a:graphic>
      </p:graphicFrame>
      <p:sp>
        <p:nvSpPr>
          <p:cNvPr id="3" name="Resultado">
            <a:extLst xmlns:a="http://schemas.openxmlformats.org/drawingml/2006/main">
              <a:ext uri="{FF2B5EF4-FFF2-40B4-BE49-F238E27FC236}">
                <a16:creationId xmlns:a16="http://schemas.microsoft.com/office/drawing/2014/main" id="{34EFC73E-E4F7-4400-A9A2-A49AA4B794DD}"/>
              </a:ext>
            </a:extLst>
          </p:cNvPr>
          <p:cNvSpPr>
            <a:spLocks xmlns:a="http://schemas.openxmlformats.org/drawingml/2006/main" noGrp="1"/>
          </p:cNvSpPr>
          <p:nvPr/>
        </p:nvSpPr>
        <p:spPr>
          <a:xfrm xmlns:a="http://schemas.openxmlformats.org/drawingml/2006/main">
            <a:off x="523875" y="5781675"/>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0">
                <a:solidFill>
                  <a:srgbClr val="000000"/>
                </a:solidFill>
                <a:latin typeface="Calibri"/>
                <a:ea typeface="Calibri"/>
                <a:cs typeface="Calibri"/>
              </a:defRPr>
            </a:defPPr>
          </a:lstStyle>
          <a:p xmlns:a="http://schemas.openxmlformats.org/drawingml/2006/main">
            <a:pPr algn="l">
              <a:defRPr sz="2250" b="0">
                <a:solidFill>
                  <a:srgbClr val="000000"/>
                </a:solidFill>
                <a:latin typeface="Calibri"/>
                <a:ea typeface="Calibri"/>
                <a:cs typeface="Calibri"/>
              </a:defRPr>
            </a:pPr>
            <a:r>
              <a:rPr sz="2250" b="0">
                <a:solidFill>
                  <a:srgbClr val="000000"/>
                </a:solidFill>
                <a:latin typeface="Calibri"/>
                <a:ea typeface="Calibri"/>
                <a:cs typeface="Calibri"/>
              </a:rPr>
              <a:t>P01: 60% sin ayuda. Criterio: 80%. Autorreporte de una persona.</a:t>
            </a:r>
          </a:p>
        </p:txBody>
      </p:sp>
    </p:spTree>
    <p:extLst>
      <p:ext uri="{BB962C8B-B14F-4D97-AF65-F5344CB8AC3E}">
        <p14:creationId xmlns:p14="http://schemas.microsoft.com/office/powerpoint/2010/main" val="236600873"/>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3" name="Título">
            <a:extLst xmlns:a="http://schemas.openxmlformats.org/drawingml/2006/main">
              <a:ext uri="{FF2B5EF4-FFF2-40B4-BE49-F238E27FC236}">
                <a16:creationId xmlns:a16="http://schemas.microsoft.com/office/drawing/2014/main" id="{2DC83BA4-5110-4257-8DC5-27ADA54B3F81}"/>
              </a:ext>
            </a:extLst>
          </p:cNvPr>
          <p:cNvSpPr>
            <a:spLocks xmlns:a="http://schemas.openxmlformats.org/drawingml/2006/main" noGrp="1"/>
          </p:cNvSpPr>
          <p:nvPr/>
        </p:nvSpPr>
        <p:spPr>
          <a:xfrm xmlns:a="http://schemas.openxmlformats.org/drawingml/2006/main">
            <a:off x="495300" y="1333500"/>
            <a:ext cx="990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400" b="0">
                <a:solidFill>
                  <a:srgbClr val="000000"/>
                </a:solidFill>
                <a:latin typeface="Calibri Light"/>
                <a:ea typeface="Calibri Light"/>
                <a:cs typeface="Calibri Light"/>
              </a:defRPr>
            </a:defPPr>
          </a:lstStyle>
          <a:p xmlns:a="http://schemas.openxmlformats.org/drawingml/2006/main">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Corrección del build</a:t>
            </a:r>
          </a:p>
        </p:txBody>
      </p:sp>
      <p:sp>
        <p:nvSpPr>
          <p:cNvPr id="2" name="Contenido">
            <a:extLst xmlns:a="http://schemas.openxmlformats.org/drawingml/2006/main">
              <a:ext uri="{FF2B5EF4-FFF2-40B4-BE49-F238E27FC236}">
                <a16:creationId xmlns:a16="http://schemas.microsoft.com/office/drawing/2014/main" id="{6851B17A-20A2-48BB-873B-D4597AE6D500}"/>
              </a:ext>
            </a:extLst>
          </p:cNvPr>
          <p:cNvSpPr>
            <a:spLocks xmlns:a="http://schemas.openxmlformats.org/drawingml/2006/main" noGrp="1"/>
          </p:cNvSpPr>
          <p:nvPr/>
        </p:nvSpPr>
        <p:spPr>
          <a:xfrm xmlns:a="http://schemas.openxmlformats.org/drawingml/2006/main">
            <a:off x="523875" y="2286000"/>
            <a:ext cx="99060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800" b="0">
                <a:solidFill>
                  <a:srgbClr val="000000"/>
                </a:solidFill>
                <a:latin typeface="Calibri"/>
                <a:ea typeface="Calibri"/>
                <a:cs typeface="Calibri"/>
              </a:defRPr>
            </a:defPPr>
          </a:lstStyle>
          <a:p xmlns:a="http://schemas.openxmlformats.org/drawingml/2006/main">
            <a:pPr algn="l">
              <a:spcBef>
                <a:spcPts val="0"/>
              </a:spcBef>
              <a:spcAft>
                <a:spcPts val="18"/>
              </a:spcAft>
              <a:defRPr sz="2800" b="0">
                <a:solidFill>
                  <a:srgbClr val="000000"/>
                </a:solidFill>
                <a:latin typeface="Calibri"/>
                <a:ea typeface="Calibri"/>
                <a:cs typeface="Calibri"/>
              </a:defRPr>
            </a:pPr>
            <a:r>
              <a:rPr sz="2800" b="0">
                <a:solidFill>
                  <a:srgbClr val="000000"/>
                </a:solidFill>
                <a:latin typeface="Calibri"/>
                <a:ea typeface="Calibri"/>
                <a:cs typeface="Calibri"/>
              </a:rPr>
              <a:t>D01: Prisma regeneraba el motor con la API abierta.</a:t>
            </a:r>
          </a:p>
          <a:p xmlns:a="http://schemas.openxmlformats.org/drawingml/2006/main">
            <a:pPr algn="l">
              <a:spcBef>
                <a:spcPts val="0"/>
              </a:spcBef>
              <a:spcAft>
                <a:spcPts val="18"/>
              </a:spcAft>
              <a:defRPr sz="2800" b="0">
                <a:solidFill>
                  <a:srgbClr val="000000"/>
                </a:solidFill>
                <a:latin typeface="Calibri"/>
                <a:ea typeface="Calibri"/>
                <a:cs typeface="Calibri"/>
              </a:defRPr>
            </a:pPr>
            <a:r>
              <a:rPr sz="2800" b="0">
                <a:solidFill>
                  <a:srgbClr val="000000"/>
                </a:solidFill>
                <a:latin typeface="Calibri"/>
                <a:ea typeface="Calibri"/>
                <a:cs typeface="Calibri"/>
              </a:rPr>
              <a:t>Windows bloqueó la DLL y el build salió con código 1.</a:t>
            </a:r>
          </a:p>
          <a:p xmlns:a="http://schemas.openxmlformats.org/drawingml/2006/main">
            <a:pPr algn="l">
              <a:spcBef>
                <a:spcPts val="0"/>
              </a:spcBef>
              <a:spcAft>
                <a:spcPts val="18"/>
              </a:spcAft>
              <a:defRPr sz="2800" b="0">
                <a:solidFill>
                  <a:srgbClr val="000000"/>
                </a:solidFill>
                <a:latin typeface="Calibri"/>
                <a:ea typeface="Calibri"/>
                <a:cs typeface="Calibri"/>
              </a:defRPr>
            </a:pPr>
            <a:r>
              <a:rPr sz="2800" b="0">
                <a:solidFill>
                  <a:srgbClr val="000000"/>
                </a:solidFill>
                <a:latin typeface="Calibri"/>
                <a:ea typeface="Calibri"/>
                <a:cs typeface="Calibri"/>
              </a:rPr>
              <a:t>La mejora reutiliza el cliente si está vigente.</a:t>
            </a:r>
          </a:p>
          <a:p xmlns:a="http://schemas.openxmlformats.org/drawingml/2006/main">
            <a:pPr algn="l">
              <a:spcBef>
                <a:spcPts val="0"/>
              </a:spcBef>
              <a:spcAft>
                <a:spcPts val="18"/>
              </a:spcAft>
              <a:defRPr sz="2800" b="0">
                <a:solidFill>
                  <a:srgbClr val="000000"/>
                </a:solidFill>
                <a:latin typeface="Calibri"/>
                <a:ea typeface="Calibri"/>
                <a:cs typeface="Calibri"/>
              </a:defRPr>
            </a:pPr>
            <a:r>
              <a:rPr sz="2800" b="0">
                <a:solidFill>
                  <a:srgbClr val="000000"/>
                </a:solidFill>
                <a:latin typeface="Calibri"/>
                <a:ea typeface="Calibri"/>
                <a:cs typeface="Calibri"/>
              </a:rPr>
              <a:t>Build corregido: código 0 con la API abierta.</a:t>
            </a:r>
          </a:p>
        </p:txBody>
      </p:sp>
    </p:spTree>
    <p:extLst>
      <p:ext uri="{BB962C8B-B14F-4D97-AF65-F5344CB8AC3E}">
        <p14:creationId xmlns:p14="http://schemas.microsoft.com/office/powerpoint/2010/main" val="1298419518"/>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4" name="Título">
            <a:extLst xmlns:a="http://schemas.openxmlformats.org/drawingml/2006/main">
              <a:ext uri="{FF2B5EF4-FFF2-40B4-BE49-F238E27FC236}">
                <a16:creationId xmlns:a16="http://schemas.microsoft.com/office/drawing/2014/main" id="{F6334343-8DB6-406E-A65E-304304EBB5E5}"/>
              </a:ext>
            </a:extLst>
          </p:cNvPr>
          <p:cNvSpPr>
            <a:spLocks xmlns:a="http://schemas.openxmlformats.org/drawingml/2006/main" noGrp="1"/>
          </p:cNvSpPr>
          <p:nvPr/>
        </p:nvSpPr>
        <p:spPr>
          <a:xfrm xmlns:a="http://schemas.openxmlformats.org/drawingml/2006/main">
            <a:off x="495300" y="1333500"/>
            <a:ext cx="990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400" b="0">
                <a:solidFill>
                  <a:srgbClr val="000000"/>
                </a:solidFill>
                <a:latin typeface="Calibri Light"/>
                <a:ea typeface="Calibri Light"/>
                <a:cs typeface="Calibri Light"/>
              </a:defRPr>
            </a:defPPr>
          </a:lstStyle>
          <a:p xmlns:a="http://schemas.openxmlformats.org/drawingml/2006/main">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Regresión después de la mejora</a:t>
            </a:r>
          </a:p>
        </p:txBody>
      </p:sp>
      <p:graphicFrame>
        <p:nvGraphicFramePr>
          <p:cNvPr id="2" name="">
            <a:extLst xmlns:a="http://schemas.openxmlformats.org/drawingml/2006/main">
              <a:ext uri="{FF2B5EF4-FFF2-40B4-BE49-F238E27FC236}">
                <a16:creationId xmlns:a16="http://schemas.microsoft.com/office/drawing/2014/main" id="{EDB3377F-414B-4C18-8C0C-1956115B67B1}"/>
              </a:ext>
            </a:extLst>
          </p:cNvPr>
          <p:cNvGraphicFramePr/>
          <p:nvPr/>
        </p:nvGraphicFramePr>
        <p:xfrm>
          <a:off xmlns:a="http://schemas.openxmlformats.org/drawingml/2006/main" x="523875" y="2286000"/>
          <a:ext xmlns:a="http://schemas.openxmlformats.org/drawingml/2006/main" cx="9906000" cy="2333625"/>
        </p:xfrm>
        <a:graphic xmlns:a="http://schemas.openxmlformats.org/drawingml/2006/main">
          <a:graphicData uri="http://schemas.openxmlformats.org/drawingml/2006/table">
            <a:tbl>
              <a:tblPr/>
              <a:tblGrid>
                <a:gridCol w="2286000"/>
                <a:gridCol w="5715000"/>
                <a:gridCol w="1905000"/>
              </a:tblGrid>
              <a:tr h="583406">
                <a:tc>
                  <a:txBody>
                    <a:bodyPr lIns="76200" tIns="76200" rIns="76200" bIns="76200"/>
                    <a:lstStyle/>
                    <a:p>
                      <a:pPr algn="l"/>
                      <a:r>
                        <a:rPr sz="2550" b="1">
                          <a:solidFill>
                            <a:srgbClr val="000000"/>
                          </a:solidFill>
                          <a:latin typeface="Calibri"/>
                          <a:ea typeface="Calibri"/>
                          <a:cs typeface="Calibri"/>
                        </a:rPr>
                        <a:t>Caso crítico</a:t>
                      </a:r>
                    </a:p>
                  </a:txBody>
                  <a:tcPr marL="91440" marR="91440" marT="45720" marB="45720" anchor="ctr">
                    <a:solidFill>
                      <a:srgbClr val="EBEBEB"/>
                    </a:solidFill>
                  </a:tcPr>
                </a:tc>
                <a:tc>
                  <a:txBody>
                    <a:bodyPr lIns="76200" tIns="76200" rIns="76200" bIns="76200"/>
                    <a:lstStyle/>
                    <a:p>
                      <a:pPr algn="l"/>
                      <a:r>
                        <a:rPr sz="2550" b="1">
                          <a:solidFill>
                            <a:srgbClr val="000000"/>
                          </a:solidFill>
                          <a:latin typeface="Calibri"/>
                          <a:ea typeface="Calibri"/>
                          <a:cs typeface="Calibri"/>
                        </a:rPr>
                        <a:t>Comprobación</a:t>
                      </a:r>
                    </a:p>
                  </a:txBody>
                  <a:tcPr marL="91440" marR="91440" marT="45720" marB="45720" anchor="ctr">
                    <a:solidFill>
                      <a:srgbClr val="EBEBEB"/>
                    </a:solidFill>
                  </a:tcPr>
                </a:tc>
                <a:tc>
                  <a:txBody>
                    <a:bodyPr lIns="76200" tIns="76200" rIns="76200" bIns="76200"/>
                    <a:lstStyle/>
                    <a:p>
                      <a:pPr algn="l"/>
                      <a:r>
                        <a:rPr sz="2550" b="1">
                          <a:solidFill>
                            <a:srgbClr val="000000"/>
                          </a:solidFill>
                          <a:latin typeface="Calibri"/>
                          <a:ea typeface="Calibri"/>
                          <a:cs typeface="Calibri"/>
                        </a:rPr>
                        <a:t>Resultado</a:t>
                      </a:r>
                    </a:p>
                  </a:txBody>
                  <a:tcPr marL="91440" marR="91440" marT="45720" marB="45720" anchor="ctr">
                    <a:solidFill>
                      <a:srgbClr val="EBEBEB"/>
                    </a:solidFill>
                  </a:tcPr>
                </a:tc>
              </a:tr>
              <a:tr h="583406">
                <a:tc>
                  <a:txBody>
                    <a:bodyPr lIns="76200" tIns="76200" rIns="76200" bIns="76200"/>
                    <a:lstStyle/>
                    <a:p>
                      <a:pPr algn="l"/>
                      <a:r>
                        <a:rPr sz="2550" b="0">
                          <a:solidFill>
                            <a:srgbClr val="000000"/>
                          </a:solidFill>
                          <a:latin typeface="Calibri"/>
                          <a:ea typeface="Calibri"/>
                          <a:cs typeface="Calibri"/>
                        </a:rPr>
                        <a:t>CP05</a:t>
                      </a:r>
                    </a:p>
                  </a:txBody>
                  <a:tcPr marL="91440" marR="91440" marT="45720" marB="45720" anchor="ctr">
                    <a:solidFill>
                      <a:srgbClr val="FFFFFF"/>
                    </a:solidFill>
                  </a:tcPr>
                </a:tc>
                <a:tc>
                  <a:txBody>
                    <a:bodyPr lIns="76200" tIns="76200" rIns="76200" bIns="76200"/>
                    <a:lstStyle/>
                    <a:p>
                      <a:pPr algn="l"/>
                      <a:r>
                        <a:rPr sz="2550" b="0">
                          <a:solidFill>
                            <a:srgbClr val="000000"/>
                          </a:solidFill>
                          <a:latin typeface="Calibri"/>
                          <a:ea typeface="Calibri"/>
                          <a:cs typeface="Calibri"/>
                        </a:rPr>
                        <a:t>Login y cierre de sesión</a:t>
                      </a:r>
                    </a:p>
                  </a:txBody>
                  <a:tcPr marL="91440" marR="91440" marT="45720" marB="45720" anchor="ctr">
                    <a:solidFill>
                      <a:srgbClr val="FFFFFF"/>
                    </a:solidFill>
                  </a:tcPr>
                </a:tc>
                <a:tc>
                  <a:txBody>
                    <a:bodyPr lIns="76200" tIns="76200" rIns="76200" bIns="76200"/>
                    <a:lstStyle/>
                    <a:p>
                      <a:pPr algn="l"/>
                      <a:r>
                        <a:rPr sz="2550" b="0">
                          <a:solidFill>
                            <a:srgbClr val="000000"/>
                          </a:solidFill>
                          <a:latin typeface="Calibri"/>
                          <a:ea typeface="Calibri"/>
                          <a:cs typeface="Calibri"/>
                        </a:rPr>
                        <a:t>Pass</a:t>
                      </a:r>
                    </a:p>
                  </a:txBody>
                  <a:tcPr marL="91440" marR="91440" marT="45720" marB="45720" anchor="ctr">
                    <a:solidFill>
                      <a:srgbClr val="FFFFFF"/>
                    </a:solidFill>
                  </a:tcPr>
                </a:tc>
              </a:tr>
              <a:tr h="583406">
                <a:tc>
                  <a:txBody>
                    <a:bodyPr lIns="76200" tIns="76200" rIns="76200" bIns="76200"/>
                    <a:lstStyle/>
                    <a:p>
                      <a:pPr algn="l"/>
                      <a:r>
                        <a:rPr sz="2550" b="0">
                          <a:solidFill>
                            <a:srgbClr val="000000"/>
                          </a:solidFill>
                          <a:latin typeface="Calibri"/>
                          <a:ea typeface="Calibri"/>
                          <a:cs typeface="Calibri"/>
                        </a:rPr>
                        <a:t>CP15</a:t>
                      </a:r>
                    </a:p>
                  </a:txBody>
                  <a:tcPr marL="91440" marR="91440" marT="45720" marB="45720" anchor="ctr">
                    <a:solidFill>
                      <a:srgbClr val="FFFFFF"/>
                    </a:solidFill>
                  </a:tcPr>
                </a:tc>
                <a:tc>
                  <a:txBody>
                    <a:bodyPr lIns="76200" tIns="76200" rIns="76200" bIns="76200"/>
                    <a:lstStyle/>
                    <a:p>
                      <a:pPr algn="l"/>
                      <a:r>
                        <a:rPr sz="2550" b="0">
                          <a:solidFill>
                            <a:srgbClr val="000000"/>
                          </a:solidFill>
                          <a:latin typeface="Calibri"/>
                          <a:ea typeface="Calibri"/>
                          <a:cs typeface="Calibri"/>
                        </a:rPr>
                        <a:t>Pedido, precio y stock</a:t>
                      </a:r>
                    </a:p>
                  </a:txBody>
                  <a:tcPr marL="91440" marR="91440" marT="45720" marB="45720" anchor="ctr">
                    <a:solidFill>
                      <a:srgbClr val="FFFFFF"/>
                    </a:solidFill>
                  </a:tcPr>
                </a:tc>
                <a:tc>
                  <a:txBody>
                    <a:bodyPr lIns="76200" tIns="76200" rIns="76200" bIns="76200"/>
                    <a:lstStyle/>
                    <a:p>
                      <a:pPr algn="l"/>
                      <a:r>
                        <a:rPr sz="2550" b="0">
                          <a:solidFill>
                            <a:srgbClr val="000000"/>
                          </a:solidFill>
                          <a:latin typeface="Calibri"/>
                          <a:ea typeface="Calibri"/>
                          <a:cs typeface="Calibri"/>
                        </a:rPr>
                        <a:t>Pass</a:t>
                      </a:r>
                    </a:p>
                  </a:txBody>
                  <a:tcPr marL="91440" marR="91440" marT="45720" marB="45720" anchor="ctr">
                    <a:solidFill>
                      <a:srgbClr val="FFFFFF"/>
                    </a:solidFill>
                  </a:tcPr>
                </a:tc>
              </a:tr>
              <a:tr h="583406">
                <a:tc>
                  <a:txBody>
                    <a:bodyPr lIns="76200" tIns="76200" rIns="76200" bIns="76200"/>
                    <a:lstStyle/>
                    <a:p>
                      <a:pPr algn="l"/>
                      <a:r>
                        <a:rPr sz="2550" b="0">
                          <a:solidFill>
                            <a:srgbClr val="000000"/>
                          </a:solidFill>
                          <a:latin typeface="Calibri"/>
                          <a:ea typeface="Calibri"/>
                          <a:cs typeface="Calibri"/>
                        </a:rPr>
                        <a:t>CP17</a:t>
                      </a:r>
                    </a:p>
                  </a:txBody>
                  <a:tcPr marL="91440" marR="91440" marT="45720" marB="45720" anchor="ctr">
                    <a:solidFill>
                      <a:srgbClr val="FFFFFF"/>
                    </a:solidFill>
                  </a:tcPr>
                </a:tc>
                <a:tc>
                  <a:txBody>
                    <a:bodyPr lIns="76200" tIns="76200" rIns="76200" bIns="76200"/>
                    <a:lstStyle/>
                    <a:p>
                      <a:pPr algn="l"/>
                      <a:r>
                        <a:rPr sz="2550" b="0">
                          <a:solidFill>
                            <a:srgbClr val="000000"/>
                          </a:solidFill>
                          <a:latin typeface="Calibri"/>
                          <a:ea typeface="Calibri"/>
                          <a:cs typeface="Calibri"/>
                        </a:rPr>
                        <a:t>CRUD completo de juego</a:t>
                      </a:r>
                    </a:p>
                  </a:txBody>
                  <a:tcPr marL="91440" marR="91440" marT="45720" marB="45720" anchor="ctr">
                    <a:solidFill>
                      <a:srgbClr val="FFFFFF"/>
                    </a:solidFill>
                  </a:tcPr>
                </a:tc>
                <a:tc>
                  <a:txBody>
                    <a:bodyPr lIns="76200" tIns="76200" rIns="76200" bIns="76200"/>
                    <a:lstStyle/>
                    <a:p>
                      <a:pPr algn="l"/>
                      <a:r>
                        <a:rPr sz="2550" b="0">
                          <a:solidFill>
                            <a:srgbClr val="000000"/>
                          </a:solidFill>
                          <a:latin typeface="Calibri"/>
                          <a:ea typeface="Calibri"/>
                          <a:cs typeface="Calibri"/>
                        </a:rPr>
                        <a:t>Pass</a:t>
                      </a:r>
                    </a:p>
                  </a:txBody>
                  <a:tcPr marL="91440" marR="91440" marT="45720" marB="45720" anchor="ctr">
                    <a:solidFill>
                      <a:srgbClr val="FFFFFF"/>
                    </a:solidFill>
                  </a:tcPr>
                </a:tc>
              </a:tr>
            </a:tbl>
          </a:graphicData>
        </a:graphic>
      </p:graphicFrame>
      <p:sp>
        <p:nvSpPr>
          <p:cNvPr id="3" name="Resultado ampliado">
            <a:extLst xmlns:a="http://schemas.openxmlformats.org/drawingml/2006/main">
              <a:ext uri="{FF2B5EF4-FFF2-40B4-BE49-F238E27FC236}">
                <a16:creationId xmlns:a16="http://schemas.microsoft.com/office/drawing/2014/main" id="{C0D81401-7997-4016-8D17-DEBFC6853532}"/>
              </a:ext>
            </a:extLst>
          </p:cNvPr>
          <p:cNvSpPr>
            <a:spLocks xmlns:a="http://schemas.openxmlformats.org/drawingml/2006/main" noGrp="1"/>
          </p:cNvSpPr>
          <p:nvPr/>
        </p:nvSpPr>
        <p:spPr>
          <a:xfrm xmlns:a="http://schemas.openxmlformats.org/drawingml/2006/main">
            <a:off x="523875" y="4981575"/>
            <a:ext cx="990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800" b="0">
                <a:solidFill>
                  <a:srgbClr val="000000"/>
                </a:solidFill>
                <a:latin typeface="Calibri"/>
                <a:ea typeface="Calibri"/>
                <a:cs typeface="Calibri"/>
              </a:defRPr>
            </a:defPPr>
          </a:lstStyle>
          <a:p xmlns:a="http://schemas.openxmlformats.org/drawingml/2006/main">
            <a:pPr algn="l">
              <a:defRPr sz="2800" b="0">
                <a:solidFill>
                  <a:srgbClr val="000000"/>
                </a:solidFill>
                <a:latin typeface="Calibri"/>
                <a:ea typeface="Calibri"/>
                <a:cs typeface="Calibri"/>
              </a:defRPr>
            </a:pPr>
            <a:r>
              <a:rPr sz="2800" b="0">
                <a:solidFill>
                  <a:srgbClr val="000000"/>
                </a:solidFill>
                <a:latin typeface="Calibri"/>
                <a:ea typeface="Calibri"/>
                <a:cs typeface="Calibri"/>
              </a:rPr>
              <a:t>20 casos finales Pass</a:t>
            </a:r>
          </a:p>
          <a:p xmlns:a="http://schemas.openxmlformats.org/drawingml/2006/main">
            <a:pPr algn="l">
              <a:defRPr sz="2800" b="0">
                <a:solidFill>
                  <a:srgbClr val="000000"/>
                </a:solidFill>
                <a:latin typeface="Calibri"/>
                <a:ea typeface="Calibri"/>
                <a:cs typeface="Calibri"/>
              </a:defRPr>
            </a:pPr>
            <a:r>
              <a:rPr sz="2800" b="0">
                <a:solidFill>
                  <a:srgbClr val="000000"/>
                </a:solidFill>
                <a:latin typeface="Calibri"/>
                <a:ea typeface="Calibri"/>
                <a:cs typeface="Calibri"/>
              </a:rPr>
              <a:t>26 pruebas complementarias Pass</a:t>
            </a:r>
          </a:p>
        </p:txBody>
      </p:sp>
    </p:spTree>
    <p:extLst>
      <p:ext uri="{BB962C8B-B14F-4D97-AF65-F5344CB8AC3E}">
        <p14:creationId xmlns:p14="http://schemas.microsoft.com/office/powerpoint/2010/main" val="179705505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3" name="Título">
            <a:extLst xmlns:a="http://schemas.openxmlformats.org/drawingml/2006/main">
              <a:ext uri="{FF2B5EF4-FFF2-40B4-BE49-F238E27FC236}">
                <a16:creationId xmlns:a16="http://schemas.microsoft.com/office/drawing/2014/main" id="{6152A52C-86C5-45A3-B5B5-E83766F622B8}"/>
              </a:ext>
            </a:extLst>
          </p:cNvPr>
          <p:cNvSpPr>
            <a:spLocks xmlns:a="http://schemas.openxmlformats.org/drawingml/2006/main" noGrp="1"/>
          </p:cNvSpPr>
          <p:nvPr/>
        </p:nvSpPr>
        <p:spPr>
          <a:xfrm xmlns:a="http://schemas.openxmlformats.org/drawingml/2006/main">
            <a:off x="495300" y="1333500"/>
            <a:ext cx="990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400" b="0">
                <a:solidFill>
                  <a:srgbClr val="000000"/>
                </a:solidFill>
                <a:latin typeface="Calibri Light"/>
                <a:ea typeface="Calibri Light"/>
                <a:cs typeface="Calibri Light"/>
              </a:defRPr>
            </a:defPPr>
          </a:lstStyle>
          <a:p xmlns:a="http://schemas.openxmlformats.org/drawingml/2006/main">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Conclusiones y acciones pendientes</a:t>
            </a:r>
          </a:p>
        </p:txBody>
      </p:sp>
      <p:sp>
        <p:nvSpPr>
          <p:cNvPr id="2" name="Contenido">
            <a:extLst xmlns:a="http://schemas.openxmlformats.org/drawingml/2006/main">
              <a:ext uri="{FF2B5EF4-FFF2-40B4-BE49-F238E27FC236}">
                <a16:creationId xmlns:a16="http://schemas.microsoft.com/office/drawing/2014/main" id="{6E873927-4D02-47BE-BC6B-09BBD114743F}"/>
              </a:ext>
            </a:extLst>
          </p:cNvPr>
          <p:cNvSpPr>
            <a:spLocks xmlns:a="http://schemas.openxmlformats.org/drawingml/2006/main" noGrp="1"/>
          </p:cNvSpPr>
          <p:nvPr/>
        </p:nvSpPr>
        <p:spPr>
          <a:xfrm xmlns:a="http://schemas.openxmlformats.org/drawingml/2006/main">
            <a:off x="523875" y="2286000"/>
            <a:ext cx="99060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800" b="0">
                <a:solidFill>
                  <a:srgbClr val="000000"/>
                </a:solidFill>
                <a:latin typeface="Calibri"/>
                <a:ea typeface="Calibri"/>
                <a:cs typeface="Calibri"/>
              </a:defRPr>
            </a:defPPr>
          </a:lstStyle>
          <a:p xmlns:a="http://schemas.openxmlformats.org/drawingml/2006/main">
            <a:pPr algn="l">
              <a:spcBef>
                <a:spcPts val="0"/>
              </a:spcBef>
              <a:spcAft>
                <a:spcPts val="18"/>
              </a:spcAft>
              <a:defRPr sz="2800" b="0">
                <a:solidFill>
                  <a:srgbClr val="000000"/>
                </a:solidFill>
                <a:latin typeface="Calibri"/>
                <a:ea typeface="Calibri"/>
                <a:cs typeface="Calibri"/>
              </a:defRPr>
            </a:pPr>
            <a:r>
              <a:rPr sz="2800" b="0">
                <a:solidFill>
                  <a:srgbClr val="000000"/>
                </a:solidFill>
                <a:latin typeface="Calibri"/>
                <a:ea typeface="Calibri"/>
                <a:cs typeface="Calibri"/>
              </a:rPr>
              <a:t>Los cinco flujos cumplen los escenarios comprobados.</a:t>
            </a:r>
          </a:p>
          <a:p xmlns:a="http://schemas.openxmlformats.org/drawingml/2006/main">
            <a:pPr algn="l">
              <a:spcBef>
                <a:spcPts val="0"/>
              </a:spcBef>
              <a:spcAft>
                <a:spcPts val="18"/>
              </a:spcAft>
              <a:defRPr sz="2800" b="0">
                <a:solidFill>
                  <a:srgbClr val="000000"/>
                </a:solidFill>
                <a:latin typeface="Calibri"/>
                <a:ea typeface="Calibri"/>
                <a:cs typeface="Calibri"/>
              </a:defRPr>
            </a:pPr>
            <a:r>
              <a:rPr sz="2800" b="0">
                <a:solidFill>
                  <a:srgbClr val="000000"/>
                </a:solidFill>
                <a:latin typeface="Calibri"/>
                <a:ea typeface="Calibri"/>
                <a:cs typeface="Calibri"/>
              </a:rPr>
              <a:t>D01 quedó cerrado con build y regresión satisfactorios.</a:t>
            </a:r>
          </a:p>
          <a:p xmlns:a="http://schemas.openxmlformats.org/drawingml/2006/main">
            <a:pPr algn="l">
              <a:spcBef>
                <a:spcPts val="0"/>
              </a:spcBef>
              <a:spcAft>
                <a:spcPts val="18"/>
              </a:spcAft>
              <a:defRPr sz="2800" b="0">
                <a:solidFill>
                  <a:srgbClr val="000000"/>
                </a:solidFill>
                <a:latin typeface="Calibri"/>
                <a:ea typeface="Calibri"/>
                <a:cs typeface="Calibri"/>
              </a:defRPr>
            </a:pPr>
            <a:r>
              <a:rPr sz="2800" b="0">
                <a:solidFill>
                  <a:srgbClr val="000000"/>
                </a:solidFill>
                <a:latin typeface="Calibri"/>
                <a:ea typeface="Calibri"/>
                <a:cs typeface="Calibri"/>
              </a:rPr>
              <a:t>O01 sigue abierta: compra e historial requieren ayuda.</a:t>
            </a:r>
          </a:p>
          <a:p xmlns:a="http://schemas.openxmlformats.org/drawingml/2006/main">
            <a:pPr algn="l">
              <a:spcBef>
                <a:spcPts val="0"/>
              </a:spcBef>
              <a:spcAft>
                <a:spcPts val="18"/>
              </a:spcAft>
              <a:defRPr sz="2800" b="0">
                <a:solidFill>
                  <a:srgbClr val="000000"/>
                </a:solidFill>
                <a:latin typeface="Calibri"/>
                <a:ea typeface="Calibri"/>
                <a:cs typeface="Calibri"/>
              </a:defRPr>
            </a:pPr>
            <a:r>
              <a:rPr sz="2800" b="0">
                <a:solidFill>
                  <a:srgbClr val="000000"/>
                </a:solidFill>
                <a:latin typeface="Calibri"/>
                <a:ea typeface="Calibri"/>
                <a:cs typeface="Calibri"/>
              </a:rPr>
              <a:t>Siguiente paso: observar usuarios nuevos y repetir el piloto.</a:t>
            </a:r>
          </a:p>
        </p:txBody>
      </p:sp>
    </p:spTree>
    <p:extLst>
      <p:ext uri="{BB962C8B-B14F-4D97-AF65-F5344CB8AC3E}">
        <p14:creationId xmlns:p14="http://schemas.microsoft.com/office/powerpoint/2010/main" val="1134606795"/>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4" name="Título">
            <a:extLst xmlns:a="http://schemas.openxmlformats.org/drawingml/2006/main">
              <a:ext uri="{FF2B5EF4-FFF2-40B4-BE49-F238E27FC236}">
                <a16:creationId xmlns:a16="http://schemas.microsoft.com/office/drawing/2014/main" id="{23475795-D2B0-440B-A3C6-AC3640DBA333}"/>
              </a:ext>
            </a:extLst>
          </p:cNvPr>
          <p:cNvSpPr>
            <a:spLocks xmlns:a="http://schemas.openxmlformats.org/drawingml/2006/main" noGrp="1"/>
          </p:cNvSpPr>
          <p:nvPr/>
        </p:nvSpPr>
        <p:spPr>
          <a:xfrm xmlns:a="http://schemas.openxmlformats.org/drawingml/2006/main">
            <a:off x="495300" y="1333500"/>
            <a:ext cx="990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400" b="0">
                <a:solidFill>
                  <a:srgbClr val="000000"/>
                </a:solidFill>
                <a:latin typeface="Calibri Light"/>
                <a:ea typeface="Calibri Light"/>
                <a:cs typeface="Calibri Light"/>
              </a:defRPr>
            </a:defPPr>
          </a:lstStyle>
          <a:p xmlns:a="http://schemas.openxmlformats.org/drawingml/2006/main">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Referencias de la evaluación</a:t>
            </a:r>
          </a:p>
        </p:txBody>
      </p:sp>
      <p:sp>
        <p:nvSpPr>
          <p:cNvPr id="2" name="Contenido">
            <a:extLst xmlns:a="http://schemas.openxmlformats.org/drawingml/2006/main">
              <a:ext uri="{FF2B5EF4-FFF2-40B4-BE49-F238E27FC236}">
                <a16:creationId xmlns:a16="http://schemas.microsoft.com/office/drawing/2014/main" id="{F69FFDD8-87CE-4D12-927B-E2D7D4352373}"/>
              </a:ext>
            </a:extLst>
          </p:cNvPr>
          <p:cNvSpPr>
            <a:spLocks xmlns:a="http://schemas.openxmlformats.org/drawingml/2006/main" noGrp="1"/>
          </p:cNvSpPr>
          <p:nvPr/>
        </p:nvSpPr>
        <p:spPr>
          <a:xfrm xmlns:a="http://schemas.openxmlformats.org/drawingml/2006/main">
            <a:off x="523875" y="2286000"/>
            <a:ext cx="99060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800" b="0">
                <a:solidFill>
                  <a:srgbClr val="000000"/>
                </a:solidFill>
                <a:latin typeface="Calibri"/>
                <a:ea typeface="Calibri"/>
                <a:cs typeface="Calibri"/>
              </a:defRPr>
            </a:defPPr>
          </a:lstStyle>
          <a:p xmlns:a="http://schemas.openxmlformats.org/drawingml/2006/main">
            <a:pPr algn="l">
              <a:spcBef>
                <a:spcPts val="0"/>
              </a:spcBef>
              <a:spcAft>
                <a:spcPts val="18"/>
              </a:spcAft>
              <a:defRPr sz="2800" b="0">
                <a:solidFill>
                  <a:srgbClr val="000000"/>
                </a:solidFill>
                <a:latin typeface="Calibri"/>
                <a:ea typeface="Calibri"/>
                <a:cs typeface="Calibri"/>
              </a:defRPr>
            </a:pPr>
            <a:r>
              <a:rPr sz="2800" b="0">
                <a:solidFill>
                  <a:srgbClr val="000000"/>
                </a:solidFill>
                <a:latin typeface="Calibri"/>
                <a:ea typeface="Calibri"/>
                <a:cs typeface="Calibri"/>
              </a:rPr>
              <a:t>ISO/IEC 25010:2023</a:t>
            </a:r>
          </a:p>
          <a:p xmlns:a="http://schemas.openxmlformats.org/drawingml/2006/main">
            <a:pPr algn="l">
              <a:spcBef>
                <a:spcPts val="0"/>
              </a:spcBef>
              <a:spcAft>
                <a:spcPts val="18"/>
              </a:spcAft>
              <a:defRPr sz="2800" b="0">
                <a:solidFill>
                  <a:srgbClr val="000000"/>
                </a:solidFill>
                <a:latin typeface="Calibri"/>
                <a:ea typeface="Calibri"/>
                <a:cs typeface="Calibri"/>
              </a:defRPr>
            </a:pPr>
            <a:r>
              <a:rPr sz="2800" b="0">
                <a:solidFill>
                  <a:srgbClr val="000000"/>
                </a:solidFill>
                <a:latin typeface="Calibri"/>
                <a:ea typeface="Calibri"/>
                <a:cs typeface="Calibri"/>
              </a:rPr>
              <a:t>ISO/IEC 25023:2016</a:t>
            </a:r>
          </a:p>
          <a:p xmlns:a="http://schemas.openxmlformats.org/drawingml/2006/main">
            <a:pPr algn="l">
              <a:spcBef>
                <a:spcPts val="0"/>
              </a:spcBef>
              <a:spcAft>
                <a:spcPts val="18"/>
              </a:spcAft>
              <a:defRPr sz="2800" b="0">
                <a:solidFill>
                  <a:srgbClr val="000000"/>
                </a:solidFill>
                <a:latin typeface="Calibri"/>
                <a:ea typeface="Calibri"/>
                <a:cs typeface="Calibri"/>
              </a:defRPr>
            </a:pPr>
            <a:r>
              <a:rPr sz="2800" b="0">
                <a:solidFill>
                  <a:srgbClr val="000000"/>
                </a:solidFill>
                <a:latin typeface="Calibri"/>
                <a:ea typeface="Calibri"/>
                <a:cs typeface="Calibri"/>
              </a:rPr>
              <a:t>SWEBOK Guide V4.0a</a:t>
            </a:r>
          </a:p>
          <a:p xmlns:a="http://schemas.openxmlformats.org/drawingml/2006/main">
            <a:pPr algn="l">
              <a:spcBef>
                <a:spcPts val="0"/>
              </a:spcBef>
              <a:spcAft>
                <a:spcPts val="18"/>
              </a:spcAft>
              <a:defRPr sz="2800" b="0">
                <a:solidFill>
                  <a:srgbClr val="000000"/>
                </a:solidFill>
                <a:latin typeface="Calibri"/>
                <a:ea typeface="Calibri"/>
                <a:cs typeface="Calibri"/>
              </a:defRPr>
            </a:pPr>
            <a:r>
              <a:rPr sz="2800" b="0">
                <a:solidFill>
                  <a:srgbClr val="000000"/>
                </a:solidFill>
                <a:latin typeface="Calibri"/>
                <a:ea typeface="Calibri"/>
                <a:cs typeface="Calibri"/>
              </a:rPr>
              <a:t>ISTQB CTFL Syllabus 4.0.1</a:t>
            </a:r>
          </a:p>
        </p:txBody>
      </p:sp>
      <p:sp>
        <p:nvSpPr>
          <p:cNvPr id="3" name="Fecha de consulta">
            <a:extLst xmlns:a="http://schemas.openxmlformats.org/drawingml/2006/main">
              <a:ext uri="{FF2B5EF4-FFF2-40B4-BE49-F238E27FC236}">
                <a16:creationId xmlns:a16="http://schemas.microsoft.com/office/drawing/2014/main" id="{0C177239-4EB7-468F-8641-437F70FE9A65}"/>
              </a:ext>
            </a:extLst>
          </p:cNvPr>
          <p:cNvSpPr>
            <a:spLocks xmlns:a="http://schemas.openxmlformats.org/drawingml/2006/main" noGrp="1"/>
          </p:cNvSpPr>
          <p:nvPr/>
        </p:nvSpPr>
        <p:spPr>
          <a:xfrm xmlns:a="http://schemas.openxmlformats.org/drawingml/2006/main">
            <a:off x="523875" y="58102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000000"/>
                </a:solidFill>
                <a:latin typeface="Calibri"/>
                <a:ea typeface="Calibri"/>
                <a:cs typeface="Calibri"/>
              </a:defRPr>
            </a:defPPr>
          </a:lstStyle>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Fuentes primarias verificadas el 10 de octubre de 2026.</a:t>
            </a:r>
          </a:p>
        </p:txBody>
      </p:sp>
    </p:spTree>
    <p:extLst>
      <p:ext uri="{BB962C8B-B14F-4D97-AF65-F5344CB8AC3E}">
        <p14:creationId xmlns:p14="http://schemas.microsoft.com/office/powerpoint/2010/main" val="1575868649"/>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Preguntas">
            <a:extLst xmlns:a="http://schemas.openxmlformats.org/drawingml/2006/main">
              <a:ext uri="{FF2B5EF4-FFF2-40B4-BE49-F238E27FC236}">
                <a16:creationId xmlns:a16="http://schemas.microsoft.com/office/drawing/2014/main" id="{CECBAC19-CBDF-436F-9C9D-1435F6CF0CEB}"/>
              </a:ext>
            </a:extLst>
          </p:cNvPr>
          <p:cNvSpPr>
            <a:spLocks xmlns:a="http://schemas.openxmlformats.org/drawingml/2006/main" noGrp="1"/>
          </p:cNvSpPr>
          <p:nvPr/>
        </p:nvSpPr>
        <p:spPr>
          <a:xfrm xmlns:a="http://schemas.openxmlformats.org/drawingml/2006/main">
            <a:off x="714375" y="1524000"/>
            <a:ext cx="990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400" b="0">
                <a:solidFill>
                  <a:srgbClr val="000000"/>
                </a:solidFill>
                <a:latin typeface="Calibri Light"/>
                <a:ea typeface="Calibri Light"/>
                <a:cs typeface="Calibri Light"/>
              </a:defRPr>
            </a:defPPr>
          </a:lstStyle>
          <a:p xmlns:a="http://schemas.openxmlformats.org/drawingml/2006/main">
            <a:pPr algn="l">
              <a:defRPr sz="4400" b="0">
                <a:solidFill>
                  <a:srgbClr val="000000"/>
                </a:solidFill>
                <a:latin typeface="Calibri Light"/>
                <a:ea typeface="Calibri Light"/>
                <a:cs typeface="Calibri Light"/>
              </a:defRPr>
            </a:pPr>
            <a:r>
              <a:rPr sz="4400" b="0">
                <a:solidFill>
                  <a:srgbClr val="000000"/>
                </a:solidFill>
                <a:latin typeface="Calibri Light"/>
                <a:ea typeface="Calibri Light"/>
                <a:cs typeface="Calibri Light"/>
              </a:rPr>
              <a:t>Preguntas</a:t>
            </a:r>
          </a:p>
        </p:txBody>
      </p:sp>
    </p:spTree>
    <p:extLst>
      <p:ext uri="{BB962C8B-B14F-4D97-AF65-F5344CB8AC3E}">
        <p14:creationId xmlns:p14="http://schemas.microsoft.com/office/powerpoint/2010/main" val="1741919490"/>
      </p:ext>
    </p:extLst>
  </p:cSld>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2026-10-10T23:47:50.9410000Z</dcterms:created>
  <dcterms:modified xsi:type="dcterms:W3CDTF">2026-10-10T23:47:50.9410000Z</dcterms:modified>
</coreProperties>
</file>